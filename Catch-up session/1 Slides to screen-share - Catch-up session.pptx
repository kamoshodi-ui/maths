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745bcada-3afb-b1ff-c9ad-6163a0720f3a}">
          <p14:sldIdLst>
            <p14:sldId id="256"/>
            <p14:sldId id="257"/>
          </p14:sldIdLst>
        </p14:section>
        <p14:section name="Part 1 of 7: Times and divide, with the times table" id="{6aa55462-a6d6-c7ee-20b2-58b3938e6f7f}">
          <p14:sldIdLst>
            <p14:sldId id="258"/>
            <p14:sldId id="259"/>
            <p14:sldId id="260"/>
            <p14:sldId id="261"/>
            <p14:sldId id="262"/>
            <p14:sldId id="263"/>
          </p14:sldIdLst>
        </p14:section>
        <p14:section name="Part 2 of 7: What a fraction is, and how to simplify it" id="{74f21ec7-d62e-b413-ef8c-96d70efd1750}">
          <p14:sldIdLst>
            <p14:sldId id="264"/>
            <p14:sldId id="265"/>
            <p14:sldId id="266"/>
            <p14:sldId id="267"/>
            <p14:sldId id="268"/>
            <p14:sldId id="269"/>
            <p14:sldId id="270"/>
            <p14:sldId id="271"/>
            <p14:sldId id="272"/>
            <p14:sldId id="273"/>
            <p14:sldId id="274"/>
            <p14:sldId id="275"/>
            <p14:sldId id="276"/>
            <p14:sldId id="277"/>
            <p14:sldId id="278"/>
            <p14:sldId id="279"/>
          </p14:sldIdLst>
        </p14:section>
        <p14:section name="Part 3 of 7: Improper fractions and mixed numbers" id="{0ad6a96c-6cd5-0fe2-dcfc-10e485315d2a}">
          <p14:sldIdLst>
            <p14:sldId id="280"/>
            <p14:sldId id="281"/>
            <p14:sldId id="282"/>
            <p14:sldId id="283"/>
            <p14:sldId id="284"/>
            <p14:sldId id="285"/>
            <p14:sldId id="286"/>
            <p14:sldId id="287"/>
          </p14:sldIdLst>
        </p14:section>
        <p14:section name="Part 4 of 7: The sign × means &quot;groups of&quot;: a whole number ti" id="{bc50eeb2-bdcd-d41e-bf22-28946840d2da}">
          <p14:sldIdLst>
            <p14:sldId id="288"/>
            <p14:sldId id="289"/>
            <p14:sldId id="290"/>
            <p14:sldId id="291"/>
            <p14:sldId id="292"/>
            <p14:sldId id="293"/>
            <p14:sldId id="294"/>
            <p14:sldId id="295"/>
            <p14:sldId id="296"/>
            <p14:sldId id="297"/>
            <p14:sldId id="298"/>
            <p14:sldId id="299"/>
          </p14:sldIdLst>
        </p14:section>
        <p14:section name="Part 5 of 7: A fraction OF something: &quot;of&quot; means ×" id="{ee096a26-fcf2-741b-6ec2-ed83d8b0b8cd}">
          <p14:sldIdLst>
            <p14:sldId id="300"/>
            <p14:sldId id="301"/>
            <p14:sldId id="302"/>
            <p14:sldId id="303"/>
            <p14:sldId id="304"/>
            <p14:sldId id="305"/>
            <p14:sldId id="306"/>
            <p14:sldId id="307"/>
            <p14:sldId id="308"/>
            <p14:sldId id="309"/>
            <p14:sldId id="310"/>
            <p14:sldId id="311"/>
            <p14:sldId id="312"/>
          </p14:sldIdLst>
        </p14:section>
        <p14:section name="Part 6 of 7: A whole number or a mixed number in a multiplic" id="{dcc32717-5f35-4195-8be6-24237f6f6f3f}">
          <p14:sldIdLst>
            <p14:sldId id="313"/>
            <p14:sldId id="314"/>
            <p14:sldId id="315"/>
            <p14:sldId id="316"/>
            <p14:sldId id="317"/>
            <p14:sldId id="318"/>
          </p14:sldIdLst>
        </p14:section>
        <p14:section name="Part 7 of 7: A fraction OF an amount" id="{e3dfb5f6-ae93-f6c3-555b-da04f236d9c4}">
          <p14:sldIdLst>
            <p14:sldId id="319"/>
            <p14:sldId id="320"/>
            <p14:sldId id="321"/>
            <p14:sldId id="322"/>
            <p14:sldId id="323"/>
            <p14:sldId id="324"/>
            <p14:sldId id="325"/>
            <p14:sldId id="326"/>
            <p14:sldId id="327"/>
            <p14:sldId id="328"/>
          </p14:sldIdLst>
        </p14:section>
        <p14:section name="Exit ticket" id="{d5ef9af3-813d-2660-3d93-af187729579a}">
          <p14:sldIdLst>
            <p14:sldId id="329"/>
            <p14:sldId id="330"/>
            <p14:sldId id="331"/>
            <p14:sldId id="332"/>
            <p14:sldId id="333"/>
            <p14:sldId id="334"/>
            <p14:sldId id="335"/>
          </p14:sldIdLst>
        </p14:section>
        <p14:section name="Homework" id="{40275853-b316-3cbf-2b1b-01c0f7812287}">
          <p14:sldIdLst>
            <p14:sldId id="336"/>
            <p14:sldId id="337"/>
          </p14:sldIdLst>
        </p14:section>
        <p14:section name="Recap" id="{665e155a-0054-f90d-c247-d15d5b3e8f42}">
          <p14:sldIdLst>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session: Catch-up: the core of Lessons 1 and 2, and Lesson 3 up to Example 5.
Share this deck full-screen. One click = one new line on the "board". Slide numbers are bottom right, so anyone following the PDF on a phone can keep up when you say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out. Say: "If you can do these by the end, today worked. If not, tell me which one — that is what the exit ticket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of 7: Times and divide, with the times table. The sign × means "groups of". Dividing asks "how many groups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Ask: "What does 4 × 5 mean in words?" (4 groups of 5.) "How could you work it out if you forgot your tables?" (5 + 5 + 5 + 5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 one together: "Find 8 × 4." (Row 8, column 4: 32.) And one backwards: "32 ÷ 8?" (Row 8, find 32, look up: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Dividing is also sharing: 12 sweets shared by 4 people gives 3 each.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Read the question out. Everyone types an answer in the chat before you click on. Wait for at least half the group. No answers out loud yet.
Expect "56,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Row 7, column 8 gives 56. Backwards: find 56 in row 7. It sits under the 8.
Name two people whose chat answers were right. If many were wrong, go back one slide and re-explain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of 7: What a fraction is, and how to simplify it. The top counts the slices. The bottom says how many equal slices make one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you click, ask: "How many slices was the pizza cut into? How many are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bottom number NAMES the slices (quarters). The top number COUNTS them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Ask: would you rather share a pizza with 2 people or with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Read the question out. Everyone types an answer in the chat before you click on. Wait for at least half the group. No answers out loud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The pizza has 8 equal slices: that is the bottom. 5 of them are orange: that is the top.
Name two people whose chat answers were right. If many were wrong, go back one slide and re-explain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pizzas have the same amount coloured. Only the number of cuts is different. So 1/2, 2/4 and 4/8 are the same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Have her say it back: "Whatever I do to the bottom, I do to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simplify, divide the top and the bottom by a number that goes into both. "Goes into" means it divides exactly, with nothing left over. Keep going until 1 is the only number that goes into both. Then the fraction is finished. The exam says "reduced to the lowest term". It means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Stuck? Look for a row of the times-table grid, other than row 1, that has BOTH numbers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simplify in small steps — step 1 of 3.
DO: Find a number that goes into BOTH 18 and 30. Both are even, so 2 goes into both. Divide the top and the bottom by 2.
WHY: Half of 18 is 9. Half of 30 is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simplify in small steps — step 2 of 3.
DO: Look again. 9 and 15 are both in the 3 times table. Divide the top and the bottom by 3.
WHY: 9 ÷ 3 = 3 and 15 ÷ 3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simplify in small steps — step 3 of 3.
DO: Can 3/5 be simplified again? No: 1 is the only number that goes into both 3 and 5. Finished.
WHY: Small steps are safe steps. You do not have to find the biggest number in one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simplify in small steps — ANSWER: 3/5.
CHECK: Go back: 3 × 6 = 18 and 5 × 6 = 30 ✓
Remind them: "In the exam the steps earn the marks, not only the last line. Write every line, one under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Read the question out. Everyone types an answer in the chat before you click on. Wait for at least half the group. No answers out loud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Both end in 0 or 5, so 5 goes into both: 10 ÷ 5 = 2 and 15 ÷ 5 = 3. Then 1 is the only number that goes into both 2 and 3.
Name two people whose chat answers were right. If many were wrong, go back one slide and re-explain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of 7: Improper fractions and mixed numbers. More slices than one whole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7 quarters: 4 of them make one whole pizza, and 3 quarters are left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improper fraction → mixed number — step 1 of 2.
DO: Divide the top by the bottom: how many 4s fit into 11? Two 4s make 8. Three 4s make 12: too many. So 2 fit, and 11 − 8 = 3 are left over.
WHY: Every 4 quarters make one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improper fraction → mixed number — step 2 of 2.
DO: The 2 is the whole number. The 3 left over is the new top. The slices are still quarters, so the bottom stays 4.
WHY: The picture shows 2 whole pizzas and 3 quarters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improper fraction → mixed number — ANSWER: 2 and 3/4.
CHECK: Go back: 2 wholes are 8 quarters, plus 3 more makes 11 quarters ✓
Remind them: "In the exam the steps earn the marks, not only the last line. Write every line, one under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whole is 3 thirds. 2 wholes are 6 thirds, plus 1 more third makes 7 thirds.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Read the question out. Everyone types an answer in the chat before you click on. Wait for at least half the group. No answers out loud yet.
Expect "2,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Whole number × bottom: 2 × 2 = 4 halves. Plus the 1 half on top: 5 halves.
Name two people whose chat answers were right. If many were wrong, go back one slide and re-explain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of 7: The sign × means "groups of": a whole number times a fraction. Multiply the top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quarter of a pizza, three times. Count the slices: 1 quarter + 1 quarter + 1 quarter = 3 quarters.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Have her say it back: "More groups means more slices, not bigger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multiply the top AND the bottom by 3, you get 3/12. 3/12 simplifies back to 1/4. The amount has not changed at all. (That is the golden rule.) Three groups of a quarter must be MORE than one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6 groups of two thirds (Lesson 3, Example 1) — step 1 of 4.
DO: Read the question out loud: "6 times two thirds". It means 6 groups of two thirds of a pizza.
WHY: Saying it in words first tells you what to expect: many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6 groups of two thirds (Lesson 3, Example 1) — step 2 of 4.
DO: Multiply the TOP by the whole number: 6 × 2 = 12. That is how many slices there are.
WHY: Each group has 2 slices and there are 6 groups: 2 + 2 + 2 + 2 + 2 + 2 =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6 groups of two thirds (Lesson 3, Example 1) — step 3 of 4.
DO: The bottom stays 3, because every slice is still a third. Write 12 over 3.
WHY: Multiplying changes HOW MANY slices you have. It does not change the size of the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6 groups of two thirds (Lesson 3, Example 1) — step 4 of 4.
DO: The top (12) is bigger than the bottom (3), so there are whole pizzas inside. Divide the top by the bottom: how many 3s fit into 12? Four 3s make 12 exactly. Nothing is left over.
WHY: Every 3 thirds make one whole pizza. 12 thirds make 4 whole pizzas.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6 groups of two thirds (Lesson 3, Example 1) — step 4 of 4.
DO: The top (12) is bigger than the bottom (3), so there are whole pizzas inside. Divide the top by the bottom: how many 3s fit into 12? Four 3s make 12 exactly. Nothing is left over.
WHY: Every 3 thirds make one whole pizza. 12 thirds make 4 whole pizzas.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6 groups of two thirds (Lesson 3, Example 1) — ANSWER: 4.
CHECK: Two thirds is a little more than half a pizza. Six halves would be 3 pizzas. So the answer should be a little more than 3 ✓
Remind them: "In the exam the steps earn the marks, not only the last line. Write every line, one under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Read the question out. Everyone types an answer in the chat before you click on. Wait for at least half the group. No answers out loud yet.
Expect "4, 8,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Multiply the top by the whole number: 4 × 2 = 8. The bottom stays 5. Then 8 ÷ 5 = 1 remainder 3: one whole and 3 fifths.
Name two people whose chat answers were right. If many were wrong, go back one slide and re-explain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of 7: A fraction OF something: "of" means ×. Fraction × fraction: top × top, bottom × bottom, then simplify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6 is two groups of 6. That is 12. 1 × 6 is one group of 6. That is 6. 1/2 × 6 is half a group of 6. That is 3. So 1/2 × 6 means "half OF 6". In maths, the word "of" means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Ask: "How many small pieces is the whole slab cut into now?" (8.) "How many are orange?"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on the bottom: 2 rows × 4 columns = 8 small pieces in the whole slab. That is bottom × bottom. The 3 on top: 1 row × 3 columns = 3 orange pieces. That is top ×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same three moves every time: "Tops. Bottoms. Simplify."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two thirds of five sixths (Lesson 3, Example 2) — step 1 of 4.
DO: Read the question: "two thirds TIMES five sixths". That means two thirds OF five sixths. In the slab picture: 5 of the 6 columns, then 2 of the 3 rows.
WHY: The orange part is the answer. It must be smaller than five sixths, because we only take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two thirds of five sixths (Lesson 3, Example 2) — step 2 of 4.
DO: Tops first: 2 × 5 = 10. Write 10 on top of the answer.
WHY: In the slab picture: 2 rows × 5 columns = 10 orange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two thirds of five sixths (Lesson 3, Example 2) — step 3 of 4.
DO: Now the bottoms: 3 × 6 = 18. Write 18 underneath.
WHY: In the slab picture: 3 rows × 6 columns = 18 small pieces in the whole slab.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two thirds of five sixths (Lesson 3, Example 2) — step 3 of 4.
DO: Now the bottoms: 3 × 6 = 18. Write 18 underneath.
WHY: In the slab picture: 3 rows × 6 columns = 18 small pieces in the whole slab.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two thirds of five sixths (Lesson 3, Example 2) — step 4 of 4.
DO: Last, simplify 10/18. Both are even, so 2 goes into both. Divide the top and the bottom by 2.
WHY: Half of 10 is 5. Half of 18 is 9. Then 1 is the only number that goes into both 5 and 9, so it is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two thirds of five sixths (Lesson 3, Example 2) — ANSWER: 5/9.
CHECK: Count the slab picture: 10 of the 18 small pieces are orange, and 10/18 simplifies to 5/9 ✓
Remind them: "In the exam the steps earn the marks, not only the last line. Write every line, one under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Read the question out. Everyone types an answer in the chat before you click on. Wait for at least half the group. No answers out loud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WHY: Tops: 1 × 1 = 1. Bottoms: 2 × 3 = 6. Half of a third is a sixth. Nothing to simplify.
Name two people whose chat answers were right. If many were wrong, go back one slide and re-explain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6 of 7: A whole number or a mixed number in a multiplication. Turn everything into a plain fraction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fraction is just a top and a bottom, with no whole number in front. A whole number: write it over 1. 3 = 3/1, because 3 ÷ 1 is still 3. A mixed number: change it into an improper fraction (Part 3). Then multiply as before: top × top, bottom ×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5: three groups of one and a half — step 1 of 3.
DO: Make both numbers plain fractions. 3 is 3/1. And 1 1/2 is 3/2, because 1 × 2 + 1 = 3.
WHY: One whole is 2 halves, plus 1 more half makes 3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5: three groups of one and a half — step 2 of 3.
DO: Tops: 3 × 3 = 9. Bottoms: 1 × 2 = 2.
WHY: Top × top, bottom ×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5: three groups of one and a half — step 3 of 3.
DO: The top is bigger than the bottom. Divide: how many 2s fit into 9? Four 2s make 8, and 1 is left over.
WHY: Every 2 halves make one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5: three groups of one and a half — ANSWER: 4 and 1/2.
CHECK: In money: 3 groups of R1.50 is R4.50 ✓
Remind them: "In the exam the steps earn the marks, not only the last line. Write every line, one under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7 of 7: A fraction OF an amount. Divide by the bottom, then multiply by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you show this slide, ask: "If five people share R100 equally, how much does each get?" Then: "And two of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small calculations, always in this order: divide by the bottom, multiply by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120 ÷ 4, leave the 0 off: 12 ÷ 4 = 3. Then put the 0 back: 30. Why? 120 is 12 tens. 12 tens shared by 4 is 3 tens, which is 30. Check by multiplying back: 4 × 30 = 120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6: the staff canteen (Lesson 3, Example 5) — step 1 of 4.
DO: Find the fraction and the amount. The fraction is 3/4. The amount is 120 staff. "3/4 OF 120" means: split the staff into 4 equal groups and take 3 of the groups.
WHY: The bottom (4) says how many equal groups. The top (3) says how many groups we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6: the staff canteen (Lesson 3, Example 5) — step 2 of 4.
DO: Divide by the bottom to find ONE group: 120 ÷ 4. Think of 12 ÷ 4 = 3, so 120 ÷ 4 = 30.
WHY: 120 is 12 tens. 12 tens shared by 4 is 3 tens, which is 30. Check: 30 + 30 + 30 + 30 = 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6: the staff canteen (Lesson 3, Example 5) — step 3 of 4.
DO: Multiply by the top to get THREE groups: 3 × 30 = 90.
WHY: 3 groups of 30: 30 + 30 + 30 =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6: the staff canteen (Lesson 3, Example 5) — step 4 of 4.
DO: Check: the one group left over (30 people) does not use the canteen. The two numbers together must be everyone.
WHY: The people who use it plus the people who do not must add up to all 120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6: the staff canteen (Lesson 3, Example 5) — ANSWER: 90 staff use the canteen..
Remind them: "In the exam the steps earn the marks, not only the last line. Write every line, one under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Tell her where to find Worked example 6 in her Lesson 3 notes, in case she wants to look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5 minutes, silent. They send working privately. Do NOT show the next slides until everyone has sent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5 minutes, silent. They send working privately. Do NOT show the next slides until everyone has sent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1 — step 1 of 2.
DO: Both are even: divide the top and the bottom by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1 — step 2 of 2.
DO: Both are still even: divide by 2 again. Then 1 is the only number that goes into both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1 — ANSWER: 3/4.
Remind them: "In the exam the steps earn the marks, not only the last line. Write every line, one under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1. Top × top, bottom × bottom.
2. Simplify: 6 goes into both 6 and 12.
ANSWER: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3.
1. Divide by the bottom: 200 ÷ 5. Leave a 0 off: 20 ÷ 5 = 4. Put the 0 back: 40.
2. Multiply by the top.
ANSWER: R120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homework. The full step-by-step working is in the student notes, and the next deck opens with a homework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homework. The full step-by-step working is in the student notes, and the next deck opens with a homework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line and ask one person to give an example for it. Preview: With the group: Lesson 3 from Worked example 6 ("the part that is left"), then dividing fractions.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035040" cy="155448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834640" y="2514600"/>
            <a:ext cx="8778240" cy="13716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2834640" y="3931920"/>
            <a:ext cx="8778240" cy="1280160"/>
          </a:xfrm>
          <a:prstGeom prst="rect">
            <a:avLst/>
          </a:prstGeom>
          <a:noFill/>
          <a:ln/>
        </p:spPr>
        <p:txBody>
          <a:bodyPr wrap="square" rtlCol="0"/>
          <a:lstStyle>
            <a:lvl1pPr algn="l" indent="0" marL="0">
              <a:buNone/>
              <a:defRPr lang="en-US" sz="2400" dirty="0">
                <a:solidFill>
                  <a:srgbClr val="4B5563"/>
                </a:solidFill>
              </a:defRPr>
            </a:lvl1pPr>
          </a:lstStyle>
          <a:p>
            <a:pPr algn="l" indent="0" marL="0">
              <a:buNone/>
            </a:pPr>
            <a:endParaRPr lang="en-US" sz="2400" dirty="0"/>
          </a:p>
        </p:txBody>
      </p:sp>
      <p:sp>
        <p:nvSpPr>
          <p:cNvPr id="4" name="Text 0"/>
          <p:cNvSpPr/>
          <p:nvPr/>
        </p:nvSpPr>
        <p:spPr>
          <a:xfrm>
            <a:off x="548640" y="6428232"/>
            <a:ext cx="8229600" cy="274320"/>
          </a:xfrm>
          <a:prstGeom prst="rect">
            <a:avLst/>
          </a:prstGeom>
          <a:noFill/>
          <a:ln/>
        </p:spPr>
        <p:txBody>
          <a:bodyPr wrap="square" lIns="0" tIns="0" rIns="0" bIns="0" rtlCol="0" anchor="ctr"/>
          <a:lstStyle/>
          <a:p>
            <a:pPr indent="0" marL="0">
              <a:buNone/>
            </a:pPr>
            <a:r>
              <a:rPr lang="en-US" sz="1100" dirty="0">
                <a:solidFill>
                  <a:srgbClr val="6B7280"/>
                </a:solidFill>
              </a:rPr>
              <a:t>Business Maths 102  ·  Catch-up session  ·  Lessons 1 to 3, up to Example 5</a:t>
            </a:r>
            <a:endParaRPr lang="en-US" sz="11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68096"/>
            <a:ext cx="11094415" cy="93268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28232"/>
            <a:ext cx="8229600" cy="274320"/>
          </a:xfrm>
          <a:prstGeom prst="rect">
            <a:avLst/>
          </a:prstGeom>
          <a:noFill/>
          <a:ln/>
        </p:spPr>
        <p:txBody>
          <a:bodyPr wrap="square" lIns="0" tIns="0" rIns="0" bIns="0" rtlCol="0" anchor="ctr"/>
          <a:lstStyle/>
          <a:p>
            <a:pPr indent="0" marL="0">
              <a:buNone/>
            </a:pPr>
            <a:r>
              <a:rPr lang="en-US" sz="1100" dirty="0">
                <a:solidFill>
                  <a:srgbClr val="6B7280"/>
                </a:solidFill>
              </a:rPr>
              <a:t>Business Maths 102  ·  Catch-up session  ·  Lessons 1 to 3, up to Example 5</a:t>
            </a:r>
            <a:endParaRPr lang="en-US" sz="11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4.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4.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4.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4.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4.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4.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4.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4.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4.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4.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4.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4.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4.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4.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4.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4.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4.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4.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slideLayout" Target="../slideLayouts/slideLayout4.xm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slideLayout" Target="../slideLayouts/slideLayout4.xm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554480"/>
            <a:ext cx="6035040" cy="365760"/>
          </a:xfrm>
          <a:prstGeom prst="rect">
            <a:avLst/>
          </a:prstGeom>
          <a:noFill/>
          <a:ln/>
        </p:spPr>
        <p:txBody>
          <a:bodyPr wrap="square" lIns="0" tIns="0" rIns="0" bIns="0" rtlCol="0" anchor="ctr"/>
          <a:lstStyle/>
          <a:p>
            <a:pPr indent="0" marL="0">
              <a:buNone/>
            </a:pPr>
            <a:r>
              <a:rPr lang="en-US" sz="1800" b="1" spc="200" kern="0" dirty="0">
                <a:solidFill>
                  <a:schemeClr val="accent2"/>
                </a:solidFill>
              </a:rPr>
              <a:t>CATCH-UP SESSION</a:t>
            </a:r>
            <a:endParaRPr lang="en-US" sz="1800" dirty="0"/>
          </a:p>
        </p:txBody>
      </p:sp>
      <p:sp>
        <p:nvSpPr>
          <p:cNvPr id="3" name="Text 0"/>
          <p:cNvSpPr/>
          <p:nvPr>
            <p:ph idx="100" type="title" hasCustomPrompt="1"/>
          </p:nvPr>
        </p:nvSpPr>
        <p:spPr>
          <a:xfrm>
            <a:off x="548640" y="2148840"/>
            <a:ext cx="6035040" cy="1554480"/>
          </a:xfrm>
          <a:prstGeom prst="rect">
            <a:avLst/>
          </a:prstGeom>
          <a:noFill/>
          <a:ln/>
        </p:spPr>
        <p:txBody>
          <a:bodyPr wrap="square" lIns="0" tIns="0" rIns="0" bIns="0" rtlCol="0" anchor="t"/>
          <a:lstStyle/>
          <a:p>
            <a:pPr algn="l" indent="0" marL="0">
              <a:buNone/>
            </a:pPr>
            <a:r>
              <a:rPr lang="en-US" sz="4600" b="1" dirty="0">
                <a:solidFill>
                  <a:schemeClr val="bg1"/>
                </a:solidFill>
              </a:rPr>
              <a:t>Lessons 1 to 3, up to Example 5</a:t>
            </a:r>
            <a:endParaRPr lang="en-US" sz="4600" dirty="0"/>
          </a:p>
        </p:txBody>
      </p:sp>
      <p:sp>
        <p:nvSpPr>
          <p:cNvPr id="4" name="Text 2"/>
          <p:cNvSpPr txBox="1"/>
          <p:nvPr/>
        </p:nvSpPr>
        <p:spPr>
          <a:xfrm>
            <a:off x="548640" y="3825240"/>
            <a:ext cx="5852160" cy="1463040"/>
          </a:xfrm>
          <a:prstGeom prst="rect">
            <a:avLst/>
          </a:prstGeom>
          <a:noFill/>
          <a:ln/>
        </p:spPr>
        <p:txBody>
          <a:bodyPr wrap="square" lIns="0" tIns="0" rIns="0" bIns="0" rtlCol="0" anchor="t"/>
          <a:lstStyle/>
          <a:p>
            <a:pPr algn="l" indent="0" marL="0">
              <a:buNone/>
            </a:pPr>
            <a:r>
              <a:rPr lang="en-US" sz="2400" dirty="0">
                <a:solidFill>
                  <a:srgbClr val="C9D6EA"/>
                </a:solidFill>
              </a:rPr>
              <a:t>Times means "groups of" · what a fraction is · simplifying · multiplying fractions · a fraction OF an amount</a:t>
            </a:r>
            <a:endParaRPr lang="en-US" sz="2400" dirty="0"/>
          </a:p>
        </p:txBody>
      </p:sp>
      <p:sp>
        <p:nvSpPr>
          <p:cNvPr id="5" name="Text 3"/>
          <p:cNvSpPr txBox="1"/>
          <p:nvPr/>
        </p:nvSpPr>
        <p:spPr>
          <a:xfrm>
            <a:off x="548640" y="502920"/>
            <a:ext cx="5486400" cy="365760"/>
          </a:xfrm>
          <a:prstGeom prst="rect">
            <a:avLst/>
          </a:prstGeom>
          <a:noFill/>
          <a:ln/>
        </p:spPr>
        <p:txBody>
          <a:bodyPr wrap="square" lIns="0" tIns="0" rIns="0" bIns="0" rtlCol="0" anchor="ctr"/>
          <a:lstStyle/>
          <a:p>
            <a:pPr indent="0" marL="0">
              <a:buNone/>
            </a:pPr>
            <a:r>
              <a:rPr lang="en-US" sz="1600" b="1" dirty="0">
                <a:solidFill>
                  <a:srgbClr val="C9D6EA"/>
                </a:solidFill>
              </a:rPr>
              <a:t>Business Maths 102</a:t>
            </a:r>
            <a:endParaRPr lang="en-US" sz="1600" dirty="0"/>
          </a:p>
        </p:txBody>
      </p:sp>
      <p:sp>
        <p:nvSpPr>
          <p:cNvPr id="6" name="card"/>
          <p:cNvSpPr/>
          <p:nvPr/>
        </p:nvSpPr>
        <p:spPr>
          <a:xfrm>
            <a:off x="6949440" y="1097280"/>
            <a:ext cx="4690872" cy="4663440"/>
          </a:xfrm>
          <a:prstGeom prst="roundRect">
            <a:avLst>
              <a:gd name="adj" fmla="val 4902"/>
            </a:avLst>
          </a:prstGeom>
          <a:solidFill>
            <a:schemeClr val="bg1"/>
          </a:solidFill>
          <a:ln/>
        </p:spPr>
      </p:sp>
      <p:pic>
        <p:nvPicPr>
          <p:cNvPr id="7" name="Image 0" descr="fraction circles">    </p:cNvPr>
          <p:cNvPicPr>
            <a:picLocks noChangeAspect="1"/>
          </p:cNvPicPr>
          <p:nvPr/>
        </p:nvPicPr>
        <p:blipFill>
          <a:blip r:embed="rId1"/>
          <a:stretch>
            <a:fillRect/>
          </a:stretch>
        </p:blipFill>
        <p:spPr>
          <a:xfrm>
            <a:off x="7897718" y="1371600"/>
            <a:ext cx="2794316"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nd label"/>
          <p:cNvSpPr/>
          <p:nvPr/>
        </p:nvSpPr>
        <p:spPr>
          <a:xfrm>
            <a:off x="548640" y="365760"/>
            <a:ext cx="118872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TODAY</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By the end of today you can…</a:t>
            </a:r>
            <a:endParaRPr lang="en-US" sz="3000" dirty="0"/>
          </a:p>
        </p:txBody>
      </p:sp>
      <p:sp>
        <p:nvSpPr>
          <p:cNvPr id="4" name="number badge"/>
          <p:cNvSpPr/>
          <p:nvPr/>
        </p:nvSpPr>
        <p:spPr>
          <a:xfrm>
            <a:off x="548640" y="1627632"/>
            <a:ext cx="548640" cy="54864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371600" y="1554480"/>
            <a:ext cx="10271455" cy="881482"/>
          </a:xfrm>
          <a:prstGeom prst="rect">
            <a:avLst/>
          </a:prstGeom>
          <a:noFill/>
          <a:ln/>
        </p:spPr>
        <p:txBody>
          <a:bodyPr wrap="square" lIns="0" tIns="0" rIns="0" bIns="0" rtlCol="0" anchor="ctr"/>
          <a:lstStyle/>
          <a:p>
            <a:pPr algn="l" indent="0" marL="0">
              <a:buNone/>
            </a:pPr>
            <a:r>
              <a:rPr lang="en-US" sz="2600" dirty="0">
                <a:solidFill>
                  <a:schemeClr val="tx1"/>
                </a:solidFill>
              </a:rPr>
              <a:t>Use the times table to multiply and divide, and say what × means ("groups of")</a:t>
            </a:r>
            <a:endParaRPr lang="en-US" sz="2600" dirty="0"/>
          </a:p>
        </p:txBody>
      </p:sp>
      <p:sp>
        <p:nvSpPr>
          <p:cNvPr id="6" name="number badge"/>
          <p:cNvSpPr/>
          <p:nvPr/>
        </p:nvSpPr>
        <p:spPr>
          <a:xfrm>
            <a:off x="548640" y="2563978"/>
            <a:ext cx="548640" cy="54864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7" name="Text 5"/>
          <p:cNvSpPr txBox="1"/>
          <p:nvPr/>
        </p:nvSpPr>
        <p:spPr>
          <a:xfrm>
            <a:off x="1371600" y="2490826"/>
            <a:ext cx="10271455" cy="881482"/>
          </a:xfrm>
          <a:prstGeom prst="rect">
            <a:avLst/>
          </a:prstGeom>
          <a:noFill/>
          <a:ln/>
        </p:spPr>
        <p:txBody>
          <a:bodyPr wrap="square" lIns="0" tIns="0" rIns="0" bIns="0" rtlCol="0" anchor="ctr"/>
          <a:lstStyle/>
          <a:p>
            <a:pPr algn="l" indent="0" marL="0">
              <a:buNone/>
            </a:pPr>
            <a:r>
              <a:rPr lang="en-US" sz="2600" dirty="0">
                <a:solidFill>
                  <a:schemeClr val="tx1"/>
                </a:solidFill>
              </a:rPr>
              <a:t>Say what the top and the bottom of a fraction mean, and simplify a fraction</a:t>
            </a:r>
            <a:endParaRPr lang="en-US" sz="2600" dirty="0"/>
          </a:p>
        </p:txBody>
      </p:sp>
      <p:sp>
        <p:nvSpPr>
          <p:cNvPr id="8" name="number badge"/>
          <p:cNvSpPr/>
          <p:nvPr/>
        </p:nvSpPr>
        <p:spPr>
          <a:xfrm>
            <a:off x="548640" y="3500323"/>
            <a:ext cx="548640" cy="54864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9" name="Text 7"/>
          <p:cNvSpPr txBox="1"/>
          <p:nvPr/>
        </p:nvSpPr>
        <p:spPr>
          <a:xfrm>
            <a:off x="1371600" y="3427171"/>
            <a:ext cx="10271455" cy="881482"/>
          </a:xfrm>
          <a:prstGeom prst="rect">
            <a:avLst/>
          </a:prstGeom>
          <a:noFill/>
          <a:ln/>
        </p:spPr>
        <p:txBody>
          <a:bodyPr wrap="square" lIns="0" tIns="0" rIns="0" bIns="0" rtlCol="0" anchor="ctr"/>
          <a:lstStyle/>
          <a:p>
            <a:pPr algn="l" indent="0" marL="0">
              <a:buNone/>
            </a:pPr>
            <a:r>
              <a:rPr lang="en-US" sz="2600" dirty="0">
                <a:solidFill>
                  <a:schemeClr val="tx1"/>
                </a:solidFill>
              </a:rPr>
              <a:t>Change an improper fraction into a mixed number, and back again</a:t>
            </a:r>
            <a:endParaRPr lang="en-US" sz="2600" dirty="0"/>
          </a:p>
        </p:txBody>
      </p:sp>
      <p:sp>
        <p:nvSpPr>
          <p:cNvPr id="10" name="number badge"/>
          <p:cNvSpPr/>
          <p:nvPr/>
        </p:nvSpPr>
        <p:spPr>
          <a:xfrm>
            <a:off x="548640" y="4436669"/>
            <a:ext cx="548640" cy="54864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1" name="Text 9"/>
          <p:cNvSpPr txBox="1"/>
          <p:nvPr/>
        </p:nvSpPr>
        <p:spPr>
          <a:xfrm>
            <a:off x="1371600" y="4363517"/>
            <a:ext cx="10271455" cy="881482"/>
          </a:xfrm>
          <a:prstGeom prst="rect">
            <a:avLst/>
          </a:prstGeom>
          <a:noFill/>
          <a:ln/>
        </p:spPr>
        <p:txBody>
          <a:bodyPr wrap="square" lIns="0" tIns="0" rIns="0" bIns="0" rtlCol="0" anchor="ctr"/>
          <a:lstStyle/>
          <a:p>
            <a:pPr algn="l" indent="0" marL="0">
              <a:buNone/>
            </a:pPr>
            <a:r>
              <a:rPr lang="en-US" sz="2600" dirty="0">
                <a:solidFill>
                  <a:schemeClr val="tx1"/>
                </a:solidFill>
              </a:rPr>
              <a:t>Multiply a whole number by a fraction, and a fraction by a fraction</a:t>
            </a:r>
            <a:endParaRPr lang="en-US" sz="2600" dirty="0"/>
          </a:p>
        </p:txBody>
      </p:sp>
      <p:sp>
        <p:nvSpPr>
          <p:cNvPr id="12" name="number badge"/>
          <p:cNvSpPr/>
          <p:nvPr/>
        </p:nvSpPr>
        <p:spPr>
          <a:xfrm>
            <a:off x="548640" y="5373014"/>
            <a:ext cx="548640" cy="54864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13" name="Text 11"/>
          <p:cNvSpPr txBox="1"/>
          <p:nvPr/>
        </p:nvSpPr>
        <p:spPr>
          <a:xfrm>
            <a:off x="1371600" y="5299862"/>
            <a:ext cx="10271455" cy="881482"/>
          </a:xfrm>
          <a:prstGeom prst="rect">
            <a:avLst/>
          </a:prstGeom>
          <a:noFill/>
          <a:ln/>
        </p:spPr>
        <p:txBody>
          <a:bodyPr wrap="square" lIns="0" tIns="0" rIns="0" bIns="0" rtlCol="0" anchor="ctr"/>
          <a:lstStyle/>
          <a:p>
            <a:pPr algn="l" indent="0" marL="0">
              <a:buNone/>
            </a:pPr>
            <a:r>
              <a:rPr lang="en-US" sz="2600" dirty="0">
                <a:solidFill>
                  <a:schemeClr val="tx1"/>
                </a:solidFill>
              </a:rPr>
              <a:t>Find a fraction OF an amount: divide by the bottom, then multiply by the top</a:t>
            </a:r>
            <a:endParaRPr lang="en-US" sz="26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idea number"/>
          <p:cNvSpPr/>
          <p:nvPr/>
        </p:nvSpPr>
        <p:spPr>
          <a:xfrm>
            <a:off x="731520" y="2377440"/>
            <a:ext cx="1737360" cy="1737360"/>
          </a:xfrm>
          <a:prstGeom prst="ellipse">
            <a:avLst/>
          </a:prstGeom>
          <a:solidFill>
            <a:schemeClr val="accent2"/>
          </a:solidFill>
          <a:ln/>
        </p:spPr>
        <p:txBody>
          <a:bodyPr wrap="square" lIns="0" tIns="0" rIns="0" bIns="0" rtlCol="0" anchor="ctr"/>
          <a:lstStyle/>
          <a:p>
            <a:pPr algn="ctr" indent="0" marL="0">
              <a:buNone/>
            </a:pPr>
            <a:r>
              <a:rPr lang="en-US" sz="6600" b="1" dirty="0">
                <a:solidFill>
                  <a:schemeClr val="tx2"/>
                </a:solidFill>
              </a:rPr>
              <a:t>1</a:t>
            </a:r>
            <a:endParaRPr lang="en-US" sz="6600" dirty="0"/>
          </a:p>
        </p:txBody>
      </p:sp>
      <p:sp>
        <p:nvSpPr>
          <p:cNvPr id="3" name="Text 1"/>
          <p:cNvSpPr txBox="1"/>
          <p:nvPr/>
        </p:nvSpPr>
        <p:spPr>
          <a:xfrm>
            <a:off x="2834640" y="2011680"/>
            <a:ext cx="8229600" cy="365760"/>
          </a:xfrm>
          <a:prstGeom prst="rect">
            <a:avLst/>
          </a:prstGeom>
          <a:noFill/>
          <a:ln/>
        </p:spPr>
        <p:txBody>
          <a:bodyPr wrap="square" lIns="0" tIns="0" rIns="0" bIns="0" rtlCol="0" anchor="ctr"/>
          <a:lstStyle/>
          <a:p>
            <a:pPr indent="0" marL="0">
              <a:buNone/>
            </a:pPr>
            <a:r>
              <a:rPr lang="en-US" sz="1600" b="1" spc="200" kern="0" dirty="0">
                <a:solidFill>
                  <a:srgbClr val="B45309"/>
                </a:solidFill>
              </a:rPr>
              <a:t>PART 1 OF 7 · FROM LESSON 1   ·   about 10 minutes</a:t>
            </a:r>
            <a:endParaRPr lang="en-US" sz="1600" dirty="0"/>
          </a:p>
        </p:txBody>
      </p:sp>
      <p:sp>
        <p:nvSpPr>
          <p:cNvPr id="4" name="Text 0"/>
          <p:cNvSpPr/>
          <p:nvPr>
            <p:ph idx="100" type="title" hasCustomPrompt="1"/>
          </p:nvPr>
        </p:nvSpPr>
        <p:spPr>
          <a:xfrm>
            <a:off x="2834640" y="2514600"/>
            <a:ext cx="8778240" cy="1371600"/>
          </a:xfrm>
          <a:prstGeom prst="rect">
            <a:avLst/>
          </a:prstGeom>
          <a:noFill/>
          <a:ln/>
        </p:spPr>
        <p:txBody>
          <a:bodyPr wrap="square" lIns="0" tIns="0" rIns="0" bIns="0" rtlCol="0" anchor="t"/>
          <a:lstStyle/>
          <a:p>
            <a:pPr algn="l" indent="0" marL="0">
              <a:buNone/>
            </a:pPr>
            <a:r>
              <a:rPr lang="en-US" sz="4000" b="1" dirty="0">
                <a:solidFill>
                  <a:schemeClr val="tx1"/>
                </a:solidFill>
              </a:rPr>
              <a:t>Times and divide, with the times table</a:t>
            </a:r>
            <a:endParaRPr lang="en-US" sz="4000" dirty="0"/>
          </a:p>
        </p:txBody>
      </p:sp>
      <p:sp>
        <p:nvSpPr>
          <p:cNvPr id="5" name="Text 0"/>
          <p:cNvSpPr/>
          <p:nvPr>
            <p:ph idx="101" type="body" hasCustomPrompt="1"/>
          </p:nvPr>
        </p:nvSpPr>
        <p:spPr>
          <a:xfrm>
            <a:off x="2834640" y="3931920"/>
            <a:ext cx="8778240" cy="1280160"/>
          </a:xfrm>
          <a:prstGeom prst="rect">
            <a:avLst/>
          </a:prstGeom>
          <a:noFill/>
          <a:ln/>
        </p:spPr>
        <p:txBody>
          <a:bodyPr wrap="square" lIns="0" tIns="0" rIns="0" bIns="0" rtlCol="0" anchor="t"/>
          <a:lstStyle/>
          <a:p>
            <a:pPr algn="l" indent="0" marL="0">
              <a:buNone/>
            </a:pPr>
            <a:r>
              <a:rPr lang="en-US" sz="2400" dirty="0">
                <a:solidFill>
                  <a:srgbClr val="4B5563"/>
                </a:solidFill>
              </a:rPr>
              <a:t>The sign × means "groups of". Dividing asks "how many groups fit?"</a:t>
            </a:r>
            <a:endParaRPr lang="en-US" sz="24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The sign × is read "times". It means "groups of"</a:t>
            </a:r>
            <a:endParaRPr lang="en-US" sz="3000" dirty="0"/>
          </a:p>
        </p:txBody>
      </p:sp>
      <p:sp>
        <p:nvSpPr>
          <p:cNvPr id="4" name="card"/>
          <p:cNvSpPr/>
          <p:nvPr/>
        </p:nvSpPr>
        <p:spPr>
          <a:xfrm>
            <a:off x="548640" y="1417320"/>
            <a:ext cx="11094415" cy="1914144"/>
          </a:xfrm>
          <a:prstGeom prst="roundRect">
            <a:avLst>
              <a:gd name="adj" fmla="val 6688"/>
            </a:avLst>
          </a:prstGeom>
          <a:solidFill>
            <a:srgbClr val="F1EAFB"/>
          </a:solidFill>
          <a:ln/>
        </p:spPr>
      </p:sp>
      <p:sp>
        <p:nvSpPr>
          <p:cNvPr id="5" name="Text 3"/>
          <p:cNvSpPr txBox="1"/>
          <p:nvPr/>
        </p:nvSpPr>
        <p:spPr>
          <a:xfrm>
            <a:off x="804672" y="1673352"/>
            <a:ext cx="10582351" cy="1493520"/>
          </a:xfrm>
          <a:prstGeom prst="rect">
            <a:avLst/>
          </a:prstGeom>
          <a:noFill/>
          <a:ln/>
        </p:spPr>
        <p:txBody>
          <a:bodyPr wrap="square" lIns="0" tIns="0" rIns="0" bIns="0" rtlCol="0" anchor="t"/>
          <a:lstStyle/>
          <a:p>
            <a:pPr algn="l" indent="0" marL="0">
              <a:spcAft>
                <a:spcPts val="1200"/>
              </a:spcAft>
              <a:buNone/>
            </a:pPr>
            <a:r>
              <a:rPr lang="en-US" sz="2400" b="1" dirty="0">
                <a:solidFill>
                  <a:schemeClr val="tx1"/>
                </a:solidFill>
              </a:rPr>
              <a:t>3 × 2</a:t>
            </a:r>
            <a:pPr algn="l" indent="0" marL="0">
              <a:spcAft>
                <a:spcPts val="1200"/>
              </a:spcAft>
              <a:buNone/>
            </a:pPr>
            <a:r>
              <a:rPr lang="en-US" sz="2400" dirty="0">
                <a:solidFill>
                  <a:schemeClr val="tx1"/>
                </a:solidFill>
              </a:rPr>
              <a:t> is read "3 times 2". It means </a:t>
            </a:r>
            <a:pPr algn="l" indent="0" marL="0">
              <a:spcAft>
                <a:spcPts val="1200"/>
              </a:spcAft>
              <a:buNone/>
            </a:pPr>
            <a:r>
              <a:rPr lang="en-US" sz="2400" b="1" dirty="0">
                <a:solidFill>
                  <a:schemeClr val="tx1"/>
                </a:solidFill>
              </a:rPr>
              <a:t>3 groups of 2</a:t>
            </a:r>
            <a:pPr algn="l" indent="0" marL="0">
              <a:spcAft>
                <a:spcPts val="1200"/>
              </a:spcAft>
              <a:buNone/>
            </a:pPr>
            <a:r>
              <a:rPr lang="en-US" sz="2400" dirty="0">
                <a:solidFill>
                  <a:schemeClr val="tx1"/>
                </a:solidFill>
              </a:rPr>
              <a:t>.</a:t>
            </a:r>
            <a:endParaRPr lang="en-US" sz="2400" dirty="0"/>
          </a:p>
          <a:p>
            <a:pPr algn="l" indent="0" marL="0">
              <a:spcAft>
                <a:spcPts val="1200"/>
              </a:spcAft>
              <a:buNone/>
            </a:pPr>
            <a:r>
              <a:rPr lang="en-US" sz="2400" dirty="0">
                <a:solidFill>
                  <a:schemeClr val="tx1"/>
                </a:solidFill>
              </a:rPr>
              <a:t>Count the dots: 2 + 2 + 2 = </a:t>
            </a:r>
            <a:pPr algn="l" indent="0" marL="0">
              <a:spcAft>
                <a:spcPts val="1200"/>
              </a:spcAft>
              <a:buNone/>
            </a:pPr>
            <a:r>
              <a:rPr lang="en-US" sz="2400" b="1" dirty="0">
                <a:solidFill>
                  <a:schemeClr val="tx1"/>
                </a:solidFill>
              </a:rPr>
              <a:t>6</a:t>
            </a:r>
            <a:pPr algn="l" indent="0" marL="0">
              <a:spcAft>
                <a:spcPts val="1200"/>
              </a:spcAft>
              <a:buNone/>
            </a:pPr>
            <a:r>
              <a:rPr lang="en-US" sz="2400" dirty="0">
                <a:solidFill>
                  <a:schemeClr val="tx1"/>
                </a:solidFill>
              </a:rPr>
              <a:t>.</a:t>
            </a:r>
            <a:endParaRPr lang="en-US" sz="2400" dirty="0"/>
          </a:p>
          <a:p>
            <a:pPr algn="l" indent="0" marL="0">
              <a:spcAft>
                <a:spcPts val="1200"/>
              </a:spcAft>
              <a:buNone/>
            </a:pPr>
            <a:r>
              <a:rPr lang="en-US" sz="2400" dirty="0">
                <a:solidFill>
                  <a:schemeClr val="tx1"/>
                </a:solidFill>
              </a:rPr>
              <a:t>So multiplying is a quick way of adding the same number again and again.</a:t>
            </a:r>
            <a:endParaRPr lang="en-US" sz="2400" dirty="0"/>
          </a:p>
        </p:txBody>
      </p:sp>
      <p:pic>
        <p:nvPicPr>
          <p:cNvPr id="6" name="Image 0" descr="3 × 2 = 6">    </p:cNvPr>
          <p:cNvPicPr>
            <a:picLocks noChangeAspect="1"/>
          </p:cNvPicPr>
          <p:nvPr/>
        </p:nvPicPr>
        <p:blipFill>
          <a:blip r:embed="rId1"/>
          <a:stretch>
            <a:fillRect/>
          </a:stretch>
        </p:blipFill>
        <p:spPr>
          <a:xfrm>
            <a:off x="1219048" y="4349496"/>
            <a:ext cx="9753600" cy="1097280"/>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nd label"/>
          <p:cNvSpPr/>
          <p:nvPr/>
        </p:nvSpPr>
        <p:spPr>
          <a:xfrm>
            <a:off x="548640" y="365760"/>
            <a:ext cx="118872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TOOL</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The times table: keep it next to you all session</a:t>
            </a:r>
            <a:endParaRPr lang="en-US" sz="3000" dirty="0"/>
          </a:p>
        </p:txBody>
      </p:sp>
      <p:sp>
        <p:nvSpPr>
          <p:cNvPr id="4" name="card"/>
          <p:cNvSpPr/>
          <p:nvPr/>
        </p:nvSpPr>
        <p:spPr>
          <a:xfrm>
            <a:off x="548640" y="1417320"/>
            <a:ext cx="5257800" cy="4804664"/>
          </a:xfrm>
          <a:prstGeom prst="roundRect">
            <a:avLst>
              <a:gd name="adj" fmla="val 2664"/>
            </a:avLst>
          </a:prstGeom>
          <a:solidFill>
            <a:srgbClr val="DDF1F2"/>
          </a:solidFill>
          <a:ln/>
        </p:spPr>
      </p:sp>
      <p:sp>
        <p:nvSpPr>
          <p:cNvPr id="5" name="Text 3"/>
          <p:cNvSpPr txBox="1"/>
          <p:nvPr/>
        </p:nvSpPr>
        <p:spPr>
          <a:xfrm>
            <a:off x="804672" y="1673352"/>
            <a:ext cx="4745736" cy="4384040"/>
          </a:xfrm>
          <a:prstGeom prst="rect">
            <a:avLst/>
          </a:prstGeom>
          <a:noFill/>
          <a:ln/>
        </p:spPr>
        <p:txBody>
          <a:bodyPr wrap="square" lIns="0" tIns="0" rIns="0" bIns="0" rtlCol="0" anchor="t"/>
          <a:lstStyle/>
          <a:p>
            <a:pPr algn="l" indent="0" marL="0">
              <a:spcAft>
                <a:spcPts val="1300"/>
              </a:spcAft>
              <a:buNone/>
            </a:pPr>
            <a:r>
              <a:rPr lang="en-US" sz="2600" dirty="0">
                <a:solidFill>
                  <a:schemeClr val="tx1"/>
                </a:solidFill>
              </a:rPr>
              <a:t>To find </a:t>
            </a:r>
            <a:pPr algn="l" indent="0" marL="0">
              <a:spcAft>
                <a:spcPts val="1300"/>
              </a:spcAft>
              <a:buNone/>
            </a:pPr>
            <a:r>
              <a:rPr lang="en-US" sz="2600" b="1" dirty="0">
                <a:solidFill>
                  <a:schemeClr val="tx1"/>
                </a:solidFill>
              </a:rPr>
              <a:t>6 × 7</a:t>
            </a:r>
            <a:pPr algn="l" indent="0" marL="0">
              <a:spcAft>
                <a:spcPts val="1300"/>
              </a:spcAft>
              <a:buNone/>
            </a:pPr>
            <a:r>
              <a:rPr lang="en-US" sz="2600" dirty="0">
                <a:solidFill>
                  <a:schemeClr val="tx1"/>
                </a:solidFill>
              </a:rPr>
              <a:t>: put a finger on row 6 and slide along to column 7. You land on </a:t>
            </a:r>
            <a:pPr algn="l" indent="0" marL="0">
              <a:spcAft>
                <a:spcPts val="1300"/>
              </a:spcAft>
              <a:buNone/>
            </a:pPr>
            <a:r>
              <a:rPr lang="en-US" sz="2600" b="1" dirty="0">
                <a:solidFill>
                  <a:schemeClr val="tx1"/>
                </a:solidFill>
              </a:rPr>
              <a:t>42</a:t>
            </a:r>
            <a:pPr algn="l" indent="0" marL="0">
              <a:spcAft>
                <a:spcPts val="1300"/>
              </a:spcAft>
              <a:buNone/>
            </a:pPr>
            <a:r>
              <a:rPr lang="en-US" sz="2600" dirty="0">
                <a:solidFill>
                  <a:schemeClr val="tx1"/>
                </a:solidFill>
              </a:rPr>
              <a:t>.</a:t>
            </a:r>
            <a:endParaRPr lang="en-US" sz="2600" dirty="0"/>
          </a:p>
          <a:p>
            <a:pPr algn="l" indent="0" marL="0">
              <a:spcAft>
                <a:spcPts val="1300"/>
              </a:spcAft>
              <a:buNone/>
            </a:pPr>
            <a:r>
              <a:rPr lang="en-US" sz="2600" dirty="0">
                <a:solidFill>
                  <a:schemeClr val="tx1"/>
                </a:solidFill>
              </a:rPr>
              <a:t>To </a:t>
            </a:r>
            <a:pPr algn="l" indent="0" marL="0">
              <a:spcAft>
                <a:spcPts val="1300"/>
              </a:spcAft>
              <a:buNone/>
            </a:pPr>
            <a:r>
              <a:rPr lang="en-US" sz="2600" b="1" dirty="0">
                <a:solidFill>
                  <a:schemeClr val="tx1"/>
                </a:solidFill>
              </a:rPr>
              <a:t>divide</a:t>
            </a:r>
            <a:pPr algn="l" indent="0" marL="0">
              <a:spcAft>
                <a:spcPts val="1300"/>
              </a:spcAft>
              <a:buNone/>
            </a:pPr>
            <a:r>
              <a:rPr lang="en-US" sz="2600" dirty="0">
                <a:solidFill>
                  <a:schemeClr val="tx1"/>
                </a:solidFill>
              </a:rPr>
              <a:t>, go backwards. For 42 ÷ 6, look along row 6 for 42. It sits under the 7, so 42 ÷ 6 = </a:t>
            </a:r>
            <a:pPr algn="l" indent="0" marL="0">
              <a:spcAft>
                <a:spcPts val="1300"/>
              </a:spcAft>
              <a:buNone/>
            </a:pPr>
            <a:r>
              <a:rPr lang="en-US" sz="2600" b="1" dirty="0">
                <a:solidFill>
                  <a:schemeClr val="tx1"/>
                </a:solidFill>
              </a:rPr>
              <a:t>7</a:t>
            </a:r>
            <a:pPr algn="l" indent="0" marL="0">
              <a:spcAft>
                <a:spcPts val="1300"/>
              </a:spcAft>
              <a:buNone/>
            </a:pPr>
            <a:r>
              <a:rPr lang="en-US" sz="2600" dirty="0">
                <a:solidFill>
                  <a:schemeClr val="tx1"/>
                </a:solidFill>
              </a:rPr>
              <a:t>.</a:t>
            </a:r>
            <a:endParaRPr lang="en-US" sz="2600" dirty="0"/>
          </a:p>
          <a:p>
            <a:pPr algn="l" indent="0" marL="0">
              <a:spcAft>
                <a:spcPts val="1300"/>
              </a:spcAft>
              <a:buNone/>
            </a:pPr>
            <a:r>
              <a:rPr lang="en-US" sz="2600" dirty="0">
                <a:solidFill>
                  <a:schemeClr val="tx1"/>
                </a:solidFill>
              </a:rPr>
              <a:t>Nobody has to know the tables by heart. Keep this page open in your notes.</a:t>
            </a:r>
            <a:endParaRPr lang="en-US" sz="2600" dirty="0"/>
          </a:p>
        </p:txBody>
      </p:sp>
      <p:pic>
        <p:nvPicPr>
          <p:cNvPr id="6" name="Image 0" descr="times table grid">    </p:cNvPr>
          <p:cNvPicPr>
            <a:picLocks noChangeAspect="1"/>
          </p:cNvPicPr>
          <p:nvPr/>
        </p:nvPicPr>
        <p:blipFill>
          <a:blip r:embed="rId1"/>
          <a:stretch>
            <a:fillRect/>
          </a:stretch>
        </p:blipFill>
        <p:spPr>
          <a:xfrm>
            <a:off x="6475324" y="1417320"/>
            <a:ext cx="4818888" cy="4818888"/>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Dividing asks: how many groups fit?</a:t>
            </a:r>
            <a:endParaRPr lang="en-US" sz="3000" dirty="0"/>
          </a:p>
        </p:txBody>
      </p:sp>
      <p:sp>
        <p:nvSpPr>
          <p:cNvPr id="4" name="card"/>
          <p:cNvSpPr/>
          <p:nvPr/>
        </p:nvSpPr>
        <p:spPr>
          <a:xfrm>
            <a:off x="548640" y="1417320"/>
            <a:ext cx="11094415" cy="2279904"/>
          </a:xfrm>
          <a:prstGeom prst="roundRect">
            <a:avLst>
              <a:gd name="adj" fmla="val 5615"/>
            </a:avLst>
          </a:prstGeom>
          <a:solidFill>
            <a:srgbClr val="F1EAFB"/>
          </a:solidFill>
          <a:ln/>
        </p:spPr>
      </p:sp>
      <p:sp>
        <p:nvSpPr>
          <p:cNvPr id="5" name="Text 3"/>
          <p:cNvSpPr txBox="1"/>
          <p:nvPr/>
        </p:nvSpPr>
        <p:spPr>
          <a:xfrm>
            <a:off x="804672" y="1673352"/>
            <a:ext cx="10582351" cy="1859280"/>
          </a:xfrm>
          <a:prstGeom prst="rect">
            <a:avLst/>
          </a:prstGeom>
          <a:noFill/>
          <a:ln/>
        </p:spPr>
        <p:txBody>
          <a:bodyPr wrap="square" lIns="0" tIns="0" rIns="0" bIns="0" rtlCol="0" anchor="t"/>
          <a:lstStyle/>
          <a:p>
            <a:pPr algn="l" indent="0" marL="0">
              <a:spcAft>
                <a:spcPts val="1200"/>
              </a:spcAft>
              <a:buNone/>
            </a:pPr>
            <a:r>
              <a:rPr lang="en-US" sz="2400" b="1" dirty="0">
                <a:solidFill>
                  <a:schemeClr val="tx1"/>
                </a:solidFill>
              </a:rPr>
              <a:t>12 ÷ 4</a:t>
            </a:r>
            <a:pPr algn="l" indent="0" marL="0">
              <a:spcAft>
                <a:spcPts val="1200"/>
              </a:spcAft>
              <a:buNone/>
            </a:pPr>
            <a:r>
              <a:rPr lang="en-US" sz="2400" dirty="0">
                <a:solidFill>
                  <a:schemeClr val="tx1"/>
                </a:solidFill>
              </a:rPr>
              <a:t> asks: how many groups of 4 fit into 12?</a:t>
            </a:r>
            <a:endParaRPr lang="en-US" sz="2400" dirty="0"/>
          </a:p>
          <a:p>
            <a:pPr algn="l" indent="0" marL="0">
              <a:spcAft>
                <a:spcPts val="1200"/>
              </a:spcAft>
              <a:buNone/>
            </a:pPr>
            <a:r>
              <a:rPr lang="en-US" sz="2400" dirty="0">
                <a:solidFill>
                  <a:schemeClr val="tx1"/>
                </a:solidFill>
              </a:rPr>
              <a:t>Make groups of 4: three groups fit exactly. So 12 ÷ 4 = </a:t>
            </a:r>
            <a:pPr algn="l" indent="0" marL="0">
              <a:spcAft>
                <a:spcPts val="1200"/>
              </a:spcAft>
              <a:buNone/>
            </a:pPr>
            <a:r>
              <a:rPr lang="en-US" sz="2400" b="1" dirty="0">
                <a:solidFill>
                  <a:schemeClr val="tx1"/>
                </a:solidFill>
              </a:rPr>
              <a:t>3</a:t>
            </a:r>
            <a:pPr algn="l" indent="0" marL="0">
              <a:spcAft>
                <a:spcPts val="1200"/>
              </a:spcAft>
              <a:buNone/>
            </a:pPr>
            <a:r>
              <a:rPr lang="en-US" sz="2400" dirty="0">
                <a:solidFill>
                  <a:schemeClr val="tx1"/>
                </a:solidFill>
              </a:rPr>
              <a:t>.</a:t>
            </a:r>
            <a:endParaRPr lang="en-US" sz="2400" dirty="0"/>
          </a:p>
          <a:p>
            <a:pPr algn="l" indent="0" marL="0">
              <a:spcAft>
                <a:spcPts val="1200"/>
              </a:spcAft>
              <a:buNone/>
            </a:pPr>
            <a:r>
              <a:rPr lang="en-US" sz="2400" dirty="0">
                <a:solidFill>
                  <a:schemeClr val="tx1"/>
                </a:solidFill>
              </a:rPr>
              <a:t>Sometimes a few are left over. That is the </a:t>
            </a:r>
            <a:pPr algn="l" indent="0" marL="0">
              <a:spcAft>
                <a:spcPts val="1200"/>
              </a:spcAft>
              <a:buNone/>
            </a:pPr>
            <a:r>
              <a:rPr lang="en-US" sz="2400" b="1" dirty="0">
                <a:solidFill>
                  <a:schemeClr val="tx1"/>
                </a:solidFill>
              </a:rPr>
              <a:t>remainder</a:t>
            </a:r>
            <a:pPr algn="l" indent="0" marL="0">
              <a:spcAft>
                <a:spcPts val="1200"/>
              </a:spcAft>
              <a:buNone/>
            </a:pPr>
            <a:r>
              <a:rPr lang="en-US" sz="2400" dirty="0">
                <a:solidFill>
                  <a:schemeClr val="tx1"/>
                </a:solidFill>
              </a:rPr>
              <a:t>: 17 ÷ 5 = 3 remainder 2.</a:t>
            </a:r>
            <a:endParaRPr lang="en-US" sz="2400" dirty="0"/>
          </a:p>
        </p:txBody>
      </p:sp>
      <p:pic>
        <p:nvPicPr>
          <p:cNvPr id="6" name="Image 0" descr="12 ÷ 4 = 3; 17 ÷ 5 = 3 remainder 2">    </p:cNvPr>
          <p:cNvPicPr>
            <a:picLocks noChangeAspect="1"/>
          </p:cNvPicPr>
          <p:nvPr/>
        </p:nvPicPr>
        <p:blipFill>
          <a:blip r:embed="rId1"/>
          <a:stretch>
            <a:fillRect/>
          </a:stretch>
        </p:blipFill>
        <p:spPr>
          <a:xfrm>
            <a:off x="3436499" y="3925824"/>
            <a:ext cx="5318697" cy="231038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7 × 8, and 56 ÷ 7</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Use the times table. Type the two answers.</a:t>
            </a:r>
            <a:endParaRPr lang="en-US" sz="2800" dirty="0"/>
          </a:p>
        </p:txBody>
      </p:sp>
      <p:pic>
        <p:nvPicPr>
          <p:cNvPr id="5" name="Image 0" descr="7 × 8 = ?; 56 ÷ 7 = ?">    </p:cNvPr>
          <p:cNvPicPr>
            <a:picLocks noChangeAspect="1"/>
          </p:cNvPicPr>
          <p:nvPr/>
        </p:nvPicPr>
        <p:blipFill>
          <a:blip r:embed="rId1"/>
          <a:stretch>
            <a:fillRect/>
          </a:stretch>
        </p:blipFill>
        <p:spPr>
          <a:xfrm>
            <a:off x="548640" y="2526792"/>
            <a:ext cx="2165299" cy="1243584"/>
          </a:xfrm>
          <a:prstGeom prst="rect">
            <a:avLst/>
          </a:prstGeom>
        </p:spPr>
      </p:pic>
      <p:sp>
        <p:nvSpPr>
          <p:cNvPr id="6" name="card"/>
          <p:cNvSpPr/>
          <p:nvPr/>
        </p:nvSpPr>
        <p:spPr>
          <a:xfrm>
            <a:off x="7543800" y="1417320"/>
            <a:ext cx="4099255" cy="4818888"/>
          </a:xfrm>
          <a:prstGeom prst="roundRect">
            <a:avLst>
              <a:gd name="adj" fmla="val 3123"/>
            </a:avLst>
          </a:prstGeom>
          <a:solidFill>
            <a:srgbClr val="FFFFFF"/>
          </a:solidFill>
          <a:ln w="15875">
            <a:solidFill>
              <a:srgbClr val="D1D5DB"/>
            </a:solidFill>
            <a:prstDash val="solid"/>
          </a:ln>
        </p:spPr>
      </p:sp>
      <p:sp>
        <p:nvSpPr>
          <p:cNvPr id="7" name="Text 4"/>
          <p:cNvSpPr txBox="1"/>
          <p:nvPr/>
        </p:nvSpPr>
        <p:spPr>
          <a:xfrm>
            <a:off x="7543800" y="2638044"/>
            <a:ext cx="4099255" cy="1463040"/>
          </a:xfrm>
          <a:prstGeom prst="rect">
            <a:avLst/>
          </a:prstGeom>
          <a:noFill/>
          <a:ln/>
        </p:spPr>
        <p:txBody>
          <a:bodyPr wrap="square" lIns="0" tIns="0" rIns="0" bIns="0" rtlCol="0" anchor="ctr"/>
          <a:lstStyle/>
          <a:p>
            <a:pPr algn="ctr" indent="0" marL="0">
              <a:buNone/>
            </a:pPr>
            <a:r>
              <a:rPr lang="en-US" sz="9600" b="1" dirty="0">
                <a:solidFill>
                  <a:srgbClr val="D1D5DB"/>
                </a:solidFill>
              </a:rPr>
              <a:t>?</a:t>
            </a:r>
            <a:endParaRPr lang="en-US" sz="9600" dirty="0"/>
          </a:p>
        </p:txBody>
      </p:sp>
      <p:sp>
        <p:nvSpPr>
          <p:cNvPr id="8" name="Text 5"/>
          <p:cNvSpPr txBox="1"/>
          <p:nvPr/>
        </p:nvSpPr>
        <p:spPr>
          <a:xfrm>
            <a:off x="7818120" y="4283964"/>
            <a:ext cx="3550615" cy="682752"/>
          </a:xfrm>
          <a:prstGeom prst="rect">
            <a:avLst/>
          </a:prstGeom>
          <a:noFill/>
          <a:ln/>
        </p:spPr>
        <p:txBody>
          <a:bodyPr wrap="square" lIns="0" tIns="0" rIns="0" bIns="0" rtlCol="0" anchor="t"/>
          <a:lstStyle/>
          <a:p>
            <a:pPr algn="ctr" indent="0" marL="0">
              <a:buNone/>
            </a:pPr>
            <a:r>
              <a:rPr lang="en-US" sz="2000" b="1" dirty="0">
                <a:solidFill>
                  <a:srgbClr val="6B7280"/>
                </a:solidFill>
              </a:rPr>
              <a:t>Type your answer in the chat</a:t>
            </a:r>
            <a:endParaRPr lang="en-US" sz="20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7 × 8, and 56 ÷ 7</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Use the times table. Type the two answers.</a:t>
            </a:r>
            <a:endParaRPr lang="en-US" sz="2800" dirty="0"/>
          </a:p>
        </p:txBody>
      </p:sp>
      <p:pic>
        <p:nvPicPr>
          <p:cNvPr id="5" name="Image 0" descr="7 × 8 = ?; 56 ÷ 7 = ?">    </p:cNvPr>
          <p:cNvPicPr>
            <a:picLocks noChangeAspect="1"/>
          </p:cNvPicPr>
          <p:nvPr/>
        </p:nvPicPr>
        <p:blipFill>
          <a:blip r:embed="rId1"/>
          <a:stretch>
            <a:fillRect/>
          </a:stretch>
        </p:blipFill>
        <p:spPr>
          <a:xfrm>
            <a:off x="548640" y="2526792"/>
            <a:ext cx="2165299" cy="1243584"/>
          </a:xfrm>
          <a:prstGeom prst="rect">
            <a:avLst/>
          </a:prstGeom>
        </p:spPr>
      </p:pic>
      <p:sp>
        <p:nvSpPr>
          <p:cNvPr id="6" name="card"/>
          <p:cNvSpPr/>
          <p:nvPr/>
        </p:nvSpPr>
        <p:spPr>
          <a:xfrm>
            <a:off x="7543800" y="1417320"/>
            <a:ext cx="4099255" cy="4818888"/>
          </a:xfrm>
          <a:prstGeom prst="roundRect">
            <a:avLst>
              <a:gd name="adj" fmla="val 3123"/>
            </a:avLst>
          </a:prstGeom>
          <a:solidFill>
            <a:srgbClr val="E3F2E5"/>
          </a:solidFill>
          <a:ln/>
        </p:spPr>
      </p:sp>
      <p:sp>
        <p:nvSpPr>
          <p:cNvPr id="7" name="Text 4"/>
          <p:cNvSpPr txBox="1"/>
          <p:nvPr/>
        </p:nvSpPr>
        <p:spPr>
          <a:xfrm>
            <a:off x="7818120" y="1691640"/>
            <a:ext cx="3550615"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8" name="Image 1" descr="7 × 8 = 56; 56 ÷ 7 = 8">    </p:cNvPr>
          <p:cNvPicPr>
            <a:picLocks noChangeAspect="1"/>
          </p:cNvPicPr>
          <p:nvPr/>
        </p:nvPicPr>
        <p:blipFill>
          <a:blip r:embed="rId2"/>
          <a:stretch>
            <a:fillRect/>
          </a:stretch>
        </p:blipFill>
        <p:spPr>
          <a:xfrm>
            <a:off x="7818120" y="2115312"/>
            <a:ext cx="2286000" cy="1295400"/>
          </a:xfrm>
          <a:prstGeom prst="rect">
            <a:avLst/>
          </a:prstGeom>
        </p:spPr>
      </p:pic>
      <p:sp>
        <p:nvSpPr>
          <p:cNvPr id="9" name="Text 5"/>
          <p:cNvSpPr txBox="1"/>
          <p:nvPr/>
        </p:nvSpPr>
        <p:spPr>
          <a:xfrm>
            <a:off x="7818120" y="3593592"/>
            <a:ext cx="3550615" cy="1078992"/>
          </a:xfrm>
          <a:prstGeom prst="rect">
            <a:avLst/>
          </a:prstGeom>
          <a:noFill/>
          <a:ln/>
        </p:spPr>
        <p:txBody>
          <a:bodyPr wrap="square" lIns="0" tIns="0" rIns="0" bIns="0" rtlCol="0" anchor="t"/>
          <a:lstStyle/>
          <a:p>
            <a:pPr algn="l" indent="0" marL="0">
              <a:buNone/>
            </a:pPr>
            <a:r>
              <a:rPr lang="en-US" sz="2200" dirty="0">
                <a:solidFill>
                  <a:schemeClr val="tx1"/>
                </a:solidFill>
              </a:rPr>
              <a:t>Row 7, column 8 gives 56. Backwards: find 56 in row 7. It sits under the 8.</a:t>
            </a:r>
            <a:endParaRPr lang="en-US" sz="22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idea number"/>
          <p:cNvSpPr/>
          <p:nvPr/>
        </p:nvSpPr>
        <p:spPr>
          <a:xfrm>
            <a:off x="731520" y="2377440"/>
            <a:ext cx="1737360" cy="1737360"/>
          </a:xfrm>
          <a:prstGeom prst="ellipse">
            <a:avLst/>
          </a:prstGeom>
          <a:solidFill>
            <a:schemeClr val="accent2"/>
          </a:solidFill>
          <a:ln/>
        </p:spPr>
        <p:txBody>
          <a:bodyPr wrap="square" lIns="0" tIns="0" rIns="0" bIns="0" rtlCol="0" anchor="ctr"/>
          <a:lstStyle/>
          <a:p>
            <a:pPr algn="ctr" indent="0" marL="0">
              <a:buNone/>
            </a:pPr>
            <a:r>
              <a:rPr lang="en-US" sz="6600" b="1" dirty="0">
                <a:solidFill>
                  <a:schemeClr val="tx2"/>
                </a:solidFill>
              </a:rPr>
              <a:t>2</a:t>
            </a:r>
            <a:endParaRPr lang="en-US" sz="6600" dirty="0"/>
          </a:p>
        </p:txBody>
      </p:sp>
      <p:sp>
        <p:nvSpPr>
          <p:cNvPr id="3" name="Text 1"/>
          <p:cNvSpPr txBox="1"/>
          <p:nvPr/>
        </p:nvSpPr>
        <p:spPr>
          <a:xfrm>
            <a:off x="2834640" y="2011680"/>
            <a:ext cx="8229600" cy="365760"/>
          </a:xfrm>
          <a:prstGeom prst="rect">
            <a:avLst/>
          </a:prstGeom>
          <a:noFill/>
          <a:ln/>
        </p:spPr>
        <p:txBody>
          <a:bodyPr wrap="square" lIns="0" tIns="0" rIns="0" bIns="0" rtlCol="0" anchor="ctr"/>
          <a:lstStyle/>
          <a:p>
            <a:pPr indent="0" marL="0">
              <a:buNone/>
            </a:pPr>
            <a:r>
              <a:rPr lang="en-US" sz="1600" b="1" spc="200" kern="0" dirty="0">
                <a:solidFill>
                  <a:srgbClr val="B45309"/>
                </a:solidFill>
              </a:rPr>
              <a:t>PART 2 OF 7 · FROM LESSON 2   ·   about 20 minutes</a:t>
            </a:r>
            <a:endParaRPr lang="en-US" sz="1600" dirty="0"/>
          </a:p>
        </p:txBody>
      </p:sp>
      <p:sp>
        <p:nvSpPr>
          <p:cNvPr id="4" name="Text 0"/>
          <p:cNvSpPr/>
          <p:nvPr>
            <p:ph idx="100" type="title" hasCustomPrompt="1"/>
          </p:nvPr>
        </p:nvSpPr>
        <p:spPr>
          <a:xfrm>
            <a:off x="2834640" y="2514600"/>
            <a:ext cx="8778240" cy="1371600"/>
          </a:xfrm>
          <a:prstGeom prst="rect">
            <a:avLst/>
          </a:prstGeom>
          <a:noFill/>
          <a:ln/>
        </p:spPr>
        <p:txBody>
          <a:bodyPr wrap="square" lIns="0" tIns="0" rIns="0" bIns="0" rtlCol="0" anchor="t"/>
          <a:lstStyle/>
          <a:p>
            <a:pPr algn="l" indent="0" marL="0">
              <a:buNone/>
            </a:pPr>
            <a:r>
              <a:rPr lang="en-US" sz="4000" b="1" dirty="0">
                <a:solidFill>
                  <a:schemeClr val="tx1"/>
                </a:solidFill>
              </a:rPr>
              <a:t>What a fraction is, and how to simplify it</a:t>
            </a:r>
            <a:endParaRPr lang="en-US" sz="4000" dirty="0"/>
          </a:p>
        </p:txBody>
      </p:sp>
      <p:sp>
        <p:nvSpPr>
          <p:cNvPr id="5" name="Text 0"/>
          <p:cNvSpPr/>
          <p:nvPr>
            <p:ph idx="101" type="body" hasCustomPrompt="1"/>
          </p:nvPr>
        </p:nvSpPr>
        <p:spPr>
          <a:xfrm>
            <a:off x="2834640" y="3931920"/>
            <a:ext cx="8778240" cy="1280160"/>
          </a:xfrm>
          <a:prstGeom prst="rect">
            <a:avLst/>
          </a:prstGeom>
          <a:noFill/>
          <a:ln/>
        </p:spPr>
        <p:txBody>
          <a:bodyPr wrap="square" lIns="0" tIns="0" rIns="0" bIns="0" rtlCol="0" anchor="t"/>
          <a:lstStyle/>
          <a:p>
            <a:pPr algn="l" indent="0" marL="0">
              <a:buNone/>
            </a:pPr>
            <a:r>
              <a:rPr lang="en-US" sz="2400" dirty="0">
                <a:solidFill>
                  <a:srgbClr val="4B5563"/>
                </a:solidFill>
              </a:rPr>
              <a:t>The top counts the slices. The bottom says how many equal slices make one whole</a:t>
            </a:r>
            <a:endParaRPr lang="en-US" sz="24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A pizza is cut into 4 equal slices. You eat 1</a:t>
            </a:r>
            <a:endParaRPr lang="en-US" sz="3000" dirty="0"/>
          </a:p>
        </p:txBody>
      </p:sp>
      <p:sp>
        <p:nvSpPr>
          <p:cNvPr id="4" name="card"/>
          <p:cNvSpPr/>
          <p:nvPr/>
        </p:nvSpPr>
        <p:spPr>
          <a:xfrm>
            <a:off x="548640" y="1417320"/>
            <a:ext cx="5257800" cy="3384804"/>
          </a:xfrm>
          <a:prstGeom prst="roundRect">
            <a:avLst>
              <a:gd name="adj" fmla="val 3782"/>
            </a:avLst>
          </a:prstGeom>
          <a:solidFill>
            <a:srgbClr val="F1EAFB"/>
          </a:solidFill>
          <a:ln/>
        </p:spPr>
      </p:sp>
      <p:sp>
        <p:nvSpPr>
          <p:cNvPr id="5" name="Text 3"/>
          <p:cNvSpPr txBox="1"/>
          <p:nvPr/>
        </p:nvSpPr>
        <p:spPr>
          <a:xfrm>
            <a:off x="804672" y="1673352"/>
            <a:ext cx="4745736" cy="2964180"/>
          </a:xfrm>
          <a:prstGeom prst="rect">
            <a:avLst/>
          </a:prstGeom>
          <a:noFill/>
          <a:ln/>
        </p:spPr>
        <p:txBody>
          <a:bodyPr wrap="square" lIns="0" tIns="0" rIns="0" bIns="0" rtlCol="0" anchor="t"/>
          <a:lstStyle/>
          <a:p>
            <a:pPr algn="l" indent="0" marL="0">
              <a:spcAft>
                <a:spcPts val="1300"/>
              </a:spcAft>
              <a:buNone/>
            </a:pPr>
            <a:r>
              <a:rPr lang="en-US" sz="2600" dirty="0">
                <a:solidFill>
                  <a:schemeClr val="tx1"/>
                </a:solidFill>
              </a:rPr>
              <a:t>The whole pizza was cut into </a:t>
            </a:r>
            <a:pPr algn="l" indent="0" marL="0">
              <a:spcAft>
                <a:spcPts val="1300"/>
              </a:spcAft>
              <a:buNone/>
            </a:pPr>
            <a:r>
              <a:rPr lang="en-US" sz="2600" b="1" dirty="0">
                <a:solidFill>
                  <a:schemeClr val="tx1"/>
                </a:solidFill>
              </a:rPr>
              <a:t>4 equal slices</a:t>
            </a:r>
            <a:pPr algn="l" indent="0" marL="0">
              <a:spcAft>
                <a:spcPts val="1300"/>
              </a:spcAft>
              <a:buNone/>
            </a:pPr>
            <a:r>
              <a:rPr lang="en-US" sz="2600" dirty="0">
                <a:solidFill>
                  <a:schemeClr val="tx1"/>
                </a:solidFill>
              </a:rPr>
              <a:t>.</a:t>
            </a:r>
            <a:endParaRPr lang="en-US" sz="2600" dirty="0"/>
          </a:p>
          <a:p>
            <a:pPr algn="l" indent="0" marL="0">
              <a:spcAft>
                <a:spcPts val="1300"/>
              </a:spcAft>
              <a:buNone/>
            </a:pPr>
            <a:r>
              <a:rPr lang="en-US" sz="2600" b="1" dirty="0">
                <a:solidFill>
                  <a:schemeClr val="tx1"/>
                </a:solidFill>
              </a:rPr>
              <a:t>3 slices</a:t>
            </a:r>
            <a:pPr algn="l" indent="0" marL="0">
              <a:spcAft>
                <a:spcPts val="1300"/>
              </a:spcAft>
              <a:buNone/>
            </a:pPr>
            <a:r>
              <a:rPr lang="en-US" sz="2600" dirty="0">
                <a:solidFill>
                  <a:schemeClr val="tx1"/>
                </a:solidFill>
              </a:rPr>
              <a:t> are left.</a:t>
            </a:r>
            <a:endParaRPr lang="en-US" sz="2600" dirty="0"/>
          </a:p>
          <a:p>
            <a:pPr algn="l" indent="0" marL="0">
              <a:spcAft>
                <a:spcPts val="1300"/>
              </a:spcAft>
              <a:buNone/>
            </a:pPr>
            <a:r>
              <a:rPr lang="en-US" sz="2600" dirty="0">
                <a:solidFill>
                  <a:schemeClr val="tx1"/>
                </a:solidFill>
              </a:rPr>
              <a:t>We write what is left as </a:t>
            </a:r>
            <a:pPr algn="l" indent="0" marL="0">
              <a:spcAft>
                <a:spcPts val="1300"/>
              </a:spcAft>
              <a:buNone/>
            </a:pPr>
            <a:r>
              <a:rPr lang="en-US" sz="2600" b="1" dirty="0">
                <a:solidFill>
                  <a:schemeClr val="tx1"/>
                </a:solidFill>
              </a:rPr>
              <a:t>3/4</a:t>
            </a:r>
            <a:pPr algn="l" indent="0" marL="0">
              <a:spcAft>
                <a:spcPts val="1300"/>
              </a:spcAft>
              <a:buNone/>
            </a:pPr>
            <a:r>
              <a:rPr lang="en-US" sz="2600" dirty="0">
                <a:solidFill>
                  <a:schemeClr val="tx1"/>
                </a:solidFill>
              </a:rPr>
              <a:t>.</a:t>
            </a:r>
            <a:endParaRPr lang="en-US" sz="2600" dirty="0"/>
          </a:p>
          <a:p>
            <a:pPr algn="l" indent="0" marL="0">
              <a:spcAft>
                <a:spcPts val="1300"/>
              </a:spcAft>
              <a:buNone/>
            </a:pPr>
            <a:r>
              <a:rPr lang="en-US" sz="2600" dirty="0">
                <a:solidFill>
                  <a:schemeClr val="tx1"/>
                </a:solidFill>
              </a:rPr>
              <a:t>We say "three quarters", or "three out of four".</a:t>
            </a:r>
            <a:endParaRPr lang="en-US" sz="2600" dirty="0"/>
          </a:p>
        </p:txBody>
      </p:sp>
      <p:pic>
        <p:nvPicPr>
          <p:cNvPr id="6" name="Image 0" descr="fraction circles">    </p:cNvPr>
          <p:cNvPicPr>
            <a:picLocks noChangeAspect="1"/>
          </p:cNvPicPr>
          <p:nvPr/>
        </p:nvPicPr>
        <p:blipFill>
          <a:blip r:embed="rId1"/>
          <a:stretch>
            <a:fillRect/>
          </a:stretch>
        </p:blipFill>
        <p:spPr>
          <a:xfrm>
            <a:off x="7248541" y="1417320"/>
            <a:ext cx="3272454" cy="4818888"/>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nd label"/>
          <p:cNvSpPr/>
          <p:nvPr/>
        </p:nvSpPr>
        <p:spPr>
          <a:xfrm>
            <a:off x="548640" y="365760"/>
            <a:ext cx="2199504"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WORDS TO KNOW</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Each number in a fraction has its own job</a:t>
            </a:r>
            <a:endParaRPr lang="en-US" sz="3000" dirty="0"/>
          </a:p>
        </p:txBody>
      </p:sp>
      <p:sp>
        <p:nvSpPr>
          <p:cNvPr id="4" name="card"/>
          <p:cNvSpPr/>
          <p:nvPr/>
        </p:nvSpPr>
        <p:spPr>
          <a:xfrm>
            <a:off x="548640" y="1417320"/>
            <a:ext cx="11094415" cy="2290064"/>
          </a:xfrm>
          <a:prstGeom prst="roundRect">
            <a:avLst>
              <a:gd name="adj" fmla="val 5590"/>
            </a:avLst>
          </a:prstGeom>
          <a:solidFill>
            <a:srgbClr val="DDF1F2"/>
          </a:solidFill>
          <a:ln/>
        </p:spPr>
      </p:sp>
      <p:sp>
        <p:nvSpPr>
          <p:cNvPr id="5" name="Text 3"/>
          <p:cNvSpPr txBox="1"/>
          <p:nvPr/>
        </p:nvSpPr>
        <p:spPr>
          <a:xfrm>
            <a:off x="804672" y="1673352"/>
            <a:ext cx="10582351" cy="1869440"/>
          </a:xfrm>
          <a:prstGeom prst="rect">
            <a:avLst/>
          </a:prstGeom>
          <a:noFill/>
          <a:ln/>
        </p:spPr>
        <p:txBody>
          <a:bodyPr wrap="square" lIns="0" tIns="0" rIns="0" bIns="0" rtlCol="0" anchor="t"/>
          <a:lstStyle/>
          <a:p>
            <a:pPr algn="l" indent="0" marL="0">
              <a:spcAft>
                <a:spcPts val="1000"/>
              </a:spcAft>
              <a:buNone/>
            </a:pPr>
            <a:r>
              <a:rPr lang="en-US" sz="2000" dirty="0">
                <a:solidFill>
                  <a:schemeClr val="tx1"/>
                </a:solidFill>
              </a:rPr>
              <a:t>The </a:t>
            </a:r>
            <a:pPr algn="l" indent="0" marL="0">
              <a:spcAft>
                <a:spcPts val="1000"/>
              </a:spcAft>
              <a:buNone/>
            </a:pPr>
            <a:r>
              <a:rPr lang="en-US" sz="2000" b="1" dirty="0">
                <a:solidFill>
                  <a:schemeClr val="tx1"/>
                </a:solidFill>
              </a:rPr>
              <a:t>bottom</a:t>
            </a:r>
            <a:pPr algn="l" indent="0" marL="0">
              <a:spcAft>
                <a:spcPts val="1000"/>
              </a:spcAft>
              <a:buNone/>
            </a:pPr>
            <a:r>
              <a:rPr lang="en-US" sz="2000" dirty="0">
                <a:solidFill>
                  <a:schemeClr val="tx1"/>
                </a:solidFill>
              </a:rPr>
              <a:t> number says how many equal slices make one whole. Here it is 4, so the slices are quarters.</a:t>
            </a:r>
            <a:endParaRPr lang="en-US" sz="2000" dirty="0"/>
          </a:p>
          <a:p>
            <a:pPr algn="l" indent="0" marL="0">
              <a:spcAft>
                <a:spcPts val="1000"/>
              </a:spcAft>
              <a:buNone/>
            </a:pPr>
            <a:r>
              <a:rPr lang="en-US" sz="2000" dirty="0">
                <a:solidFill>
                  <a:schemeClr val="tx1"/>
                </a:solidFill>
              </a:rPr>
              <a:t>The </a:t>
            </a:r>
            <a:pPr algn="l" indent="0" marL="0">
              <a:spcAft>
                <a:spcPts val="1000"/>
              </a:spcAft>
              <a:buNone/>
            </a:pPr>
            <a:r>
              <a:rPr lang="en-US" sz="2000" b="1" dirty="0">
                <a:solidFill>
                  <a:schemeClr val="tx1"/>
                </a:solidFill>
              </a:rPr>
              <a:t>top</a:t>
            </a:r>
            <a:pPr algn="l" indent="0" marL="0">
              <a:spcAft>
                <a:spcPts val="1000"/>
              </a:spcAft>
              <a:buNone/>
            </a:pPr>
            <a:r>
              <a:rPr lang="en-US" sz="2000" dirty="0">
                <a:solidFill>
                  <a:schemeClr val="tx1"/>
                </a:solidFill>
              </a:rPr>
              <a:t> number counts how many slices you have. Here it is 3.</a:t>
            </a:r>
            <a:endParaRPr lang="en-US" sz="2000" dirty="0"/>
          </a:p>
          <a:p>
            <a:pPr algn="l" indent="0" marL="0">
              <a:spcAft>
                <a:spcPts val="1000"/>
              </a:spcAft>
              <a:buNone/>
            </a:pPr>
            <a:r>
              <a:rPr lang="en-US" sz="2000" dirty="0">
                <a:solidFill>
                  <a:schemeClr val="tx1"/>
                </a:solidFill>
              </a:rPr>
              <a:t>The module guide calls the top the </a:t>
            </a:r>
            <a:pPr algn="l" indent="0" marL="0">
              <a:spcAft>
                <a:spcPts val="1000"/>
              </a:spcAft>
              <a:buNone/>
            </a:pPr>
            <a:r>
              <a:rPr lang="en-US" sz="2000" b="1" dirty="0">
                <a:solidFill>
                  <a:schemeClr val="tx1"/>
                </a:solidFill>
              </a:rPr>
              <a:t>numerator</a:t>
            </a:r>
            <a:pPr algn="l" indent="0" marL="0">
              <a:spcAft>
                <a:spcPts val="1000"/>
              </a:spcAft>
              <a:buNone/>
            </a:pPr>
            <a:r>
              <a:rPr lang="en-US" sz="2000" dirty="0">
                <a:solidFill>
                  <a:schemeClr val="tx1"/>
                </a:solidFill>
              </a:rPr>
              <a:t> and the bottom the </a:t>
            </a:r>
            <a:pPr algn="l" indent="0" marL="0">
              <a:spcAft>
                <a:spcPts val="1000"/>
              </a:spcAft>
              <a:buNone/>
            </a:pPr>
            <a:r>
              <a:rPr lang="en-US" sz="2000" b="1" dirty="0">
                <a:solidFill>
                  <a:schemeClr val="tx1"/>
                </a:solidFill>
              </a:rPr>
              <a:t>denominator</a:t>
            </a:r>
            <a:pPr algn="l" indent="0" marL="0">
              <a:spcAft>
                <a:spcPts val="1000"/>
              </a:spcAft>
              <a:buNone/>
            </a:pPr>
            <a:r>
              <a:rPr lang="en-US" sz="2000" dirty="0">
                <a:solidFill>
                  <a:schemeClr val="tx1"/>
                </a:solidFill>
              </a:rPr>
              <a:t>. (</a:t>
            </a:r>
            <a:pPr algn="l" indent="0" marL="0">
              <a:spcAft>
                <a:spcPts val="1000"/>
              </a:spcAft>
              <a:buNone/>
            </a:pPr>
            <a:r>
              <a:rPr lang="en-US" sz="2000" b="1" dirty="0">
                <a:solidFill>
                  <a:schemeClr val="tx1"/>
                </a:solidFill>
              </a:rPr>
              <a:t>D</a:t>
            </a:r>
            <a:pPr algn="l" indent="0" marL="0">
              <a:spcAft>
                <a:spcPts val="1000"/>
              </a:spcAft>
              <a:buNone/>
            </a:pPr>
            <a:r>
              <a:rPr lang="en-US" sz="2000" dirty="0">
                <a:solidFill>
                  <a:schemeClr val="tx1"/>
                </a:solidFill>
              </a:rPr>
              <a:t>enominator: </a:t>
            </a:r>
            <a:pPr algn="l" indent="0" marL="0">
              <a:spcAft>
                <a:spcPts val="1000"/>
              </a:spcAft>
              <a:buNone/>
            </a:pPr>
            <a:r>
              <a:rPr lang="en-US" sz="2000" b="1" dirty="0">
                <a:solidFill>
                  <a:schemeClr val="tx1"/>
                </a:solidFill>
              </a:rPr>
              <a:t>D</a:t>
            </a:r>
            <a:pPr algn="l" indent="0" marL="0">
              <a:spcAft>
                <a:spcPts val="1000"/>
              </a:spcAft>
              <a:buNone/>
            </a:pPr>
            <a:r>
              <a:rPr lang="en-US" sz="2000" dirty="0">
                <a:solidFill>
                  <a:schemeClr val="tx1"/>
                </a:solidFill>
              </a:rPr>
              <a:t>own.)</a:t>
            </a:r>
            <a:endParaRPr lang="en-US" sz="2000" dirty="0"/>
          </a:p>
        </p:txBody>
      </p:sp>
      <p:pic>
        <p:nvPicPr>
          <p:cNvPr id="6" name="Image 0" descr="the fraction 3 over 4 with its parts named">    </p:cNvPr>
          <p:cNvPicPr>
            <a:picLocks noChangeAspect="1"/>
          </p:cNvPicPr>
          <p:nvPr/>
        </p:nvPicPr>
        <p:blipFill>
          <a:blip r:embed="rId1"/>
          <a:stretch>
            <a:fillRect/>
          </a:stretch>
        </p:blipFill>
        <p:spPr>
          <a:xfrm>
            <a:off x="3239828" y="3935984"/>
            <a:ext cx="5712040" cy="230022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A bigger bottom number means SMALLER slices</a:t>
            </a:r>
            <a:endParaRPr lang="en-US" sz="3000" dirty="0"/>
          </a:p>
        </p:txBody>
      </p:sp>
      <p:sp>
        <p:nvSpPr>
          <p:cNvPr id="4" name="card"/>
          <p:cNvSpPr/>
          <p:nvPr/>
        </p:nvSpPr>
        <p:spPr>
          <a:xfrm>
            <a:off x="548640" y="1417320"/>
            <a:ext cx="11094415" cy="1469644"/>
          </a:xfrm>
          <a:prstGeom prst="roundRect">
            <a:avLst>
              <a:gd name="adj" fmla="val 8711"/>
            </a:avLst>
          </a:prstGeom>
          <a:solidFill>
            <a:srgbClr val="F1EAFB"/>
          </a:solidFill>
          <a:ln/>
        </p:spPr>
      </p:sp>
      <p:sp>
        <p:nvSpPr>
          <p:cNvPr id="5" name="Text 3"/>
          <p:cNvSpPr txBox="1"/>
          <p:nvPr/>
        </p:nvSpPr>
        <p:spPr>
          <a:xfrm>
            <a:off x="804672" y="1673352"/>
            <a:ext cx="10582351" cy="1049020"/>
          </a:xfrm>
          <a:prstGeom prst="rect">
            <a:avLst/>
          </a:prstGeom>
          <a:noFill/>
          <a:ln/>
        </p:spPr>
        <p:txBody>
          <a:bodyPr wrap="square" lIns="0" tIns="0" rIns="0" bIns="0" rtlCol="0" anchor="t"/>
          <a:lstStyle/>
          <a:p>
            <a:pPr algn="l" indent="0" marL="0">
              <a:spcAft>
                <a:spcPts val="1300"/>
              </a:spcAft>
              <a:buNone/>
            </a:pPr>
            <a:r>
              <a:rPr lang="en-US" sz="2600" dirty="0">
                <a:solidFill>
                  <a:schemeClr val="tx1"/>
                </a:solidFill>
              </a:rPr>
              <a:t>Cut the same pizza into more slices, and each slice gets smaller.</a:t>
            </a:r>
            <a:endParaRPr lang="en-US" sz="2600" dirty="0"/>
          </a:p>
          <a:p>
            <a:pPr algn="l" indent="0" marL="0">
              <a:spcAft>
                <a:spcPts val="1300"/>
              </a:spcAft>
              <a:buNone/>
            </a:pPr>
            <a:r>
              <a:rPr lang="en-US" sz="2600" dirty="0">
                <a:solidFill>
                  <a:schemeClr val="tx1"/>
                </a:solidFill>
              </a:rPr>
              <a:t>So 1/8 is </a:t>
            </a:r>
            <a:pPr algn="l" indent="0" marL="0">
              <a:spcAft>
                <a:spcPts val="1300"/>
              </a:spcAft>
              <a:buNone/>
            </a:pPr>
            <a:r>
              <a:rPr lang="en-US" sz="2600" b="1" dirty="0">
                <a:solidFill>
                  <a:schemeClr val="tx1"/>
                </a:solidFill>
              </a:rPr>
              <a:t>smaller</a:t>
            </a:r>
            <a:pPr algn="l" indent="0" marL="0">
              <a:spcAft>
                <a:spcPts val="1300"/>
              </a:spcAft>
              <a:buNone/>
            </a:pPr>
            <a:r>
              <a:rPr lang="en-US" sz="2600" dirty="0">
                <a:solidFill>
                  <a:schemeClr val="tx1"/>
                </a:solidFill>
              </a:rPr>
              <a:t> than 1/4, even though 8 is bigger than 4.</a:t>
            </a:r>
            <a:endParaRPr lang="en-US" sz="2600" dirty="0"/>
          </a:p>
        </p:txBody>
      </p:sp>
      <p:pic>
        <p:nvPicPr>
          <p:cNvPr id="6" name="Image 0" descr="fraction circles">    </p:cNvPr>
          <p:cNvPicPr>
            <a:picLocks noChangeAspect="1"/>
          </p:cNvPicPr>
          <p:nvPr/>
        </p:nvPicPr>
        <p:blipFill>
          <a:blip r:embed="rId1"/>
          <a:stretch>
            <a:fillRect/>
          </a:stretch>
        </p:blipFill>
        <p:spPr>
          <a:xfrm>
            <a:off x="2894031" y="3115564"/>
            <a:ext cx="6403634" cy="312064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what fraction is orange?</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Count the slices. Type the fraction like this: top/bottom</a:t>
            </a:r>
            <a:endParaRPr lang="en-US" sz="2800" dirty="0"/>
          </a:p>
        </p:txBody>
      </p:sp>
      <p:pic>
        <p:nvPicPr>
          <p:cNvPr id="5" name="Image 0" descr="fraction circles">    </p:cNvPr>
          <p:cNvPicPr>
            <a:picLocks noChangeAspect="1"/>
          </p:cNvPicPr>
          <p:nvPr/>
        </p:nvPicPr>
        <p:blipFill>
          <a:blip r:embed="rId1"/>
          <a:stretch>
            <a:fillRect/>
          </a:stretch>
        </p:blipFill>
        <p:spPr>
          <a:xfrm>
            <a:off x="548640" y="2526792"/>
            <a:ext cx="2856411" cy="2856411"/>
          </a:xfrm>
          <a:prstGeom prst="rect">
            <a:avLst/>
          </a:prstGeom>
        </p:spPr>
      </p:pic>
      <p:sp>
        <p:nvSpPr>
          <p:cNvPr id="6" name="card"/>
          <p:cNvSpPr/>
          <p:nvPr/>
        </p:nvSpPr>
        <p:spPr>
          <a:xfrm>
            <a:off x="7543800" y="1417320"/>
            <a:ext cx="4099255" cy="4818888"/>
          </a:xfrm>
          <a:prstGeom prst="roundRect">
            <a:avLst>
              <a:gd name="adj" fmla="val 3123"/>
            </a:avLst>
          </a:prstGeom>
          <a:solidFill>
            <a:srgbClr val="FFFFFF"/>
          </a:solidFill>
          <a:ln w="15875">
            <a:solidFill>
              <a:srgbClr val="D1D5DB"/>
            </a:solidFill>
            <a:prstDash val="solid"/>
          </a:ln>
        </p:spPr>
      </p:sp>
      <p:sp>
        <p:nvSpPr>
          <p:cNvPr id="7" name="Text 4"/>
          <p:cNvSpPr txBox="1"/>
          <p:nvPr/>
        </p:nvSpPr>
        <p:spPr>
          <a:xfrm>
            <a:off x="7543800" y="2638044"/>
            <a:ext cx="4099255" cy="1463040"/>
          </a:xfrm>
          <a:prstGeom prst="rect">
            <a:avLst/>
          </a:prstGeom>
          <a:noFill/>
          <a:ln/>
        </p:spPr>
        <p:txBody>
          <a:bodyPr wrap="square" lIns="0" tIns="0" rIns="0" bIns="0" rtlCol="0" anchor="ctr"/>
          <a:lstStyle/>
          <a:p>
            <a:pPr algn="ctr" indent="0" marL="0">
              <a:buNone/>
            </a:pPr>
            <a:r>
              <a:rPr lang="en-US" sz="9600" b="1" dirty="0">
                <a:solidFill>
                  <a:srgbClr val="D1D5DB"/>
                </a:solidFill>
              </a:rPr>
              <a:t>?</a:t>
            </a:r>
            <a:endParaRPr lang="en-US" sz="9600" dirty="0"/>
          </a:p>
        </p:txBody>
      </p:sp>
      <p:sp>
        <p:nvSpPr>
          <p:cNvPr id="8" name="Text 5"/>
          <p:cNvSpPr txBox="1"/>
          <p:nvPr/>
        </p:nvSpPr>
        <p:spPr>
          <a:xfrm>
            <a:off x="7818120" y="4283964"/>
            <a:ext cx="3550615" cy="682752"/>
          </a:xfrm>
          <a:prstGeom prst="rect">
            <a:avLst/>
          </a:prstGeom>
          <a:noFill/>
          <a:ln/>
        </p:spPr>
        <p:txBody>
          <a:bodyPr wrap="square" lIns="0" tIns="0" rIns="0" bIns="0" rtlCol="0" anchor="t"/>
          <a:lstStyle/>
          <a:p>
            <a:pPr algn="ctr" indent="0" marL="0">
              <a:buNone/>
            </a:pPr>
            <a:r>
              <a:rPr lang="en-US" sz="2000" b="1" dirty="0">
                <a:solidFill>
                  <a:srgbClr val="6B7280"/>
                </a:solidFill>
              </a:rPr>
              <a:t>Type your answer in the chat</a:t>
            </a:r>
            <a:endParaRPr lang="en-US" sz="20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what fraction is orange?</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Count the slices. Type the fraction like this: top/bottom</a:t>
            </a:r>
            <a:endParaRPr lang="en-US" sz="2800" dirty="0"/>
          </a:p>
        </p:txBody>
      </p:sp>
      <p:pic>
        <p:nvPicPr>
          <p:cNvPr id="5" name="Image 0" descr="fraction circles">    </p:cNvPr>
          <p:cNvPicPr>
            <a:picLocks noChangeAspect="1"/>
          </p:cNvPicPr>
          <p:nvPr/>
        </p:nvPicPr>
        <p:blipFill>
          <a:blip r:embed="rId1"/>
          <a:stretch>
            <a:fillRect/>
          </a:stretch>
        </p:blipFill>
        <p:spPr>
          <a:xfrm>
            <a:off x="548640" y="2526792"/>
            <a:ext cx="2856411" cy="2856411"/>
          </a:xfrm>
          <a:prstGeom prst="rect">
            <a:avLst/>
          </a:prstGeom>
        </p:spPr>
      </p:pic>
      <p:sp>
        <p:nvSpPr>
          <p:cNvPr id="6" name="card"/>
          <p:cNvSpPr/>
          <p:nvPr/>
        </p:nvSpPr>
        <p:spPr>
          <a:xfrm>
            <a:off x="7543800" y="1417320"/>
            <a:ext cx="4099255" cy="4818888"/>
          </a:xfrm>
          <a:prstGeom prst="roundRect">
            <a:avLst>
              <a:gd name="adj" fmla="val 3123"/>
            </a:avLst>
          </a:prstGeom>
          <a:solidFill>
            <a:srgbClr val="E3F2E5"/>
          </a:solidFill>
          <a:ln/>
        </p:spPr>
      </p:sp>
      <p:sp>
        <p:nvSpPr>
          <p:cNvPr id="7" name="Text 4"/>
          <p:cNvSpPr txBox="1"/>
          <p:nvPr/>
        </p:nvSpPr>
        <p:spPr>
          <a:xfrm>
            <a:off x="7818120" y="1691640"/>
            <a:ext cx="3550615"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8" name="Image 1" descr="5/8">    </p:cNvPr>
          <p:cNvPicPr>
            <a:picLocks noChangeAspect="1"/>
          </p:cNvPicPr>
          <p:nvPr/>
        </p:nvPicPr>
        <p:blipFill>
          <a:blip r:embed="rId2"/>
          <a:stretch>
            <a:fillRect/>
          </a:stretch>
        </p:blipFill>
        <p:spPr>
          <a:xfrm>
            <a:off x="7818120" y="2115312"/>
            <a:ext cx="533400" cy="1173480"/>
          </a:xfrm>
          <a:prstGeom prst="rect">
            <a:avLst/>
          </a:prstGeom>
        </p:spPr>
      </p:pic>
      <p:sp>
        <p:nvSpPr>
          <p:cNvPr id="9" name="Text 5"/>
          <p:cNvSpPr txBox="1"/>
          <p:nvPr/>
        </p:nvSpPr>
        <p:spPr>
          <a:xfrm>
            <a:off x="7818120" y="3471672"/>
            <a:ext cx="3550615" cy="1414272"/>
          </a:xfrm>
          <a:prstGeom prst="rect">
            <a:avLst/>
          </a:prstGeom>
          <a:noFill/>
          <a:ln/>
        </p:spPr>
        <p:txBody>
          <a:bodyPr wrap="square" lIns="0" tIns="0" rIns="0" bIns="0" rtlCol="0" anchor="t"/>
          <a:lstStyle/>
          <a:p>
            <a:pPr algn="l" indent="0" marL="0">
              <a:buNone/>
            </a:pPr>
            <a:r>
              <a:rPr lang="en-US" sz="2200" dirty="0">
                <a:solidFill>
                  <a:schemeClr val="tx1"/>
                </a:solidFill>
              </a:rPr>
              <a:t>The pizza has 8 equal slices: that is the bottom. 5 of them are orange: that is the top.</a:t>
            </a:r>
            <a:endParaRPr lang="en-US" sz="22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Half a pizza is half a pizza, however you cut it</a:t>
            </a:r>
            <a:endParaRPr lang="en-US" sz="3000" dirty="0"/>
          </a:p>
        </p:txBody>
      </p:sp>
      <p:sp>
        <p:nvSpPr>
          <p:cNvPr id="4" name="card"/>
          <p:cNvSpPr/>
          <p:nvPr/>
        </p:nvSpPr>
        <p:spPr>
          <a:xfrm>
            <a:off x="548640" y="1417320"/>
            <a:ext cx="11094415" cy="2030984"/>
          </a:xfrm>
          <a:prstGeom prst="roundRect">
            <a:avLst>
              <a:gd name="adj" fmla="val 6303"/>
            </a:avLst>
          </a:prstGeom>
          <a:solidFill>
            <a:srgbClr val="F1EAFB"/>
          </a:solidFill>
          <a:ln/>
        </p:spPr>
      </p:sp>
      <p:sp>
        <p:nvSpPr>
          <p:cNvPr id="5" name="Text 3"/>
          <p:cNvSpPr txBox="1"/>
          <p:nvPr/>
        </p:nvSpPr>
        <p:spPr>
          <a:xfrm>
            <a:off x="804672" y="1673352"/>
            <a:ext cx="10582351" cy="1610360"/>
          </a:xfrm>
          <a:prstGeom prst="rect">
            <a:avLst/>
          </a:prstGeom>
          <a:noFill/>
          <a:ln/>
        </p:spPr>
        <p:txBody>
          <a:bodyPr wrap="square" lIns="0" tIns="0" rIns="0" bIns="0" rtlCol="0" anchor="t"/>
          <a:lstStyle/>
          <a:p>
            <a:pPr algn="l" indent="0" marL="0">
              <a:spcAft>
                <a:spcPts val="1300"/>
              </a:spcAft>
              <a:buNone/>
            </a:pPr>
            <a:r>
              <a:rPr lang="en-US" sz="2600" dirty="0">
                <a:solidFill>
                  <a:schemeClr val="tx1"/>
                </a:solidFill>
              </a:rPr>
              <a:t>All three pizzas have the </a:t>
            </a:r>
            <a:pPr algn="l" indent="0" marL="0">
              <a:spcAft>
                <a:spcPts val="1300"/>
              </a:spcAft>
              <a:buNone/>
            </a:pPr>
            <a:r>
              <a:rPr lang="en-US" sz="2600" b="1" dirty="0">
                <a:solidFill>
                  <a:schemeClr val="tx1"/>
                </a:solidFill>
              </a:rPr>
              <a:t>same amount</a:t>
            </a:r>
            <a:pPr algn="l" indent="0" marL="0">
              <a:spcAft>
                <a:spcPts val="1300"/>
              </a:spcAft>
              <a:buNone/>
            </a:pPr>
            <a:r>
              <a:rPr lang="en-US" sz="2600" dirty="0">
                <a:solidFill>
                  <a:schemeClr val="tx1"/>
                </a:solidFill>
              </a:rPr>
              <a:t> coloured.</a:t>
            </a:r>
            <a:endParaRPr lang="en-US" sz="2600" dirty="0"/>
          </a:p>
          <a:p>
            <a:pPr algn="l" indent="0" marL="0">
              <a:spcAft>
                <a:spcPts val="1300"/>
              </a:spcAft>
              <a:buNone/>
            </a:pPr>
            <a:r>
              <a:rPr lang="en-US" sz="2600" dirty="0">
                <a:solidFill>
                  <a:schemeClr val="tx1"/>
                </a:solidFill>
              </a:rPr>
              <a:t>Only the number of cuts is different.</a:t>
            </a:r>
            <a:endParaRPr lang="en-US" sz="2600" dirty="0"/>
          </a:p>
          <a:p>
            <a:pPr algn="l" indent="0" marL="0">
              <a:spcAft>
                <a:spcPts val="1300"/>
              </a:spcAft>
              <a:buNone/>
            </a:pPr>
            <a:r>
              <a:rPr lang="en-US" sz="2600" dirty="0">
                <a:solidFill>
                  <a:schemeClr val="tx1"/>
                </a:solidFill>
              </a:rPr>
              <a:t>So 1/2, 2/4 and 4/8 are the same amount.</a:t>
            </a:r>
            <a:endParaRPr lang="en-US" sz="2600" dirty="0"/>
          </a:p>
        </p:txBody>
      </p:sp>
      <p:pic>
        <p:nvPicPr>
          <p:cNvPr id="6" name="Image 0" descr="fraction circles">    </p:cNvPr>
          <p:cNvPicPr>
            <a:picLocks noChangeAspect="1"/>
          </p:cNvPicPr>
          <p:nvPr/>
        </p:nvPicPr>
        <p:blipFill>
          <a:blip r:embed="rId1"/>
          <a:stretch>
            <a:fillRect/>
          </a:stretch>
        </p:blipFill>
        <p:spPr>
          <a:xfrm>
            <a:off x="3003355" y="3676904"/>
            <a:ext cx="6184985" cy="255930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nd label"/>
          <p:cNvSpPr/>
          <p:nvPr/>
        </p:nvSpPr>
        <p:spPr>
          <a:xfrm>
            <a:off x="548640" y="365760"/>
            <a:ext cx="1426453"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THE RULE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The golden rule of fractions</a:t>
            </a:r>
            <a:endParaRPr lang="en-US" sz="3000" dirty="0"/>
          </a:p>
        </p:txBody>
      </p:sp>
      <p:sp>
        <p:nvSpPr>
          <p:cNvPr id="4" name="card"/>
          <p:cNvSpPr/>
          <p:nvPr/>
        </p:nvSpPr>
        <p:spPr>
          <a:xfrm>
            <a:off x="548640" y="1417320"/>
            <a:ext cx="5257800" cy="4012184"/>
          </a:xfrm>
          <a:prstGeom prst="roundRect">
            <a:avLst>
              <a:gd name="adj" fmla="val 3191"/>
            </a:avLst>
          </a:prstGeom>
          <a:solidFill>
            <a:srgbClr val="E3ECF8"/>
          </a:solidFill>
          <a:ln/>
        </p:spPr>
      </p:sp>
      <p:sp>
        <p:nvSpPr>
          <p:cNvPr id="5" name="Text 3"/>
          <p:cNvSpPr txBox="1"/>
          <p:nvPr/>
        </p:nvSpPr>
        <p:spPr>
          <a:xfrm>
            <a:off x="804672" y="1673352"/>
            <a:ext cx="4745736" cy="3591560"/>
          </a:xfrm>
          <a:prstGeom prst="rect">
            <a:avLst/>
          </a:prstGeom>
          <a:noFill/>
          <a:ln/>
        </p:spPr>
        <p:txBody>
          <a:bodyPr wrap="square" lIns="0" tIns="0" rIns="0" bIns="0" rtlCol="0" anchor="t"/>
          <a:lstStyle/>
          <a:p>
            <a:pPr algn="l" indent="0" marL="0">
              <a:spcAft>
                <a:spcPts val="1300"/>
              </a:spcAft>
              <a:buNone/>
            </a:pPr>
            <a:r>
              <a:rPr lang="en-US" sz="2600" dirty="0">
                <a:solidFill>
                  <a:schemeClr val="tx1"/>
                </a:solidFill>
              </a:rPr>
              <a:t>You may </a:t>
            </a:r>
            <a:pPr algn="l" indent="0" marL="0">
              <a:spcAft>
                <a:spcPts val="1300"/>
              </a:spcAft>
              <a:buNone/>
            </a:pPr>
            <a:r>
              <a:rPr lang="en-US" sz="2600" b="1" dirty="0">
                <a:solidFill>
                  <a:schemeClr val="tx1"/>
                </a:solidFill>
              </a:rPr>
              <a:t>multiply</a:t>
            </a:r>
            <a:pPr algn="l" indent="0" marL="0">
              <a:spcAft>
                <a:spcPts val="1300"/>
              </a:spcAft>
              <a:buNone/>
            </a:pPr>
            <a:r>
              <a:rPr lang="en-US" sz="2600" dirty="0">
                <a:solidFill>
                  <a:schemeClr val="tx1"/>
                </a:solidFill>
              </a:rPr>
              <a:t> the top and the bottom by the </a:t>
            </a:r>
            <a:pPr algn="l" indent="0" marL="0">
              <a:spcAft>
                <a:spcPts val="1300"/>
              </a:spcAft>
              <a:buNone/>
            </a:pPr>
            <a:r>
              <a:rPr lang="en-US" sz="2600" b="1" dirty="0">
                <a:solidFill>
                  <a:schemeClr val="tx1"/>
                </a:solidFill>
              </a:rPr>
              <a:t>same</a:t>
            </a:r>
            <a:pPr algn="l" indent="0" marL="0">
              <a:spcAft>
                <a:spcPts val="1300"/>
              </a:spcAft>
              <a:buNone/>
            </a:pPr>
            <a:r>
              <a:rPr lang="en-US" sz="2600" dirty="0">
                <a:solidFill>
                  <a:schemeClr val="tx1"/>
                </a:solidFill>
              </a:rPr>
              <a:t> number.</a:t>
            </a:r>
            <a:endParaRPr lang="en-US" sz="2600" dirty="0"/>
          </a:p>
          <a:p>
            <a:pPr algn="l" indent="0" marL="0">
              <a:spcAft>
                <a:spcPts val="1300"/>
              </a:spcAft>
              <a:buNone/>
            </a:pPr>
            <a:r>
              <a:rPr lang="en-US" sz="2600" dirty="0">
                <a:solidFill>
                  <a:schemeClr val="tx1"/>
                </a:solidFill>
              </a:rPr>
              <a:t>You may </a:t>
            </a:r>
            <a:pPr algn="l" indent="0" marL="0">
              <a:spcAft>
                <a:spcPts val="1300"/>
              </a:spcAft>
              <a:buNone/>
            </a:pPr>
            <a:r>
              <a:rPr lang="en-US" sz="2600" b="1" dirty="0">
                <a:solidFill>
                  <a:schemeClr val="tx1"/>
                </a:solidFill>
              </a:rPr>
              <a:t>divide</a:t>
            </a:r>
            <a:pPr algn="l" indent="0" marL="0">
              <a:spcAft>
                <a:spcPts val="1300"/>
              </a:spcAft>
              <a:buNone/>
            </a:pPr>
            <a:r>
              <a:rPr lang="en-US" sz="2600" dirty="0">
                <a:solidFill>
                  <a:schemeClr val="tx1"/>
                </a:solidFill>
              </a:rPr>
              <a:t> the top and the bottom by the </a:t>
            </a:r>
            <a:pPr algn="l" indent="0" marL="0">
              <a:spcAft>
                <a:spcPts val="1300"/>
              </a:spcAft>
              <a:buNone/>
            </a:pPr>
            <a:r>
              <a:rPr lang="en-US" sz="2600" b="1" dirty="0">
                <a:solidFill>
                  <a:schemeClr val="tx1"/>
                </a:solidFill>
              </a:rPr>
              <a:t>same</a:t>
            </a:r>
            <a:pPr algn="l" indent="0" marL="0">
              <a:spcAft>
                <a:spcPts val="1300"/>
              </a:spcAft>
              <a:buNone/>
            </a:pPr>
            <a:r>
              <a:rPr lang="en-US" sz="2600" dirty="0">
                <a:solidFill>
                  <a:schemeClr val="tx1"/>
                </a:solidFill>
              </a:rPr>
              <a:t> number.</a:t>
            </a:r>
            <a:endParaRPr lang="en-US" sz="2600" dirty="0"/>
          </a:p>
          <a:p>
            <a:pPr algn="l" indent="0" marL="0">
              <a:spcAft>
                <a:spcPts val="1300"/>
              </a:spcAft>
              <a:buNone/>
            </a:pPr>
            <a:r>
              <a:rPr lang="en-US" sz="2600" dirty="0">
                <a:solidFill>
                  <a:schemeClr val="tx1"/>
                </a:solidFill>
              </a:rPr>
              <a:t>The amount does not change. Only the numbers do.</a:t>
            </a:r>
            <a:endParaRPr lang="en-US" sz="2600" dirty="0"/>
          </a:p>
        </p:txBody>
      </p:sp>
      <p:pic>
        <p:nvPicPr>
          <p:cNvPr id="6" name="Image 0" descr="the same fraction written with different numbers">    </p:cNvPr>
          <p:cNvPicPr>
            <a:picLocks noChangeAspect="1"/>
          </p:cNvPicPr>
          <p:nvPr/>
        </p:nvPicPr>
        <p:blipFill>
          <a:blip r:embed="rId1"/>
          <a:stretch>
            <a:fillRect/>
          </a:stretch>
        </p:blipFill>
        <p:spPr>
          <a:xfrm>
            <a:off x="7058406" y="2427122"/>
            <a:ext cx="3652723" cy="2799283"/>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nd label"/>
          <p:cNvSpPr/>
          <p:nvPr/>
        </p:nvSpPr>
        <p:spPr>
          <a:xfrm>
            <a:off x="548640" y="365760"/>
            <a:ext cx="2199504"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WORDS TO KNOW</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Simplifying: the same amount with smaller numbers</a:t>
            </a:r>
            <a:endParaRPr lang="en-US" sz="3000" dirty="0"/>
          </a:p>
        </p:txBody>
      </p:sp>
      <p:sp>
        <p:nvSpPr>
          <p:cNvPr id="4" name="card"/>
          <p:cNvSpPr/>
          <p:nvPr/>
        </p:nvSpPr>
        <p:spPr>
          <a:xfrm>
            <a:off x="548640" y="1417320"/>
            <a:ext cx="5257800" cy="4619244"/>
          </a:xfrm>
          <a:prstGeom prst="roundRect">
            <a:avLst>
              <a:gd name="adj" fmla="val 2771"/>
            </a:avLst>
          </a:prstGeom>
          <a:solidFill>
            <a:srgbClr val="DDF1F2"/>
          </a:solidFill>
          <a:ln/>
        </p:spPr>
      </p:sp>
      <p:sp>
        <p:nvSpPr>
          <p:cNvPr id="5" name="Text 3"/>
          <p:cNvSpPr txBox="1"/>
          <p:nvPr/>
        </p:nvSpPr>
        <p:spPr>
          <a:xfrm>
            <a:off x="804672" y="1673352"/>
            <a:ext cx="4745736" cy="4198620"/>
          </a:xfrm>
          <a:prstGeom prst="rect">
            <a:avLst/>
          </a:prstGeom>
          <a:noFill/>
          <a:ln/>
        </p:spPr>
        <p:txBody>
          <a:bodyPr wrap="square" lIns="0" tIns="0" rIns="0" bIns="0" rtlCol="0" anchor="t"/>
          <a:lstStyle/>
          <a:p>
            <a:pPr algn="l" indent="0" marL="0">
              <a:spcAft>
                <a:spcPts val="1100"/>
              </a:spcAft>
              <a:buNone/>
            </a:pPr>
            <a:r>
              <a:rPr lang="en-US" sz="2200" dirty="0">
                <a:solidFill>
                  <a:schemeClr val="tx1"/>
                </a:solidFill>
              </a:rPr>
              <a:t>To </a:t>
            </a:r>
            <a:pPr algn="l" indent="0" marL="0">
              <a:spcAft>
                <a:spcPts val="1100"/>
              </a:spcAft>
              <a:buNone/>
            </a:pPr>
            <a:r>
              <a:rPr lang="en-US" sz="2200" b="1" dirty="0">
                <a:solidFill>
                  <a:schemeClr val="tx1"/>
                </a:solidFill>
              </a:rPr>
              <a:t>simplify</a:t>
            </a:r>
            <a:pPr algn="l" indent="0" marL="0">
              <a:spcAft>
                <a:spcPts val="1100"/>
              </a:spcAft>
              <a:buNone/>
            </a:pPr>
            <a:r>
              <a:rPr lang="en-US" sz="2200" dirty="0">
                <a:solidFill>
                  <a:schemeClr val="tx1"/>
                </a:solidFill>
              </a:rPr>
              <a:t>, divide the top and the bottom by a number that goes into </a:t>
            </a:r>
            <a:pPr algn="l" indent="0" marL="0">
              <a:spcAft>
                <a:spcPts val="1100"/>
              </a:spcAft>
              <a:buNone/>
            </a:pPr>
            <a:r>
              <a:rPr lang="en-US" sz="2200" b="1" dirty="0">
                <a:solidFill>
                  <a:schemeClr val="tx1"/>
                </a:solidFill>
              </a:rPr>
              <a:t>both</a:t>
            </a:r>
            <a:pPr algn="l" indent="0" marL="0">
              <a:spcAft>
                <a:spcPts val="1100"/>
              </a:spcAft>
              <a:buNone/>
            </a:pPr>
            <a:r>
              <a:rPr lang="en-US" sz="2200" dirty="0">
                <a:solidFill>
                  <a:schemeClr val="tx1"/>
                </a:solidFill>
              </a:rPr>
              <a:t>.</a:t>
            </a:r>
            <a:endParaRPr lang="en-US" sz="2200" dirty="0"/>
          </a:p>
          <a:p>
            <a:pPr algn="l" indent="0" marL="0">
              <a:spcAft>
                <a:spcPts val="1100"/>
              </a:spcAft>
              <a:buNone/>
            </a:pPr>
            <a:r>
              <a:rPr lang="en-US" sz="2200" dirty="0">
                <a:solidFill>
                  <a:schemeClr val="tx1"/>
                </a:solidFill>
              </a:rPr>
              <a:t>"Goes into" means it divides exactly, with nothing left over.</a:t>
            </a:r>
            <a:endParaRPr lang="en-US" sz="2200" dirty="0"/>
          </a:p>
          <a:p>
            <a:pPr algn="l" indent="0" marL="0">
              <a:spcAft>
                <a:spcPts val="1100"/>
              </a:spcAft>
              <a:buNone/>
            </a:pPr>
            <a:r>
              <a:rPr lang="en-US" sz="2200" dirty="0">
                <a:solidFill>
                  <a:schemeClr val="tx1"/>
                </a:solidFill>
              </a:rPr>
              <a:t>Keep going until </a:t>
            </a:r>
            <a:pPr algn="l" indent="0" marL="0">
              <a:spcAft>
                <a:spcPts val="1100"/>
              </a:spcAft>
              <a:buNone/>
            </a:pPr>
            <a:r>
              <a:rPr lang="en-US" sz="2200" b="1" dirty="0">
                <a:solidFill>
                  <a:schemeClr val="tx1"/>
                </a:solidFill>
              </a:rPr>
              <a:t>1 is the only number that goes into both</a:t>
            </a:r>
            <a:pPr algn="l" indent="0" marL="0">
              <a:spcAft>
                <a:spcPts val="1100"/>
              </a:spcAft>
              <a:buNone/>
            </a:pPr>
            <a:r>
              <a:rPr lang="en-US" sz="2200" dirty="0">
                <a:solidFill>
                  <a:schemeClr val="tx1"/>
                </a:solidFill>
              </a:rPr>
              <a:t>. Then the fraction is finished.</a:t>
            </a:r>
            <a:endParaRPr lang="en-US" sz="2200" dirty="0"/>
          </a:p>
          <a:p>
            <a:pPr algn="l" indent="0" marL="0">
              <a:spcAft>
                <a:spcPts val="1100"/>
              </a:spcAft>
              <a:buNone/>
            </a:pPr>
            <a:r>
              <a:rPr lang="en-US" sz="2200" dirty="0">
                <a:solidFill>
                  <a:schemeClr val="tx1"/>
                </a:solidFill>
              </a:rPr>
              <a:t>The exam says "reduced to the lowest term". It means the same thing.</a:t>
            </a:r>
            <a:endParaRPr lang="en-US" sz="2200" dirty="0"/>
          </a:p>
        </p:txBody>
      </p:sp>
      <p:pic>
        <p:nvPicPr>
          <p:cNvPr id="6" name="Image 0" descr="the same fraction written with different numbers">    </p:cNvPr>
          <p:cNvPicPr>
            <a:picLocks noChangeAspect="1"/>
          </p:cNvPicPr>
          <p:nvPr/>
        </p:nvPicPr>
        <p:blipFill>
          <a:blip r:embed="rId1"/>
          <a:stretch>
            <a:fillRect/>
          </a:stretch>
        </p:blipFill>
        <p:spPr>
          <a:xfrm>
            <a:off x="7058406" y="2427122"/>
            <a:ext cx="3652723" cy="2799283"/>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nd label"/>
          <p:cNvSpPr/>
          <p:nvPr/>
        </p:nvSpPr>
        <p:spPr>
          <a:xfrm>
            <a:off x="548640" y="365760"/>
            <a:ext cx="118872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TOOL</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Quick tests: does it go in exactly?</a:t>
            </a:r>
            <a:endParaRPr lang="en-US" sz="30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849069"/>
                <a:gridCol w="5547208"/>
                <a:gridCol w="3698138"/>
              </a:tblGrid>
              <a:tr h="691896">
                <a:tc>
                  <a:txBody>
                    <a:bodyPr/>
                    <a:lstStyle/>
                    <a:p>
                      <a:pPr indent="0" marL="0">
                        <a:buNone/>
                      </a:pPr>
                      <a:r>
                        <a:rPr lang="en-US" sz="2400" b="1" dirty="0">
                          <a:solidFill>
                            <a:schemeClr val="bg1"/>
                          </a:solidFill>
                        </a:rPr>
                        <a:t>Goes in?</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accent1"/>
                    </a:solidFill>
                  </a:tcPr>
                </a:tc>
                <a:tc>
                  <a:txBody>
                    <a:bodyPr/>
                    <a:lstStyle/>
                    <a:p>
                      <a:pPr indent="0" marL="0">
                        <a:buNone/>
                      </a:pPr>
                      <a:r>
                        <a:rPr lang="en-US" sz="2400" b="1" dirty="0">
                          <a:solidFill>
                            <a:schemeClr val="bg1"/>
                          </a:solidFill>
                        </a:rPr>
                        <a:t>The test</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accent1"/>
                    </a:solidFill>
                  </a:tcPr>
                </a:tc>
                <a:tc>
                  <a:txBody>
                    <a:bodyPr/>
                    <a:lstStyle/>
                    <a:p>
                      <a:pPr indent="0" marL="0">
                        <a:buNone/>
                      </a:pPr>
                      <a:r>
                        <a:rPr lang="en-US" sz="2400" b="1" dirty="0">
                          <a:solidFill>
                            <a:schemeClr val="bg1"/>
                          </a:solidFill>
                        </a:rPr>
                        <a:t>Example</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accent1"/>
                    </a:solidFill>
                  </a:tcPr>
                </a:tc>
              </a:tr>
              <a:tr h="691896">
                <a:tc>
                  <a:txBody>
                    <a:bodyPr/>
                    <a:lstStyle/>
                    <a:p>
                      <a:pPr indent="0" marL="0">
                        <a:buNone/>
                      </a:pPr>
                      <a:r>
                        <a:rPr lang="en-US" sz="2400" dirty="0">
                          <a:solidFill>
                            <a:schemeClr val="tx1"/>
                          </a:solidFill>
                        </a:rPr>
                        <a:t>2</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dirty="0">
                          <a:solidFill>
                            <a:schemeClr val="tx1"/>
                          </a:solidFill>
                        </a:rPr>
                        <a:t>The last digit is even: 0, 2, 4, 6 or 8.</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b="1" dirty="0">
                          <a:solidFill>
                            <a:schemeClr val="tx1"/>
                          </a:solidFill>
                        </a:rPr>
                        <a:t>36</a:t>
                      </a:r>
                      <a:pPr indent="0" marL="0">
                        <a:buNone/>
                      </a:pPr>
                      <a:r>
                        <a:rPr lang="en-US" sz="2400" dirty="0">
                          <a:solidFill>
                            <a:schemeClr val="tx1"/>
                          </a:solidFill>
                        </a:rPr>
                        <a:t> ends in 6 ✓</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r>
              <a:tr h="691896">
                <a:tc>
                  <a:txBody>
                    <a:bodyPr/>
                    <a:lstStyle/>
                    <a:p>
                      <a:pPr indent="0" marL="0">
                        <a:buNone/>
                      </a:pPr>
                      <a:r>
                        <a:rPr lang="en-US" sz="2400" dirty="0">
                          <a:solidFill>
                            <a:schemeClr val="tx1"/>
                          </a:solidFill>
                        </a:rPr>
                        <a:t>3</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dirty="0">
                          <a:solidFill>
                            <a:schemeClr val="tx1"/>
                          </a:solidFill>
                        </a:rPr>
                        <a:t>Add the digits. The total is in the 3 times table.</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b="1" dirty="0">
                          <a:solidFill>
                            <a:schemeClr val="tx1"/>
                          </a:solidFill>
                        </a:rPr>
                        <a:t>45</a:t>
                      </a:r>
                      <a:pPr indent="0" marL="0">
                        <a:buNone/>
                      </a:pPr>
                      <a:r>
                        <a:rPr lang="en-US" sz="2400" dirty="0">
                          <a:solidFill>
                            <a:schemeClr val="tx1"/>
                          </a:solidFill>
                        </a:rPr>
                        <a:t>: 4 + 5 = 9 ✓</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r>
              <a:tr h="691896">
                <a:tc>
                  <a:txBody>
                    <a:bodyPr/>
                    <a:lstStyle/>
                    <a:p>
                      <a:pPr indent="0" marL="0">
                        <a:buNone/>
                      </a:pPr>
                      <a:r>
                        <a:rPr lang="en-US" sz="2400" dirty="0">
                          <a:solidFill>
                            <a:schemeClr val="tx1"/>
                          </a:solidFill>
                        </a:rPr>
                        <a:t>5</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dirty="0">
                          <a:solidFill>
                            <a:schemeClr val="tx1"/>
                          </a:solidFill>
                        </a:rPr>
                        <a:t>The last digit is 0 or 5.</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b="1" dirty="0">
                          <a:solidFill>
                            <a:schemeClr val="tx1"/>
                          </a:solidFill>
                        </a:rPr>
                        <a:t>45</a:t>
                      </a:r>
                      <a:pPr indent="0" marL="0">
                        <a:buNone/>
                      </a:pPr>
                      <a:r>
                        <a:rPr lang="en-US" sz="2400" dirty="0">
                          <a:solidFill>
                            <a:schemeClr val="tx1"/>
                          </a:solidFill>
                        </a:rPr>
                        <a:t> and </a:t>
                      </a:r>
                      <a:pPr indent="0" marL="0">
                        <a:buNone/>
                      </a:pPr>
                      <a:r>
                        <a:rPr lang="en-US" sz="2400" b="1" dirty="0">
                          <a:solidFill>
                            <a:schemeClr val="tx1"/>
                          </a:solidFill>
                        </a:rPr>
                        <a:t>60</a:t>
                      </a:r>
                      <a:pPr indent="0" marL="0">
                        <a:buNone/>
                      </a:pPr>
                      <a:r>
                        <a:rPr lang="en-US" sz="2400" dirty="0">
                          <a:solidFill>
                            <a:schemeClr val="tx1"/>
                          </a:solidFill>
                        </a:rPr>
                        <a:t> ✓</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r>
              <a:tr h="691896">
                <a:tc>
                  <a:txBody>
                    <a:bodyPr/>
                    <a:lstStyle/>
                    <a:p>
                      <a:pPr indent="0" marL="0">
                        <a:buNone/>
                      </a:pPr>
                      <a:r>
                        <a:rPr lang="en-US" sz="2400" dirty="0">
                          <a:solidFill>
                            <a:schemeClr val="tx1"/>
                          </a:solidFill>
                        </a:rPr>
                        <a:t>10</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dirty="0">
                          <a:solidFill>
                            <a:schemeClr val="tx1"/>
                          </a:solidFill>
                        </a:rPr>
                        <a:t>The last digit is 0.</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c>
                  <a:txBody>
                    <a:bodyPr/>
                    <a:lstStyle/>
                    <a:p>
                      <a:pPr indent="0" marL="0">
                        <a:buNone/>
                      </a:pPr>
                      <a:r>
                        <a:rPr lang="en-US" sz="2400" b="1" dirty="0">
                          <a:solidFill>
                            <a:schemeClr val="tx1"/>
                          </a:solidFill>
                        </a:rPr>
                        <a:t>60</a:t>
                      </a:r>
                      <a:pPr indent="0" marL="0">
                        <a:buNone/>
                      </a:pPr>
                      <a:r>
                        <a:rPr lang="en-US" sz="2400" dirty="0">
                          <a:solidFill>
                            <a:schemeClr val="tx1"/>
                          </a:solidFill>
                        </a:rPr>
                        <a:t> ✓</a:t>
                      </a:r>
                      <a:endParaRPr lang="en-US" sz="2400" dirty="0"/>
                    </a:p>
                  </a:txBody>
                  <a:tcPr marL="146304" marR="146304" marT="91440" marB="9144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1: simplify in small steps</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299860" cy="938784"/>
          </a:xfrm>
          <a:prstGeom prst="rect">
            <a:avLst/>
          </a:prstGeom>
          <a:noFill/>
          <a:ln/>
        </p:spPr>
        <p:txBody>
          <a:bodyPr wrap="square" lIns="0" tIns="0" rIns="0" bIns="0" rtlCol="0" anchor="ctr"/>
          <a:lstStyle/>
          <a:p>
            <a:pPr algn="l" indent="0" marL="0">
              <a:buNone/>
            </a:pPr>
            <a:r>
              <a:rPr lang="en-US" sz="2200" b="1" dirty="0">
                <a:solidFill>
                  <a:schemeClr val="tx1"/>
                </a:solidFill>
              </a:rPr>
              <a:t>Simplify:</a:t>
            </a:r>
            <a:endParaRPr lang="en-US" sz="2200" dirty="0"/>
          </a:p>
        </p:txBody>
      </p:sp>
      <p:pic>
        <p:nvPicPr>
          <p:cNvPr id="6" name="Image 0" descr="18/30">    </p:cNvPr>
          <p:cNvPicPr>
            <a:picLocks noChangeAspect="1"/>
          </p:cNvPicPr>
          <p:nvPr/>
        </p:nvPicPr>
        <p:blipFill>
          <a:blip r:embed="rId1"/>
          <a:stretch>
            <a:fillRect/>
          </a:stretch>
        </p:blipFill>
        <p:spPr>
          <a:xfrm>
            <a:off x="2214260" y="1600200"/>
            <a:ext cx="640080"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1 OF 3</a:t>
            </a:r>
            <a:endParaRPr lang="en-US" sz="1400" dirty="0"/>
          </a:p>
        </p:txBody>
      </p:sp>
      <p:sp>
        <p:nvSpPr>
          <p:cNvPr id="9" name="Text 6"/>
          <p:cNvSpPr txBox="1"/>
          <p:nvPr/>
        </p:nvSpPr>
        <p:spPr>
          <a:xfrm>
            <a:off x="548640" y="3681984"/>
            <a:ext cx="4754880" cy="2054352"/>
          </a:xfrm>
          <a:prstGeom prst="rect">
            <a:avLst/>
          </a:prstGeom>
          <a:noFill/>
          <a:ln/>
        </p:spPr>
        <p:txBody>
          <a:bodyPr wrap="square" lIns="0" tIns="0" rIns="0" bIns="0" rtlCol="0" anchor="t"/>
          <a:lstStyle/>
          <a:p>
            <a:pPr algn="l" indent="0" marL="0">
              <a:buNone/>
            </a:pPr>
            <a:r>
              <a:rPr lang="en-US" sz="2600" b="1" dirty="0">
                <a:solidFill>
                  <a:schemeClr val="tx1"/>
                </a:solidFill>
              </a:rPr>
              <a:t>Find a number that goes into BOTH 18 and 30. Both are even, so 2 goes into both. Divide the top and the bottom by 2.</a:t>
            </a:r>
            <a:endParaRPr lang="en-US" sz="2600" dirty="0"/>
          </a:p>
        </p:txBody>
      </p:sp>
      <p:sp>
        <p:nvSpPr>
          <p:cNvPr id="10" name="Text 7"/>
          <p:cNvSpPr txBox="1"/>
          <p:nvPr/>
        </p:nvSpPr>
        <p:spPr>
          <a:xfrm>
            <a:off x="548640" y="5900928"/>
            <a:ext cx="4754880" cy="3779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Half of 18 is 9. Half of 30 is 15.</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18/30 = 18 ÷ 2/30 ÷ 2 = 9/15">    </p:cNvPr>
          <p:cNvPicPr>
            <a:picLocks noChangeAspect="1"/>
          </p:cNvPicPr>
          <p:nvPr/>
        </p:nvPicPr>
        <p:blipFill>
          <a:blip r:embed="rId2"/>
          <a:stretch>
            <a:fillRect/>
          </a:stretch>
        </p:blipFill>
        <p:spPr>
          <a:xfrm>
            <a:off x="6410428" y="3927325"/>
            <a:ext cx="4400038" cy="128630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1: simplify in small steps</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299860" cy="938784"/>
          </a:xfrm>
          <a:prstGeom prst="rect">
            <a:avLst/>
          </a:prstGeom>
          <a:noFill/>
          <a:ln/>
        </p:spPr>
        <p:txBody>
          <a:bodyPr wrap="square" lIns="0" tIns="0" rIns="0" bIns="0" rtlCol="0" anchor="ctr"/>
          <a:lstStyle/>
          <a:p>
            <a:pPr algn="l" indent="0" marL="0">
              <a:buNone/>
            </a:pPr>
            <a:r>
              <a:rPr lang="en-US" sz="2200" b="1" dirty="0">
                <a:solidFill>
                  <a:schemeClr val="tx1"/>
                </a:solidFill>
              </a:rPr>
              <a:t>Simplify:</a:t>
            </a:r>
            <a:endParaRPr lang="en-US" sz="2200" dirty="0"/>
          </a:p>
        </p:txBody>
      </p:sp>
      <p:pic>
        <p:nvPicPr>
          <p:cNvPr id="6" name="Image 0" descr="18/30">    </p:cNvPr>
          <p:cNvPicPr>
            <a:picLocks noChangeAspect="1"/>
          </p:cNvPicPr>
          <p:nvPr/>
        </p:nvPicPr>
        <p:blipFill>
          <a:blip r:embed="rId1"/>
          <a:stretch>
            <a:fillRect/>
          </a:stretch>
        </p:blipFill>
        <p:spPr>
          <a:xfrm>
            <a:off x="2214260" y="1600200"/>
            <a:ext cx="640080"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2 OF 3</a:t>
            </a:r>
            <a:endParaRPr lang="en-US" sz="1400" dirty="0"/>
          </a:p>
        </p:txBody>
      </p:sp>
      <p:sp>
        <p:nvSpPr>
          <p:cNvPr id="9" name="Text 6"/>
          <p:cNvSpPr txBox="1"/>
          <p:nvPr/>
        </p:nvSpPr>
        <p:spPr>
          <a:xfrm>
            <a:off x="548640" y="3681984"/>
            <a:ext cx="4754880" cy="1658112"/>
          </a:xfrm>
          <a:prstGeom prst="rect">
            <a:avLst/>
          </a:prstGeom>
          <a:noFill/>
          <a:ln/>
        </p:spPr>
        <p:txBody>
          <a:bodyPr wrap="square" lIns="0" tIns="0" rIns="0" bIns="0" rtlCol="0" anchor="t"/>
          <a:lstStyle/>
          <a:p>
            <a:pPr algn="l" indent="0" marL="0">
              <a:buNone/>
            </a:pPr>
            <a:r>
              <a:rPr lang="en-US" sz="2600" b="1" dirty="0">
                <a:solidFill>
                  <a:schemeClr val="tx1"/>
                </a:solidFill>
              </a:rPr>
              <a:t>Look again. 9 and 15 are both in the 3 times table. Divide the top and the bottom by 3.</a:t>
            </a:r>
            <a:endParaRPr lang="en-US" sz="2600" dirty="0"/>
          </a:p>
        </p:txBody>
      </p:sp>
      <p:sp>
        <p:nvSpPr>
          <p:cNvPr id="10" name="Text 7"/>
          <p:cNvSpPr txBox="1"/>
          <p:nvPr/>
        </p:nvSpPr>
        <p:spPr>
          <a:xfrm>
            <a:off x="548640" y="5504688"/>
            <a:ext cx="4754880" cy="3779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9 ÷ 3 = 3 and 15 ÷ 3 = 5.</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9/15 = 9 ÷ 3/15 ÷ 3 = 3/5">    </p:cNvPr>
          <p:cNvPicPr>
            <a:picLocks noChangeAspect="1"/>
          </p:cNvPicPr>
          <p:nvPr/>
        </p:nvPicPr>
        <p:blipFill>
          <a:blip r:embed="rId2"/>
          <a:stretch>
            <a:fillRect/>
          </a:stretch>
        </p:blipFill>
        <p:spPr>
          <a:xfrm>
            <a:off x="6556801" y="3927325"/>
            <a:ext cx="4107294" cy="128630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1: simplify in small steps</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299860" cy="938784"/>
          </a:xfrm>
          <a:prstGeom prst="rect">
            <a:avLst/>
          </a:prstGeom>
          <a:noFill/>
          <a:ln/>
        </p:spPr>
        <p:txBody>
          <a:bodyPr wrap="square" lIns="0" tIns="0" rIns="0" bIns="0" rtlCol="0" anchor="ctr"/>
          <a:lstStyle/>
          <a:p>
            <a:pPr algn="l" indent="0" marL="0">
              <a:buNone/>
            </a:pPr>
            <a:r>
              <a:rPr lang="en-US" sz="2200" b="1" dirty="0">
                <a:solidFill>
                  <a:schemeClr val="tx1"/>
                </a:solidFill>
              </a:rPr>
              <a:t>Simplify:</a:t>
            </a:r>
            <a:endParaRPr lang="en-US" sz="2200" dirty="0"/>
          </a:p>
        </p:txBody>
      </p:sp>
      <p:pic>
        <p:nvPicPr>
          <p:cNvPr id="6" name="Image 0" descr="18/30">    </p:cNvPr>
          <p:cNvPicPr>
            <a:picLocks noChangeAspect="1"/>
          </p:cNvPicPr>
          <p:nvPr/>
        </p:nvPicPr>
        <p:blipFill>
          <a:blip r:embed="rId1"/>
          <a:stretch>
            <a:fillRect/>
          </a:stretch>
        </p:blipFill>
        <p:spPr>
          <a:xfrm>
            <a:off x="2214260" y="1600200"/>
            <a:ext cx="640080"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3 OF 3</a:t>
            </a:r>
            <a:endParaRPr lang="en-US" sz="1400" dirty="0"/>
          </a:p>
        </p:txBody>
      </p:sp>
      <p:sp>
        <p:nvSpPr>
          <p:cNvPr id="9" name="Text 6"/>
          <p:cNvSpPr txBox="1"/>
          <p:nvPr/>
        </p:nvSpPr>
        <p:spPr>
          <a:xfrm>
            <a:off x="548640" y="3681984"/>
            <a:ext cx="4754880" cy="1536192"/>
          </a:xfrm>
          <a:prstGeom prst="rect">
            <a:avLst/>
          </a:prstGeom>
          <a:noFill/>
          <a:ln/>
        </p:spPr>
        <p:txBody>
          <a:bodyPr wrap="square" lIns="0" tIns="0" rIns="0" bIns="0" rtlCol="0" anchor="t"/>
          <a:lstStyle/>
          <a:p>
            <a:pPr algn="l" indent="0" marL="0">
              <a:buNone/>
            </a:pPr>
            <a:r>
              <a:rPr lang="en-US" sz="2400" b="1" dirty="0">
                <a:solidFill>
                  <a:schemeClr val="tx1"/>
                </a:solidFill>
              </a:rPr>
              <a:t>Can 3/5 be simplified again? No: 1 is the only number that goes into both 3 and 5. Finished.</a:t>
            </a:r>
            <a:endParaRPr lang="en-US" sz="2400" dirty="0"/>
          </a:p>
        </p:txBody>
      </p:sp>
      <p:sp>
        <p:nvSpPr>
          <p:cNvPr id="10" name="Text 7"/>
          <p:cNvSpPr txBox="1"/>
          <p:nvPr/>
        </p:nvSpPr>
        <p:spPr>
          <a:xfrm>
            <a:off x="548640" y="5382768"/>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Small steps are safe steps. You do not have to find the biggest number in one go.</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the same fraction written with different numbers">    </p:cNvPr>
          <p:cNvPicPr>
            <a:picLocks noChangeAspect="1"/>
          </p:cNvPicPr>
          <p:nvPr/>
        </p:nvPicPr>
        <p:blipFill>
          <a:blip r:embed="rId2"/>
          <a:stretch>
            <a:fillRect/>
          </a:stretch>
        </p:blipFill>
        <p:spPr>
          <a:xfrm>
            <a:off x="6691995" y="3133344"/>
            <a:ext cx="3836906" cy="1705292"/>
          </a:xfrm>
          <a:prstGeom prst="rect">
            <a:avLst/>
          </a:prstGeom>
        </p:spPr>
      </p:pic>
      <p:pic>
        <p:nvPicPr>
          <p:cNvPr id="13" name="Image 2" descr="18/30 = 3/5">    </p:cNvPr>
          <p:cNvPicPr>
            <a:picLocks noChangeAspect="1"/>
          </p:cNvPicPr>
          <p:nvPr/>
        </p:nvPicPr>
        <p:blipFill>
          <a:blip r:embed="rId3"/>
          <a:stretch>
            <a:fillRect/>
          </a:stretch>
        </p:blipFill>
        <p:spPr>
          <a:xfrm>
            <a:off x="7947171" y="5112956"/>
            <a:ext cx="1326554" cy="894652"/>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nd label"/>
          <p:cNvSpPr/>
          <p:nvPr/>
        </p:nvSpPr>
        <p:spPr>
          <a:xfrm>
            <a:off x="548640" y="365760"/>
            <a:ext cx="1317473"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ANSWER</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1: simplify in small steps</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299860" cy="938784"/>
          </a:xfrm>
          <a:prstGeom prst="rect">
            <a:avLst/>
          </a:prstGeom>
          <a:noFill/>
          <a:ln/>
        </p:spPr>
        <p:txBody>
          <a:bodyPr wrap="square" lIns="0" tIns="0" rIns="0" bIns="0" rtlCol="0" anchor="ctr"/>
          <a:lstStyle/>
          <a:p>
            <a:pPr algn="l" indent="0" marL="0">
              <a:buNone/>
            </a:pPr>
            <a:r>
              <a:rPr lang="en-US" sz="2200" b="1" dirty="0">
                <a:solidFill>
                  <a:schemeClr val="tx1"/>
                </a:solidFill>
              </a:rPr>
              <a:t>Simplify:</a:t>
            </a:r>
            <a:endParaRPr lang="en-US" sz="2200" dirty="0"/>
          </a:p>
        </p:txBody>
      </p:sp>
      <p:pic>
        <p:nvPicPr>
          <p:cNvPr id="6" name="Image 0" descr="18/30">    </p:cNvPr>
          <p:cNvPicPr>
            <a:picLocks noChangeAspect="1"/>
          </p:cNvPicPr>
          <p:nvPr/>
        </p:nvPicPr>
        <p:blipFill>
          <a:blip r:embed="rId1"/>
          <a:stretch>
            <a:fillRect/>
          </a:stretch>
        </p:blipFill>
        <p:spPr>
          <a:xfrm>
            <a:off x="2214260" y="1600200"/>
            <a:ext cx="640080" cy="938784"/>
          </a:xfrm>
          <a:prstGeom prst="rect">
            <a:avLst/>
          </a:prstGeom>
        </p:spPr>
      </p:pic>
      <p:sp>
        <p:nvSpPr>
          <p:cNvPr id="7" name="answer"/>
          <p:cNvSpPr/>
          <p:nvPr/>
        </p:nvSpPr>
        <p:spPr>
          <a:xfrm>
            <a:off x="548640" y="2904744"/>
            <a:ext cx="4754880" cy="2872047"/>
          </a:xfrm>
          <a:prstGeom prst="roundRect">
            <a:avLst>
              <a:gd name="adj" fmla="val 4457"/>
            </a:avLst>
          </a:prstGeom>
          <a:solidFill>
            <a:srgbClr val="E3F2E5"/>
          </a:solidFill>
          <a:ln/>
        </p:spPr>
      </p:sp>
      <p:sp>
        <p:nvSpPr>
          <p:cNvPr id="8" name="Text 5"/>
          <p:cNvSpPr txBox="1"/>
          <p:nvPr/>
        </p:nvSpPr>
        <p:spPr>
          <a:xfrm>
            <a:off x="777240" y="3069336"/>
            <a:ext cx="1828800"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9" name="Image 1" descr="3/5">    </p:cNvPr>
          <p:cNvPicPr>
            <a:picLocks noChangeAspect="1"/>
          </p:cNvPicPr>
          <p:nvPr/>
        </p:nvPicPr>
        <p:blipFill>
          <a:blip r:embed="rId2"/>
          <a:stretch>
            <a:fillRect/>
          </a:stretch>
        </p:blipFill>
        <p:spPr>
          <a:xfrm>
            <a:off x="777240" y="3416808"/>
            <a:ext cx="606829" cy="1363287"/>
          </a:xfrm>
          <a:prstGeom prst="rect">
            <a:avLst/>
          </a:prstGeom>
        </p:spPr>
      </p:pic>
      <p:sp>
        <p:nvSpPr>
          <p:cNvPr id="10" name="Text 6"/>
          <p:cNvSpPr txBox="1"/>
          <p:nvPr/>
        </p:nvSpPr>
        <p:spPr>
          <a:xfrm>
            <a:off x="777240" y="4871535"/>
            <a:ext cx="4297680" cy="621792"/>
          </a:xfrm>
          <a:prstGeom prst="rect">
            <a:avLst/>
          </a:prstGeom>
          <a:noFill/>
          <a:ln/>
        </p:spPr>
        <p:txBody>
          <a:bodyPr wrap="square" lIns="0" tIns="0" rIns="0" bIns="0" rtlCol="0" anchor="t"/>
          <a:lstStyle/>
          <a:p>
            <a:pPr algn="l" indent="0" marL="0">
              <a:buNone/>
            </a:pPr>
            <a:r>
              <a:rPr lang="en-US" sz="1800" b="1" dirty="0">
                <a:solidFill>
                  <a:srgbClr val="4B5563"/>
                </a:solidFill>
              </a:rPr>
              <a:t>Check:</a:t>
            </a:r>
            <a:pPr algn="l" indent="0" marL="0">
              <a:buNone/>
            </a:pPr>
            <a:r>
              <a:rPr lang="en-US" sz="1800" dirty="0">
                <a:solidFill>
                  <a:srgbClr val="4B5563"/>
                </a:solidFill>
              </a:rPr>
              <a:t> Go back: 3 × 6 = 18 and 5 × 6 = 30 ✓</a:t>
            </a:r>
            <a:endParaRPr lang="en-US" sz="18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sp>
        <p:nvSpPr>
          <p:cNvPr id="12" name="Text 8"/>
          <p:cNvSpPr txBox="1"/>
          <p:nvPr/>
        </p:nvSpPr>
        <p:spPr>
          <a:xfrm>
            <a:off x="5852160" y="3051048"/>
            <a:ext cx="5516575" cy="256032"/>
          </a:xfrm>
          <a:prstGeom prst="rect">
            <a:avLst/>
          </a:prstGeom>
          <a:noFill/>
          <a:ln/>
        </p:spPr>
        <p:txBody>
          <a:bodyPr wrap="square" lIns="0" tIns="0" rIns="0" bIns="0" rtlCol="0" anchor="t"/>
          <a:lstStyle/>
          <a:p>
            <a:pPr algn="l" indent="0" marL="0">
              <a:buNone/>
            </a:pPr>
            <a:r>
              <a:rPr lang="en-US" sz="1200" b="1" dirty="0">
                <a:solidFill>
                  <a:srgbClr val="6B7280"/>
                </a:solidFill>
              </a:rPr>
              <a:t>HOW IT LOOKS ON YOUR PAGE</a:t>
            </a:r>
            <a:endParaRPr lang="en-US" sz="1200" dirty="0"/>
          </a:p>
        </p:txBody>
      </p:sp>
      <p:pic>
        <p:nvPicPr>
          <p:cNvPr id="13" name="Image 2" descr="the whole working">    </p:cNvPr>
          <p:cNvPicPr>
            <a:picLocks noChangeAspect="1"/>
          </p:cNvPicPr>
          <p:nvPr/>
        </p:nvPicPr>
        <p:blipFill>
          <a:blip r:embed="rId3"/>
          <a:stretch>
            <a:fillRect/>
          </a:stretch>
        </p:blipFill>
        <p:spPr>
          <a:xfrm>
            <a:off x="5852160" y="3361944"/>
            <a:ext cx="3026531" cy="264566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simplify 10/15</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Which number goes into both 10 and 15? Type the simplified fraction.</a:t>
            </a:r>
            <a:endParaRPr lang="en-US" sz="2800" dirty="0"/>
          </a:p>
        </p:txBody>
      </p:sp>
      <p:pic>
        <p:nvPicPr>
          <p:cNvPr id="5" name="Image 0" descr="10/15">    </p:cNvPr>
          <p:cNvPicPr>
            <a:picLocks noChangeAspect="1"/>
          </p:cNvPicPr>
          <p:nvPr/>
        </p:nvPicPr>
        <p:blipFill>
          <a:blip r:embed="rId1"/>
          <a:stretch>
            <a:fillRect/>
          </a:stretch>
        </p:blipFill>
        <p:spPr>
          <a:xfrm>
            <a:off x="548640" y="2526792"/>
            <a:ext cx="768096"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FFFFFF"/>
          </a:solidFill>
          <a:ln w="15875">
            <a:solidFill>
              <a:srgbClr val="D1D5DB"/>
            </a:solidFill>
            <a:prstDash val="solid"/>
          </a:ln>
        </p:spPr>
      </p:sp>
      <p:sp>
        <p:nvSpPr>
          <p:cNvPr id="7" name="Text 4"/>
          <p:cNvSpPr txBox="1"/>
          <p:nvPr/>
        </p:nvSpPr>
        <p:spPr>
          <a:xfrm>
            <a:off x="7543800" y="2638044"/>
            <a:ext cx="4099255" cy="1463040"/>
          </a:xfrm>
          <a:prstGeom prst="rect">
            <a:avLst/>
          </a:prstGeom>
          <a:noFill/>
          <a:ln/>
        </p:spPr>
        <p:txBody>
          <a:bodyPr wrap="square" lIns="0" tIns="0" rIns="0" bIns="0" rtlCol="0" anchor="ctr"/>
          <a:lstStyle/>
          <a:p>
            <a:pPr algn="ctr" indent="0" marL="0">
              <a:buNone/>
            </a:pPr>
            <a:r>
              <a:rPr lang="en-US" sz="9600" b="1" dirty="0">
                <a:solidFill>
                  <a:srgbClr val="D1D5DB"/>
                </a:solidFill>
              </a:rPr>
              <a:t>?</a:t>
            </a:r>
            <a:endParaRPr lang="en-US" sz="9600" dirty="0"/>
          </a:p>
        </p:txBody>
      </p:sp>
      <p:sp>
        <p:nvSpPr>
          <p:cNvPr id="8" name="Text 5"/>
          <p:cNvSpPr txBox="1"/>
          <p:nvPr/>
        </p:nvSpPr>
        <p:spPr>
          <a:xfrm>
            <a:off x="7818120" y="4283964"/>
            <a:ext cx="3550615" cy="682752"/>
          </a:xfrm>
          <a:prstGeom prst="rect">
            <a:avLst/>
          </a:prstGeom>
          <a:noFill/>
          <a:ln/>
        </p:spPr>
        <p:txBody>
          <a:bodyPr wrap="square" lIns="0" tIns="0" rIns="0" bIns="0" rtlCol="0" anchor="t"/>
          <a:lstStyle/>
          <a:p>
            <a:pPr algn="ctr" indent="0" marL="0">
              <a:buNone/>
            </a:pPr>
            <a:r>
              <a:rPr lang="en-US" sz="2000" b="1" dirty="0">
                <a:solidFill>
                  <a:srgbClr val="6B7280"/>
                </a:solidFill>
              </a:rPr>
              <a:t>Type your answer in the chat</a:t>
            </a:r>
            <a:endParaRPr lang="en-US" sz="20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simplify 10/15</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Which number goes into both 10 and 15? Type the simplified fraction.</a:t>
            </a:r>
            <a:endParaRPr lang="en-US" sz="2800" dirty="0"/>
          </a:p>
        </p:txBody>
      </p:sp>
      <p:pic>
        <p:nvPicPr>
          <p:cNvPr id="5" name="Image 0" descr="10/15">    </p:cNvPr>
          <p:cNvPicPr>
            <a:picLocks noChangeAspect="1"/>
          </p:cNvPicPr>
          <p:nvPr/>
        </p:nvPicPr>
        <p:blipFill>
          <a:blip r:embed="rId1"/>
          <a:stretch>
            <a:fillRect/>
          </a:stretch>
        </p:blipFill>
        <p:spPr>
          <a:xfrm>
            <a:off x="548640" y="2526792"/>
            <a:ext cx="768096"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E3F2E5"/>
          </a:solidFill>
          <a:ln/>
        </p:spPr>
      </p:sp>
      <p:sp>
        <p:nvSpPr>
          <p:cNvPr id="7" name="Text 4"/>
          <p:cNvSpPr txBox="1"/>
          <p:nvPr/>
        </p:nvSpPr>
        <p:spPr>
          <a:xfrm>
            <a:off x="7818120" y="1691640"/>
            <a:ext cx="3550615"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8" name="Image 1" descr="10/15 = 10 ÷ 5/15 ÷ 5 = 2/3">    </p:cNvPr>
          <p:cNvPicPr>
            <a:picLocks noChangeAspect="1"/>
          </p:cNvPicPr>
          <p:nvPr/>
        </p:nvPicPr>
        <p:blipFill>
          <a:blip r:embed="rId2"/>
          <a:stretch>
            <a:fillRect/>
          </a:stretch>
        </p:blipFill>
        <p:spPr>
          <a:xfrm>
            <a:off x="7818120" y="2115312"/>
            <a:ext cx="3550615" cy="1104636"/>
          </a:xfrm>
          <a:prstGeom prst="rect">
            <a:avLst/>
          </a:prstGeom>
        </p:spPr>
      </p:pic>
      <p:sp>
        <p:nvSpPr>
          <p:cNvPr id="9" name="Text 5"/>
          <p:cNvSpPr txBox="1"/>
          <p:nvPr/>
        </p:nvSpPr>
        <p:spPr>
          <a:xfrm>
            <a:off x="7818120" y="3402828"/>
            <a:ext cx="3550615" cy="1749552"/>
          </a:xfrm>
          <a:prstGeom prst="rect">
            <a:avLst/>
          </a:prstGeom>
          <a:noFill/>
          <a:ln/>
        </p:spPr>
        <p:txBody>
          <a:bodyPr wrap="square" lIns="0" tIns="0" rIns="0" bIns="0" rtlCol="0" anchor="t"/>
          <a:lstStyle/>
          <a:p>
            <a:pPr algn="l" indent="0" marL="0">
              <a:buNone/>
            </a:pPr>
            <a:r>
              <a:rPr lang="en-US" sz="2200" dirty="0">
                <a:solidFill>
                  <a:schemeClr val="tx1"/>
                </a:solidFill>
              </a:rPr>
              <a:t>Both end in 0 or 5, so 5 goes into both: 10 ÷ 5 = 2 and 15 ÷ 5 = 3. Then 1 is the only number that goes into both 2 and 3.</a:t>
            </a:r>
            <a:endParaRPr lang="en-US" sz="22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idea number"/>
          <p:cNvSpPr/>
          <p:nvPr/>
        </p:nvSpPr>
        <p:spPr>
          <a:xfrm>
            <a:off x="731520" y="2377440"/>
            <a:ext cx="1737360" cy="1737360"/>
          </a:xfrm>
          <a:prstGeom prst="ellipse">
            <a:avLst/>
          </a:prstGeom>
          <a:solidFill>
            <a:schemeClr val="accent2"/>
          </a:solidFill>
          <a:ln/>
        </p:spPr>
        <p:txBody>
          <a:bodyPr wrap="square" lIns="0" tIns="0" rIns="0" bIns="0" rtlCol="0" anchor="ctr"/>
          <a:lstStyle/>
          <a:p>
            <a:pPr algn="ctr" indent="0" marL="0">
              <a:buNone/>
            </a:pPr>
            <a:r>
              <a:rPr lang="en-US" sz="6600" b="1" dirty="0">
                <a:solidFill>
                  <a:schemeClr val="tx2"/>
                </a:solidFill>
              </a:rPr>
              <a:t>3</a:t>
            </a:r>
            <a:endParaRPr lang="en-US" sz="6600" dirty="0"/>
          </a:p>
        </p:txBody>
      </p:sp>
      <p:sp>
        <p:nvSpPr>
          <p:cNvPr id="3" name="Text 1"/>
          <p:cNvSpPr txBox="1"/>
          <p:nvPr/>
        </p:nvSpPr>
        <p:spPr>
          <a:xfrm>
            <a:off x="2834640" y="2011680"/>
            <a:ext cx="8229600" cy="365760"/>
          </a:xfrm>
          <a:prstGeom prst="rect">
            <a:avLst/>
          </a:prstGeom>
          <a:noFill/>
          <a:ln/>
        </p:spPr>
        <p:txBody>
          <a:bodyPr wrap="square" lIns="0" tIns="0" rIns="0" bIns="0" rtlCol="0" anchor="ctr"/>
          <a:lstStyle/>
          <a:p>
            <a:pPr indent="0" marL="0">
              <a:buNone/>
            </a:pPr>
            <a:r>
              <a:rPr lang="en-US" sz="1600" b="1" spc="200" kern="0" dirty="0">
                <a:solidFill>
                  <a:srgbClr val="B45309"/>
                </a:solidFill>
              </a:rPr>
              <a:t>PART 3 OF 7 · FROM LESSON 2   ·   about 10 minutes</a:t>
            </a:r>
            <a:endParaRPr lang="en-US" sz="1600" dirty="0"/>
          </a:p>
        </p:txBody>
      </p:sp>
      <p:sp>
        <p:nvSpPr>
          <p:cNvPr id="4" name="Text 0"/>
          <p:cNvSpPr/>
          <p:nvPr>
            <p:ph idx="100" type="title" hasCustomPrompt="1"/>
          </p:nvPr>
        </p:nvSpPr>
        <p:spPr>
          <a:xfrm>
            <a:off x="2834640" y="2514600"/>
            <a:ext cx="8778240" cy="1371600"/>
          </a:xfrm>
          <a:prstGeom prst="rect">
            <a:avLst/>
          </a:prstGeom>
          <a:noFill/>
          <a:ln/>
        </p:spPr>
        <p:txBody>
          <a:bodyPr wrap="square" lIns="0" tIns="0" rIns="0" bIns="0" rtlCol="0" anchor="t"/>
          <a:lstStyle/>
          <a:p>
            <a:pPr algn="l" indent="0" marL="0">
              <a:buNone/>
            </a:pPr>
            <a:r>
              <a:rPr lang="en-US" sz="4000" b="1" dirty="0">
                <a:solidFill>
                  <a:schemeClr val="tx1"/>
                </a:solidFill>
              </a:rPr>
              <a:t>Improper fractions and mixed numbers</a:t>
            </a:r>
            <a:endParaRPr lang="en-US" sz="4000" dirty="0"/>
          </a:p>
        </p:txBody>
      </p:sp>
      <p:sp>
        <p:nvSpPr>
          <p:cNvPr id="5" name="Text 0"/>
          <p:cNvSpPr/>
          <p:nvPr>
            <p:ph idx="101" type="body" hasCustomPrompt="1"/>
          </p:nvPr>
        </p:nvSpPr>
        <p:spPr>
          <a:xfrm>
            <a:off x="2834640" y="3931920"/>
            <a:ext cx="8778240" cy="1280160"/>
          </a:xfrm>
          <a:prstGeom prst="rect">
            <a:avLst/>
          </a:prstGeom>
          <a:noFill/>
          <a:ln/>
        </p:spPr>
        <p:txBody>
          <a:bodyPr wrap="square" lIns="0" tIns="0" rIns="0" bIns="0" rtlCol="0" anchor="t"/>
          <a:lstStyle/>
          <a:p>
            <a:pPr algn="l" indent="0" marL="0">
              <a:buNone/>
            </a:pPr>
            <a:r>
              <a:rPr lang="en-US" sz="2400" dirty="0">
                <a:solidFill>
                  <a:srgbClr val="4B5563"/>
                </a:solidFill>
              </a:rPr>
              <a:t>More slices than one whole holds</a:t>
            </a:r>
            <a:endParaRPr lang="en-US" sz="24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When the top is bigger than the bottom</a:t>
            </a:r>
            <a:endParaRPr lang="en-US" sz="3000" dirty="0"/>
          </a:p>
        </p:txBody>
      </p:sp>
      <p:sp>
        <p:nvSpPr>
          <p:cNvPr id="4" name="card"/>
          <p:cNvSpPr/>
          <p:nvPr/>
        </p:nvSpPr>
        <p:spPr>
          <a:xfrm>
            <a:off x="548640" y="1417320"/>
            <a:ext cx="5257800" cy="4576846"/>
          </a:xfrm>
          <a:prstGeom prst="roundRect">
            <a:avLst>
              <a:gd name="adj" fmla="val 2797"/>
            </a:avLst>
          </a:prstGeom>
          <a:solidFill>
            <a:srgbClr val="F1EAFB"/>
          </a:solidFill>
          <a:ln/>
        </p:spPr>
      </p:sp>
      <p:sp>
        <p:nvSpPr>
          <p:cNvPr id="5" name="Text 3"/>
          <p:cNvSpPr txBox="1"/>
          <p:nvPr/>
        </p:nvSpPr>
        <p:spPr>
          <a:xfrm>
            <a:off x="804672" y="1673352"/>
            <a:ext cx="4745736" cy="2783840"/>
          </a:xfrm>
          <a:prstGeom prst="rect">
            <a:avLst/>
          </a:prstGeom>
          <a:noFill/>
          <a:ln/>
        </p:spPr>
        <p:txBody>
          <a:bodyPr wrap="square" lIns="0" tIns="0" rIns="0" bIns="0" rtlCol="0" anchor="t"/>
          <a:lstStyle/>
          <a:p>
            <a:pPr algn="l" indent="0" marL="0">
              <a:spcAft>
                <a:spcPts val="1000"/>
              </a:spcAft>
              <a:buNone/>
            </a:pPr>
            <a:r>
              <a:rPr lang="en-US" sz="2000" dirty="0">
                <a:solidFill>
                  <a:schemeClr val="tx1"/>
                </a:solidFill>
              </a:rPr>
              <a:t>7/4 has more slices than one pizza holds. A fraction like that is called an </a:t>
            </a:r>
            <a:pPr algn="l" indent="0" marL="0">
              <a:spcAft>
                <a:spcPts val="1000"/>
              </a:spcAft>
              <a:buNone/>
            </a:pPr>
            <a:r>
              <a:rPr lang="en-US" sz="2000" b="1" dirty="0">
                <a:solidFill>
                  <a:schemeClr val="tx1"/>
                </a:solidFill>
              </a:rPr>
              <a:t>improper fraction</a:t>
            </a:r>
            <a:pPr algn="l" indent="0" marL="0">
              <a:spcAft>
                <a:spcPts val="1000"/>
              </a:spcAft>
              <a:buNone/>
            </a:pPr>
            <a:r>
              <a:rPr lang="en-US" sz="2000" dirty="0">
                <a:solidFill>
                  <a:schemeClr val="tx1"/>
                </a:solidFill>
              </a:rPr>
              <a:t>.</a:t>
            </a:r>
            <a:endParaRPr lang="en-US" sz="2000" dirty="0"/>
          </a:p>
          <a:p>
            <a:pPr algn="l" indent="0" marL="0">
              <a:spcAft>
                <a:spcPts val="1000"/>
              </a:spcAft>
              <a:buNone/>
            </a:pPr>
            <a:r>
              <a:rPr lang="en-US" sz="2000" b="1" dirty="0">
                <a:solidFill>
                  <a:schemeClr val="tx1"/>
                </a:solidFill>
              </a:rPr>
              <a:t>Divide the top by the bottom:</a:t>
            </a:r>
            <a:pPr algn="l" indent="0" marL="0">
              <a:spcAft>
                <a:spcPts val="1000"/>
              </a:spcAft>
              <a:buNone/>
            </a:pPr>
            <a:r>
              <a:rPr lang="en-US" sz="2000" dirty="0">
                <a:solidFill>
                  <a:schemeClr val="tx1"/>
                </a:solidFill>
              </a:rPr>
              <a:t> how many 4s fit into 7? One 4 fits, and 3 slices are left over.</a:t>
            </a:r>
            <a:endParaRPr lang="en-US" sz="2000" dirty="0"/>
          </a:p>
          <a:p>
            <a:pPr algn="l" indent="0" marL="0">
              <a:spcAft>
                <a:spcPts val="1000"/>
              </a:spcAft>
              <a:buNone/>
            </a:pPr>
            <a:r>
              <a:rPr lang="en-US" sz="2000" dirty="0">
                <a:solidFill>
                  <a:schemeClr val="tx1"/>
                </a:solidFill>
              </a:rPr>
              <a:t>So 7/4 is 1 whole pizza and 3 quarters: </a:t>
            </a:r>
            <a:pPr algn="l" indent="0" marL="0">
              <a:spcAft>
                <a:spcPts val="1000"/>
              </a:spcAft>
              <a:buNone/>
            </a:pPr>
            <a:r>
              <a:rPr lang="en-US" sz="2000" b="1" dirty="0">
                <a:solidFill>
                  <a:schemeClr val="tx1"/>
                </a:solidFill>
              </a:rPr>
              <a:t>1 3/4</a:t>
            </a:r>
            <a:pPr algn="l" indent="0" marL="0">
              <a:spcAft>
                <a:spcPts val="1000"/>
              </a:spcAft>
              <a:buNone/>
            </a:pPr>
            <a:r>
              <a:rPr lang="en-US" sz="2000" dirty="0">
                <a:solidFill>
                  <a:schemeClr val="tx1"/>
                </a:solidFill>
              </a:rPr>
              <a:t>. That is a </a:t>
            </a:r>
            <a:pPr algn="l" indent="0" marL="0">
              <a:spcAft>
                <a:spcPts val="1000"/>
              </a:spcAft>
              <a:buNone/>
            </a:pPr>
            <a:r>
              <a:rPr lang="en-US" sz="2000" b="1" dirty="0">
                <a:solidFill>
                  <a:schemeClr val="tx1"/>
                </a:solidFill>
              </a:rPr>
              <a:t>mixed number</a:t>
            </a:r>
            <a:pPr algn="l" indent="0" marL="0">
              <a:spcAft>
                <a:spcPts val="1000"/>
              </a:spcAft>
              <a:buNone/>
            </a:pPr>
            <a:r>
              <a:rPr lang="en-US" sz="2000" dirty="0">
                <a:solidFill>
                  <a:schemeClr val="tx1"/>
                </a:solidFill>
              </a:rPr>
              <a:t>.</a:t>
            </a:r>
            <a:endParaRPr lang="en-US" sz="2000" dirty="0"/>
          </a:p>
        </p:txBody>
      </p:sp>
      <p:pic>
        <p:nvPicPr>
          <p:cNvPr id="6" name="Image 0" descr="7 ÷ 4 = 1 remainder 3">    </p:cNvPr>
          <p:cNvPicPr>
            <a:picLocks noChangeAspect="1"/>
          </p:cNvPicPr>
          <p:nvPr/>
        </p:nvPicPr>
        <p:blipFill>
          <a:blip r:embed="rId1"/>
          <a:stretch>
            <a:fillRect/>
          </a:stretch>
        </p:blipFill>
        <p:spPr>
          <a:xfrm>
            <a:off x="804672" y="4492752"/>
            <a:ext cx="2774852" cy="400929"/>
          </a:xfrm>
          <a:prstGeom prst="rect">
            <a:avLst/>
          </a:prstGeom>
        </p:spPr>
      </p:pic>
      <p:pic>
        <p:nvPicPr>
          <p:cNvPr id="7" name="Image 1" descr="7/4 = 1 and 3/4">    </p:cNvPr>
          <p:cNvPicPr>
            <a:picLocks noChangeAspect="1"/>
          </p:cNvPicPr>
          <p:nvPr/>
        </p:nvPicPr>
        <p:blipFill>
          <a:blip r:embed="rId2"/>
          <a:stretch>
            <a:fillRect/>
          </a:stretch>
        </p:blipFill>
        <p:spPr>
          <a:xfrm>
            <a:off x="804672" y="5020681"/>
            <a:ext cx="1049802" cy="717452"/>
          </a:xfrm>
          <a:prstGeom prst="rect">
            <a:avLst/>
          </a:prstGeom>
        </p:spPr>
      </p:pic>
      <p:pic>
        <p:nvPicPr>
          <p:cNvPr id="8" name="Image 2" descr="fraction circles">    </p:cNvPr>
          <p:cNvPicPr>
            <a:picLocks noChangeAspect="1"/>
          </p:cNvPicPr>
          <p:nvPr/>
        </p:nvPicPr>
        <p:blipFill>
          <a:blip r:embed="rId3"/>
          <a:stretch>
            <a:fillRect/>
          </a:stretch>
        </p:blipFill>
        <p:spPr>
          <a:xfrm>
            <a:off x="6126480" y="1417320"/>
            <a:ext cx="5516575" cy="2769455"/>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2: improper fraction → mixed number</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3735252" cy="938784"/>
          </a:xfrm>
          <a:prstGeom prst="rect">
            <a:avLst/>
          </a:prstGeom>
          <a:noFill/>
          <a:ln/>
        </p:spPr>
        <p:txBody>
          <a:bodyPr wrap="square" lIns="0" tIns="0" rIns="0" bIns="0" rtlCol="0" anchor="ctr"/>
          <a:lstStyle/>
          <a:p>
            <a:pPr algn="l" indent="0" marL="0">
              <a:buNone/>
            </a:pPr>
            <a:r>
              <a:rPr lang="en-US" sz="2200" b="1" dirty="0">
                <a:solidFill>
                  <a:schemeClr val="tx1"/>
                </a:solidFill>
              </a:rPr>
              <a:t>Write as a mixed number:</a:t>
            </a:r>
            <a:endParaRPr lang="en-US" sz="2200" dirty="0"/>
          </a:p>
        </p:txBody>
      </p:sp>
      <p:pic>
        <p:nvPicPr>
          <p:cNvPr id="6" name="Image 0" descr="11/4">    </p:cNvPr>
          <p:cNvPicPr>
            <a:picLocks noChangeAspect="1"/>
          </p:cNvPicPr>
          <p:nvPr/>
        </p:nvPicPr>
        <p:blipFill>
          <a:blip r:embed="rId1"/>
          <a:stretch>
            <a:fillRect/>
          </a:stretch>
        </p:blipFill>
        <p:spPr>
          <a:xfrm>
            <a:off x="4649652" y="1600200"/>
            <a:ext cx="640080"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1 OF 2</a:t>
            </a:r>
            <a:endParaRPr lang="en-US" sz="1400" dirty="0"/>
          </a:p>
        </p:txBody>
      </p:sp>
      <p:sp>
        <p:nvSpPr>
          <p:cNvPr id="9" name="Text 6"/>
          <p:cNvSpPr txBox="1"/>
          <p:nvPr/>
        </p:nvSpPr>
        <p:spPr>
          <a:xfrm>
            <a:off x="548640" y="3681984"/>
            <a:ext cx="4754880" cy="1901952"/>
          </a:xfrm>
          <a:prstGeom prst="rect">
            <a:avLst/>
          </a:prstGeom>
          <a:noFill/>
          <a:ln/>
        </p:spPr>
        <p:txBody>
          <a:bodyPr wrap="square" lIns="0" tIns="0" rIns="0" bIns="0" rtlCol="0" anchor="t"/>
          <a:lstStyle/>
          <a:p>
            <a:pPr algn="l" indent="0" marL="0">
              <a:buNone/>
            </a:pPr>
            <a:r>
              <a:rPr lang="en-US" sz="2400" b="1" dirty="0">
                <a:solidFill>
                  <a:schemeClr val="tx1"/>
                </a:solidFill>
              </a:rPr>
              <a:t>Divide the top by the bottom: how many 4s fit into 11? Two 4s make 8. Three 4s make 12: too many. So 2 fit, and 11 − 8 = 3 are left over.</a:t>
            </a:r>
            <a:endParaRPr lang="en-US" sz="2400" dirty="0"/>
          </a:p>
        </p:txBody>
      </p:sp>
      <p:sp>
        <p:nvSpPr>
          <p:cNvPr id="10" name="Text 7"/>
          <p:cNvSpPr txBox="1"/>
          <p:nvPr/>
        </p:nvSpPr>
        <p:spPr>
          <a:xfrm>
            <a:off x="548640" y="5748528"/>
            <a:ext cx="4754880" cy="347472"/>
          </a:xfrm>
          <a:prstGeom prst="rect">
            <a:avLst/>
          </a:prstGeom>
          <a:noFill/>
          <a:ln/>
        </p:spPr>
        <p:txBody>
          <a:bodyPr wrap="square" lIns="0" tIns="0" rIns="0" bIns="0" rtlCol="0" anchor="t"/>
          <a:lstStyle/>
          <a:p>
            <a:pPr algn="l" indent="0" marL="0">
              <a:buNone/>
            </a:pPr>
            <a:r>
              <a:rPr lang="en-US" sz="1800" b="1" dirty="0">
                <a:solidFill>
                  <a:srgbClr val="4B5563"/>
                </a:solidFill>
              </a:rPr>
              <a:t>Why?</a:t>
            </a:r>
            <a:pPr algn="l" indent="0" marL="0">
              <a:buNone/>
            </a:pPr>
            <a:r>
              <a:rPr lang="en-US" sz="1800" dirty="0">
                <a:solidFill>
                  <a:srgbClr val="4B5563"/>
                </a:solidFill>
              </a:rPr>
              <a:t> Every 4 quarters make one whole.</a:t>
            </a:r>
            <a:endParaRPr lang="en-US" sz="18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11 ÷ 4 = 2 remainder 3">    </p:cNvPr>
          <p:cNvPicPr>
            <a:picLocks noChangeAspect="1"/>
          </p:cNvPicPr>
          <p:nvPr/>
        </p:nvPicPr>
        <p:blipFill>
          <a:blip r:embed="rId2"/>
          <a:stretch>
            <a:fillRect/>
          </a:stretch>
        </p:blipFill>
        <p:spPr>
          <a:xfrm>
            <a:off x="5958005" y="4215634"/>
            <a:ext cx="5304885" cy="70968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2: improper fraction → mixed number</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3735252" cy="938784"/>
          </a:xfrm>
          <a:prstGeom prst="rect">
            <a:avLst/>
          </a:prstGeom>
          <a:noFill/>
          <a:ln/>
        </p:spPr>
        <p:txBody>
          <a:bodyPr wrap="square" lIns="0" tIns="0" rIns="0" bIns="0" rtlCol="0" anchor="ctr"/>
          <a:lstStyle/>
          <a:p>
            <a:pPr algn="l" indent="0" marL="0">
              <a:buNone/>
            </a:pPr>
            <a:r>
              <a:rPr lang="en-US" sz="2200" b="1" dirty="0">
                <a:solidFill>
                  <a:schemeClr val="tx1"/>
                </a:solidFill>
              </a:rPr>
              <a:t>Write as a mixed number:</a:t>
            </a:r>
            <a:endParaRPr lang="en-US" sz="2200" dirty="0"/>
          </a:p>
        </p:txBody>
      </p:sp>
      <p:pic>
        <p:nvPicPr>
          <p:cNvPr id="6" name="Image 0" descr="11/4">    </p:cNvPr>
          <p:cNvPicPr>
            <a:picLocks noChangeAspect="1"/>
          </p:cNvPicPr>
          <p:nvPr/>
        </p:nvPicPr>
        <p:blipFill>
          <a:blip r:embed="rId1"/>
          <a:stretch>
            <a:fillRect/>
          </a:stretch>
        </p:blipFill>
        <p:spPr>
          <a:xfrm>
            <a:off x="4649652" y="1600200"/>
            <a:ext cx="640080"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2 OF 2</a:t>
            </a:r>
            <a:endParaRPr lang="en-US" sz="1400" dirty="0"/>
          </a:p>
        </p:txBody>
      </p:sp>
      <p:sp>
        <p:nvSpPr>
          <p:cNvPr id="9" name="Text 6"/>
          <p:cNvSpPr txBox="1"/>
          <p:nvPr/>
        </p:nvSpPr>
        <p:spPr>
          <a:xfrm>
            <a:off x="548640" y="3681984"/>
            <a:ext cx="4754880" cy="1536192"/>
          </a:xfrm>
          <a:prstGeom prst="rect">
            <a:avLst/>
          </a:prstGeom>
          <a:noFill/>
          <a:ln/>
        </p:spPr>
        <p:txBody>
          <a:bodyPr wrap="square" lIns="0" tIns="0" rIns="0" bIns="0" rtlCol="0" anchor="t"/>
          <a:lstStyle/>
          <a:p>
            <a:pPr algn="l" indent="0" marL="0">
              <a:buNone/>
            </a:pPr>
            <a:r>
              <a:rPr lang="en-US" sz="2400" b="1" dirty="0">
                <a:solidFill>
                  <a:schemeClr val="tx1"/>
                </a:solidFill>
              </a:rPr>
              <a:t>The 2 is the whole number. The 3 left over is the new top. The slices are still quarters, so the bottom stays 4.</a:t>
            </a:r>
            <a:endParaRPr lang="en-US" sz="2400" dirty="0"/>
          </a:p>
        </p:txBody>
      </p:sp>
      <p:sp>
        <p:nvSpPr>
          <p:cNvPr id="10" name="Text 7"/>
          <p:cNvSpPr txBox="1"/>
          <p:nvPr/>
        </p:nvSpPr>
        <p:spPr>
          <a:xfrm>
            <a:off x="548640" y="5382768"/>
            <a:ext cx="4754880" cy="6827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The picture shows 2 whole pizzas and 3 quarters more.</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fraction circles">    </p:cNvPr>
          <p:cNvPicPr>
            <a:picLocks noChangeAspect="1"/>
          </p:cNvPicPr>
          <p:nvPr/>
        </p:nvPicPr>
        <p:blipFill>
          <a:blip r:embed="rId2"/>
          <a:stretch>
            <a:fillRect/>
          </a:stretch>
        </p:blipFill>
        <p:spPr>
          <a:xfrm>
            <a:off x="6345924" y="3133344"/>
            <a:ext cx="4529048" cy="1521760"/>
          </a:xfrm>
          <a:prstGeom prst="rect">
            <a:avLst/>
          </a:prstGeom>
        </p:spPr>
      </p:pic>
      <p:pic>
        <p:nvPicPr>
          <p:cNvPr id="13" name="Image 2" descr="11/4 = 2 and 3/4">    </p:cNvPr>
          <p:cNvPicPr>
            <a:picLocks noChangeAspect="1"/>
          </p:cNvPicPr>
          <p:nvPr/>
        </p:nvPicPr>
        <p:blipFill>
          <a:blip r:embed="rId3"/>
          <a:stretch>
            <a:fillRect/>
          </a:stretch>
        </p:blipFill>
        <p:spPr>
          <a:xfrm>
            <a:off x="7695850" y="4929424"/>
            <a:ext cx="1829195" cy="107818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nd label"/>
          <p:cNvSpPr/>
          <p:nvPr/>
        </p:nvSpPr>
        <p:spPr>
          <a:xfrm>
            <a:off x="548640" y="365760"/>
            <a:ext cx="1317473"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ANSWER</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2: improper fraction → mixed number</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3735252" cy="938784"/>
          </a:xfrm>
          <a:prstGeom prst="rect">
            <a:avLst/>
          </a:prstGeom>
          <a:noFill/>
          <a:ln/>
        </p:spPr>
        <p:txBody>
          <a:bodyPr wrap="square" lIns="0" tIns="0" rIns="0" bIns="0" rtlCol="0" anchor="ctr"/>
          <a:lstStyle/>
          <a:p>
            <a:pPr algn="l" indent="0" marL="0">
              <a:buNone/>
            </a:pPr>
            <a:r>
              <a:rPr lang="en-US" sz="2200" b="1" dirty="0">
                <a:solidFill>
                  <a:schemeClr val="tx1"/>
                </a:solidFill>
              </a:rPr>
              <a:t>Write as a mixed number:</a:t>
            </a:r>
            <a:endParaRPr lang="en-US" sz="2200" dirty="0"/>
          </a:p>
        </p:txBody>
      </p:sp>
      <p:pic>
        <p:nvPicPr>
          <p:cNvPr id="6" name="Image 0" descr="11/4">    </p:cNvPr>
          <p:cNvPicPr>
            <a:picLocks noChangeAspect="1"/>
          </p:cNvPicPr>
          <p:nvPr/>
        </p:nvPicPr>
        <p:blipFill>
          <a:blip r:embed="rId1"/>
          <a:stretch>
            <a:fillRect/>
          </a:stretch>
        </p:blipFill>
        <p:spPr>
          <a:xfrm>
            <a:off x="4649652" y="1600200"/>
            <a:ext cx="640080" cy="938784"/>
          </a:xfrm>
          <a:prstGeom prst="rect">
            <a:avLst/>
          </a:prstGeom>
        </p:spPr>
      </p:pic>
      <p:sp>
        <p:nvSpPr>
          <p:cNvPr id="7" name="answer"/>
          <p:cNvSpPr/>
          <p:nvPr/>
        </p:nvSpPr>
        <p:spPr>
          <a:xfrm>
            <a:off x="548640" y="2904744"/>
            <a:ext cx="4754880" cy="3102864"/>
          </a:xfrm>
          <a:prstGeom prst="roundRect">
            <a:avLst>
              <a:gd name="adj" fmla="val 4126"/>
            </a:avLst>
          </a:prstGeom>
          <a:solidFill>
            <a:srgbClr val="E3F2E5"/>
          </a:solidFill>
          <a:ln/>
        </p:spPr>
      </p:sp>
      <p:sp>
        <p:nvSpPr>
          <p:cNvPr id="8" name="Text 5"/>
          <p:cNvSpPr txBox="1"/>
          <p:nvPr/>
        </p:nvSpPr>
        <p:spPr>
          <a:xfrm>
            <a:off x="777240" y="3069336"/>
            <a:ext cx="1828800"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9" name="Image 1" descr="2 and 3/4">    </p:cNvPr>
          <p:cNvPicPr>
            <a:picLocks noChangeAspect="1"/>
          </p:cNvPicPr>
          <p:nvPr/>
        </p:nvPicPr>
        <p:blipFill>
          <a:blip r:embed="rId2"/>
          <a:stretch>
            <a:fillRect/>
          </a:stretch>
        </p:blipFill>
        <p:spPr>
          <a:xfrm>
            <a:off x="777240" y="3416808"/>
            <a:ext cx="877174" cy="1319784"/>
          </a:xfrm>
          <a:prstGeom prst="rect">
            <a:avLst/>
          </a:prstGeom>
        </p:spPr>
      </p:pic>
      <p:sp>
        <p:nvSpPr>
          <p:cNvPr id="10" name="Text 6"/>
          <p:cNvSpPr txBox="1"/>
          <p:nvPr/>
        </p:nvSpPr>
        <p:spPr>
          <a:xfrm>
            <a:off x="777240" y="4828032"/>
            <a:ext cx="4297680" cy="896112"/>
          </a:xfrm>
          <a:prstGeom prst="rect">
            <a:avLst/>
          </a:prstGeom>
          <a:noFill/>
          <a:ln/>
        </p:spPr>
        <p:txBody>
          <a:bodyPr wrap="square" lIns="0" tIns="0" rIns="0" bIns="0" rtlCol="0" anchor="t"/>
          <a:lstStyle/>
          <a:p>
            <a:pPr algn="l" indent="0" marL="0">
              <a:buNone/>
            </a:pPr>
            <a:r>
              <a:rPr lang="en-US" sz="1800" b="1" dirty="0">
                <a:solidFill>
                  <a:srgbClr val="4B5563"/>
                </a:solidFill>
              </a:rPr>
              <a:t>Check:</a:t>
            </a:r>
            <a:pPr algn="l" indent="0" marL="0">
              <a:buNone/>
            </a:pPr>
            <a:r>
              <a:rPr lang="en-US" sz="1800" dirty="0">
                <a:solidFill>
                  <a:srgbClr val="4B5563"/>
                </a:solidFill>
              </a:rPr>
              <a:t> Go back: 2 wholes are 8 quarters, plus 3 more makes 11 quarters ✓</a:t>
            </a:r>
            <a:endParaRPr lang="en-US" sz="18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sp>
        <p:nvSpPr>
          <p:cNvPr id="12" name="Text 8"/>
          <p:cNvSpPr txBox="1"/>
          <p:nvPr/>
        </p:nvSpPr>
        <p:spPr>
          <a:xfrm>
            <a:off x="5852160" y="3051048"/>
            <a:ext cx="5516575" cy="256032"/>
          </a:xfrm>
          <a:prstGeom prst="rect">
            <a:avLst/>
          </a:prstGeom>
          <a:noFill/>
          <a:ln/>
        </p:spPr>
        <p:txBody>
          <a:bodyPr wrap="square" lIns="0" tIns="0" rIns="0" bIns="0" rtlCol="0" anchor="t"/>
          <a:lstStyle/>
          <a:p>
            <a:pPr algn="l" indent="0" marL="0">
              <a:buNone/>
            </a:pPr>
            <a:r>
              <a:rPr lang="en-US" sz="1200" b="1" dirty="0">
                <a:solidFill>
                  <a:srgbClr val="6B7280"/>
                </a:solidFill>
              </a:rPr>
              <a:t>HOW IT LOOKS ON YOUR PAGE</a:t>
            </a:r>
            <a:endParaRPr lang="en-US" sz="1200" dirty="0"/>
          </a:p>
        </p:txBody>
      </p:sp>
      <p:pic>
        <p:nvPicPr>
          <p:cNvPr id="13" name="Image 2" descr="the whole working">    </p:cNvPr>
          <p:cNvPicPr>
            <a:picLocks noChangeAspect="1"/>
          </p:cNvPicPr>
          <p:nvPr/>
        </p:nvPicPr>
        <p:blipFill>
          <a:blip r:embed="rId3"/>
          <a:stretch>
            <a:fillRect/>
          </a:stretch>
        </p:blipFill>
        <p:spPr>
          <a:xfrm>
            <a:off x="5852160" y="3361944"/>
            <a:ext cx="3850930" cy="1451283"/>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nd label"/>
          <p:cNvSpPr/>
          <p:nvPr/>
        </p:nvSpPr>
        <p:spPr>
          <a:xfrm>
            <a:off x="548640" y="365760"/>
            <a:ext cx="118872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TOOL</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And back again: mixed number → improper fraction</a:t>
            </a:r>
            <a:endParaRPr lang="en-US" sz="3000" dirty="0"/>
          </a:p>
        </p:txBody>
      </p:sp>
      <p:sp>
        <p:nvSpPr>
          <p:cNvPr id="4" name="card"/>
          <p:cNvSpPr/>
          <p:nvPr/>
        </p:nvSpPr>
        <p:spPr>
          <a:xfrm>
            <a:off x="548640" y="1417320"/>
            <a:ext cx="5257800" cy="4713732"/>
          </a:xfrm>
          <a:prstGeom prst="roundRect">
            <a:avLst>
              <a:gd name="adj" fmla="val 2716"/>
            </a:avLst>
          </a:prstGeom>
          <a:solidFill>
            <a:srgbClr val="DDF1F2"/>
          </a:solidFill>
          <a:ln/>
        </p:spPr>
      </p:sp>
      <p:sp>
        <p:nvSpPr>
          <p:cNvPr id="5" name="Text 3"/>
          <p:cNvSpPr txBox="1"/>
          <p:nvPr/>
        </p:nvSpPr>
        <p:spPr>
          <a:xfrm>
            <a:off x="804672" y="1673352"/>
            <a:ext cx="4745736" cy="3195320"/>
          </a:xfrm>
          <a:prstGeom prst="rect">
            <a:avLst/>
          </a:prstGeom>
          <a:noFill/>
          <a:ln/>
        </p:spPr>
        <p:txBody>
          <a:bodyPr wrap="square" lIns="0" tIns="0" rIns="0" bIns="0" rtlCol="0" anchor="t"/>
          <a:lstStyle/>
          <a:p>
            <a:pPr algn="l" indent="0" marL="0">
              <a:spcAft>
                <a:spcPts val="1300"/>
              </a:spcAft>
              <a:buNone/>
            </a:pPr>
            <a:r>
              <a:rPr lang="en-US" sz="2600" b="1" dirty="0">
                <a:solidFill>
                  <a:schemeClr val="tx1"/>
                </a:solidFill>
              </a:rPr>
              <a:t>Multiply</a:t>
            </a:r>
            <a:pPr algn="l" indent="0" marL="0">
              <a:spcAft>
                <a:spcPts val="1300"/>
              </a:spcAft>
              <a:buNone/>
            </a:pPr>
            <a:r>
              <a:rPr lang="en-US" sz="2600" dirty="0">
                <a:solidFill>
                  <a:schemeClr val="tx1"/>
                </a:solidFill>
              </a:rPr>
              <a:t> the whole number by the bottom. That turns the wholes into slices.</a:t>
            </a:r>
            <a:endParaRPr lang="en-US" sz="2600" dirty="0"/>
          </a:p>
          <a:p>
            <a:pPr algn="l" indent="0" marL="0">
              <a:spcAft>
                <a:spcPts val="1300"/>
              </a:spcAft>
              <a:buNone/>
            </a:pPr>
            <a:r>
              <a:rPr lang="en-US" sz="2600" b="1" dirty="0">
                <a:solidFill>
                  <a:schemeClr val="tx1"/>
                </a:solidFill>
              </a:rPr>
              <a:t>Add</a:t>
            </a:r>
            <a:pPr algn="l" indent="0" marL="0">
              <a:spcAft>
                <a:spcPts val="1300"/>
              </a:spcAft>
              <a:buNone/>
            </a:pPr>
            <a:r>
              <a:rPr lang="en-US" sz="2600" dirty="0">
                <a:solidFill>
                  <a:schemeClr val="tx1"/>
                </a:solidFill>
              </a:rPr>
              <a:t> the top. Those are the extra slices.</a:t>
            </a:r>
            <a:endParaRPr lang="en-US" sz="2600" dirty="0"/>
          </a:p>
          <a:p>
            <a:pPr algn="l" indent="0" marL="0">
              <a:spcAft>
                <a:spcPts val="1300"/>
              </a:spcAft>
              <a:buNone/>
            </a:pPr>
            <a:r>
              <a:rPr lang="en-US" sz="2600" dirty="0">
                <a:solidFill>
                  <a:schemeClr val="tx1"/>
                </a:solidFill>
              </a:rPr>
              <a:t>Write the total over the </a:t>
            </a:r>
            <a:pPr algn="l" indent="0" marL="0">
              <a:spcAft>
                <a:spcPts val="1300"/>
              </a:spcAft>
              <a:buNone/>
            </a:pPr>
            <a:r>
              <a:rPr lang="en-US" sz="2600" b="1" dirty="0">
                <a:solidFill>
                  <a:schemeClr val="tx1"/>
                </a:solidFill>
              </a:rPr>
              <a:t>same bottom</a:t>
            </a:r>
            <a:pPr algn="l" indent="0" marL="0">
              <a:spcAft>
                <a:spcPts val="1300"/>
              </a:spcAft>
              <a:buNone/>
            </a:pPr>
            <a:r>
              <a:rPr lang="en-US" sz="2600" dirty="0">
                <a:solidFill>
                  <a:schemeClr val="tx1"/>
                </a:solidFill>
              </a:rPr>
              <a:t>.</a:t>
            </a:r>
            <a:endParaRPr lang="en-US" sz="2600" dirty="0"/>
          </a:p>
        </p:txBody>
      </p:sp>
      <p:pic>
        <p:nvPicPr>
          <p:cNvPr id="6" name="Image 0" descr="2 and 1/3 = 2 × 3 + 1/3 = 7/3">    </p:cNvPr>
          <p:cNvPicPr>
            <a:picLocks noChangeAspect="1"/>
          </p:cNvPicPr>
          <p:nvPr/>
        </p:nvPicPr>
        <p:blipFill>
          <a:blip r:embed="rId1"/>
          <a:stretch>
            <a:fillRect/>
          </a:stretch>
        </p:blipFill>
        <p:spPr>
          <a:xfrm>
            <a:off x="804672" y="4942332"/>
            <a:ext cx="3387852" cy="932688"/>
          </a:xfrm>
          <a:prstGeom prst="rect">
            <a:avLst/>
          </a:prstGeom>
        </p:spPr>
      </p:pic>
      <p:pic>
        <p:nvPicPr>
          <p:cNvPr id="7" name="Image 1" descr="fraction circles">    </p:cNvPr>
          <p:cNvPicPr>
            <a:picLocks noChangeAspect="1"/>
          </p:cNvPicPr>
          <p:nvPr/>
        </p:nvPicPr>
        <p:blipFill>
          <a:blip r:embed="rId2"/>
          <a:stretch>
            <a:fillRect/>
          </a:stretch>
        </p:blipFill>
        <p:spPr>
          <a:xfrm>
            <a:off x="6126480" y="1417320"/>
            <a:ext cx="5516575" cy="2491357"/>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Fill in the blanks: 2 1/2 as an improper fraction</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Type only the two missing numbers, in order.</a:t>
            </a:r>
            <a:endParaRPr lang="en-US" sz="2800" dirty="0"/>
          </a:p>
        </p:txBody>
      </p:sp>
      <p:pic>
        <p:nvPicPr>
          <p:cNvPr id="5" name="Image 0" descr="2 and 1/2 = 2 × ? + 1/2 = ?/2">    </p:cNvPr>
          <p:cNvPicPr>
            <a:picLocks noChangeAspect="1"/>
          </p:cNvPicPr>
          <p:nvPr/>
        </p:nvPicPr>
        <p:blipFill>
          <a:blip r:embed="rId1"/>
          <a:stretch>
            <a:fillRect/>
          </a:stretch>
        </p:blipFill>
        <p:spPr>
          <a:xfrm>
            <a:off x="548640" y="2526792"/>
            <a:ext cx="4155034"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FFFFFF"/>
          </a:solidFill>
          <a:ln w="15875">
            <a:solidFill>
              <a:srgbClr val="D1D5DB"/>
            </a:solidFill>
            <a:prstDash val="solid"/>
          </a:ln>
        </p:spPr>
      </p:sp>
      <p:sp>
        <p:nvSpPr>
          <p:cNvPr id="7" name="Text 4"/>
          <p:cNvSpPr txBox="1"/>
          <p:nvPr/>
        </p:nvSpPr>
        <p:spPr>
          <a:xfrm>
            <a:off x="7543800" y="2638044"/>
            <a:ext cx="4099255" cy="1463040"/>
          </a:xfrm>
          <a:prstGeom prst="rect">
            <a:avLst/>
          </a:prstGeom>
          <a:noFill/>
          <a:ln/>
        </p:spPr>
        <p:txBody>
          <a:bodyPr wrap="square" lIns="0" tIns="0" rIns="0" bIns="0" rtlCol="0" anchor="ctr"/>
          <a:lstStyle/>
          <a:p>
            <a:pPr algn="ctr" indent="0" marL="0">
              <a:buNone/>
            </a:pPr>
            <a:r>
              <a:rPr lang="en-US" sz="9600" b="1" dirty="0">
                <a:solidFill>
                  <a:srgbClr val="D1D5DB"/>
                </a:solidFill>
              </a:rPr>
              <a:t>?</a:t>
            </a:r>
            <a:endParaRPr lang="en-US" sz="9600" dirty="0"/>
          </a:p>
        </p:txBody>
      </p:sp>
      <p:sp>
        <p:nvSpPr>
          <p:cNvPr id="8" name="Text 5"/>
          <p:cNvSpPr txBox="1"/>
          <p:nvPr/>
        </p:nvSpPr>
        <p:spPr>
          <a:xfrm>
            <a:off x="7818120" y="4283964"/>
            <a:ext cx="3550615" cy="682752"/>
          </a:xfrm>
          <a:prstGeom prst="rect">
            <a:avLst/>
          </a:prstGeom>
          <a:noFill/>
          <a:ln/>
        </p:spPr>
        <p:txBody>
          <a:bodyPr wrap="square" lIns="0" tIns="0" rIns="0" bIns="0" rtlCol="0" anchor="t"/>
          <a:lstStyle/>
          <a:p>
            <a:pPr algn="ctr" indent="0" marL="0">
              <a:buNone/>
            </a:pPr>
            <a:r>
              <a:rPr lang="en-US" sz="2000" b="1" dirty="0">
                <a:solidFill>
                  <a:srgbClr val="6B7280"/>
                </a:solidFill>
              </a:rPr>
              <a:t>Type your answer in the chat</a:t>
            </a:r>
            <a:endParaRPr lang="en-US" sz="20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Fill in the blanks: 2 1/2 as an improper fraction</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Type only the two missing numbers, in order.</a:t>
            </a:r>
            <a:endParaRPr lang="en-US" sz="2800" dirty="0"/>
          </a:p>
        </p:txBody>
      </p:sp>
      <p:pic>
        <p:nvPicPr>
          <p:cNvPr id="5" name="Image 0" descr="2 and 1/2 = 2 × ? + 1/2 = ?/2">    </p:cNvPr>
          <p:cNvPicPr>
            <a:picLocks noChangeAspect="1"/>
          </p:cNvPicPr>
          <p:nvPr/>
        </p:nvPicPr>
        <p:blipFill>
          <a:blip r:embed="rId1"/>
          <a:stretch>
            <a:fillRect/>
          </a:stretch>
        </p:blipFill>
        <p:spPr>
          <a:xfrm>
            <a:off x="548640" y="2526792"/>
            <a:ext cx="4155034"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E3F2E5"/>
          </a:solidFill>
          <a:ln/>
        </p:spPr>
      </p:sp>
      <p:sp>
        <p:nvSpPr>
          <p:cNvPr id="7" name="Text 4"/>
          <p:cNvSpPr txBox="1"/>
          <p:nvPr/>
        </p:nvSpPr>
        <p:spPr>
          <a:xfrm>
            <a:off x="7818120" y="1691640"/>
            <a:ext cx="3550615"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8" name="Image 1" descr="2 and 1/2 = 2 × 2 + 1/2 = 5/2">    </p:cNvPr>
          <p:cNvPicPr>
            <a:picLocks noChangeAspect="1"/>
          </p:cNvPicPr>
          <p:nvPr/>
        </p:nvPicPr>
        <p:blipFill>
          <a:blip r:embed="rId2"/>
          <a:stretch>
            <a:fillRect/>
          </a:stretch>
        </p:blipFill>
        <p:spPr>
          <a:xfrm>
            <a:off x="7818120" y="2115312"/>
            <a:ext cx="3550615" cy="962667"/>
          </a:xfrm>
          <a:prstGeom prst="rect">
            <a:avLst/>
          </a:prstGeom>
        </p:spPr>
      </p:pic>
      <p:sp>
        <p:nvSpPr>
          <p:cNvPr id="9" name="Text 5"/>
          <p:cNvSpPr txBox="1"/>
          <p:nvPr/>
        </p:nvSpPr>
        <p:spPr>
          <a:xfrm>
            <a:off x="7818120" y="3260859"/>
            <a:ext cx="3550615" cy="1078992"/>
          </a:xfrm>
          <a:prstGeom prst="rect">
            <a:avLst/>
          </a:prstGeom>
          <a:noFill/>
          <a:ln/>
        </p:spPr>
        <p:txBody>
          <a:bodyPr wrap="square" lIns="0" tIns="0" rIns="0" bIns="0" rtlCol="0" anchor="t"/>
          <a:lstStyle/>
          <a:p>
            <a:pPr algn="l" indent="0" marL="0">
              <a:buNone/>
            </a:pPr>
            <a:r>
              <a:rPr lang="en-US" sz="2200" dirty="0">
                <a:solidFill>
                  <a:schemeClr val="tx1"/>
                </a:solidFill>
              </a:rPr>
              <a:t>Whole number × bottom: 2 × 2 = 4 halves. Plus the 1 half on top: 5 halves.</a:t>
            </a:r>
            <a:endParaRPr lang="en-US" sz="22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idea number"/>
          <p:cNvSpPr/>
          <p:nvPr/>
        </p:nvSpPr>
        <p:spPr>
          <a:xfrm>
            <a:off x="731520" y="2377440"/>
            <a:ext cx="1737360" cy="1737360"/>
          </a:xfrm>
          <a:prstGeom prst="ellipse">
            <a:avLst/>
          </a:prstGeom>
          <a:solidFill>
            <a:schemeClr val="accent2"/>
          </a:solidFill>
          <a:ln/>
        </p:spPr>
        <p:txBody>
          <a:bodyPr wrap="square" lIns="0" tIns="0" rIns="0" bIns="0" rtlCol="0" anchor="ctr"/>
          <a:lstStyle/>
          <a:p>
            <a:pPr algn="ctr" indent="0" marL="0">
              <a:buNone/>
            </a:pPr>
            <a:r>
              <a:rPr lang="en-US" sz="6600" b="1" dirty="0">
                <a:solidFill>
                  <a:schemeClr val="tx2"/>
                </a:solidFill>
              </a:rPr>
              <a:t>4</a:t>
            </a:r>
            <a:endParaRPr lang="en-US" sz="6600" dirty="0"/>
          </a:p>
        </p:txBody>
      </p:sp>
      <p:sp>
        <p:nvSpPr>
          <p:cNvPr id="3" name="Text 1"/>
          <p:cNvSpPr txBox="1"/>
          <p:nvPr/>
        </p:nvSpPr>
        <p:spPr>
          <a:xfrm>
            <a:off x="2834640" y="2011680"/>
            <a:ext cx="8229600" cy="365760"/>
          </a:xfrm>
          <a:prstGeom prst="rect">
            <a:avLst/>
          </a:prstGeom>
          <a:noFill/>
          <a:ln/>
        </p:spPr>
        <p:txBody>
          <a:bodyPr wrap="square" lIns="0" tIns="0" rIns="0" bIns="0" rtlCol="0" anchor="ctr"/>
          <a:lstStyle/>
          <a:p>
            <a:pPr indent="0" marL="0">
              <a:buNone/>
            </a:pPr>
            <a:r>
              <a:rPr lang="en-US" sz="1600" b="1" spc="200" kern="0" dirty="0">
                <a:solidFill>
                  <a:srgbClr val="B45309"/>
                </a:solidFill>
              </a:rPr>
              <a:t>PART 4 OF 7 · LESSON 3, IDEA 1   ·   about 12 minutes</a:t>
            </a:r>
            <a:endParaRPr lang="en-US" sz="1600" dirty="0"/>
          </a:p>
        </p:txBody>
      </p:sp>
      <p:sp>
        <p:nvSpPr>
          <p:cNvPr id="4" name="Text 0"/>
          <p:cNvSpPr/>
          <p:nvPr>
            <p:ph idx="100" type="title" hasCustomPrompt="1"/>
          </p:nvPr>
        </p:nvSpPr>
        <p:spPr>
          <a:xfrm>
            <a:off x="2834640" y="2514600"/>
            <a:ext cx="8778240" cy="1371600"/>
          </a:xfrm>
          <a:prstGeom prst="rect">
            <a:avLst/>
          </a:prstGeom>
          <a:noFill/>
          <a:ln/>
        </p:spPr>
        <p:txBody>
          <a:bodyPr wrap="square" lIns="0" tIns="0" rIns="0" bIns="0" rtlCol="0" anchor="t"/>
          <a:lstStyle/>
          <a:p>
            <a:pPr algn="l" indent="0" marL="0">
              <a:buNone/>
            </a:pPr>
            <a:r>
              <a:rPr lang="en-US" sz="4000" b="1" dirty="0">
                <a:solidFill>
                  <a:schemeClr val="tx1"/>
                </a:solidFill>
              </a:rPr>
              <a:t>The sign × means "groups of": a whole number times a fraction</a:t>
            </a:r>
            <a:endParaRPr lang="en-US" sz="4000" dirty="0"/>
          </a:p>
        </p:txBody>
      </p:sp>
      <p:sp>
        <p:nvSpPr>
          <p:cNvPr id="5" name="Text 0"/>
          <p:cNvSpPr/>
          <p:nvPr>
            <p:ph idx="101" type="body" hasCustomPrompt="1"/>
          </p:nvPr>
        </p:nvSpPr>
        <p:spPr>
          <a:xfrm>
            <a:off x="2834640" y="3931920"/>
            <a:ext cx="8778240" cy="1280160"/>
          </a:xfrm>
          <a:prstGeom prst="rect">
            <a:avLst/>
          </a:prstGeom>
          <a:noFill/>
          <a:ln/>
        </p:spPr>
        <p:txBody>
          <a:bodyPr wrap="square" lIns="0" tIns="0" rIns="0" bIns="0" rtlCol="0" anchor="t"/>
          <a:lstStyle/>
          <a:p>
            <a:pPr algn="l" indent="0" marL="0">
              <a:buNone/>
            </a:pPr>
            <a:r>
              <a:rPr lang="en-US" sz="2400" dirty="0">
                <a:solidFill>
                  <a:srgbClr val="4B5563"/>
                </a:solidFill>
              </a:rPr>
              <a:t>Multiply the top only</a:t>
            </a:r>
            <a:endParaRPr lang="en-US" sz="24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3 × 1/4 means 3 groups of a quarter</a:t>
            </a:r>
            <a:endParaRPr lang="en-US" sz="3000" dirty="0"/>
          </a:p>
        </p:txBody>
      </p:sp>
      <p:sp>
        <p:nvSpPr>
          <p:cNvPr id="4" name="card"/>
          <p:cNvSpPr/>
          <p:nvPr/>
        </p:nvSpPr>
        <p:spPr>
          <a:xfrm>
            <a:off x="548640" y="1417320"/>
            <a:ext cx="11094415" cy="2409327"/>
          </a:xfrm>
          <a:prstGeom prst="roundRect">
            <a:avLst>
              <a:gd name="adj" fmla="val 5313"/>
            </a:avLst>
          </a:prstGeom>
          <a:solidFill>
            <a:srgbClr val="F1EAFB"/>
          </a:solidFill>
          <a:ln/>
        </p:spPr>
      </p:sp>
      <p:sp>
        <p:nvSpPr>
          <p:cNvPr id="5" name="Text 3"/>
          <p:cNvSpPr txBox="1"/>
          <p:nvPr/>
        </p:nvSpPr>
        <p:spPr>
          <a:xfrm>
            <a:off x="804672" y="1673352"/>
            <a:ext cx="10582351" cy="975360"/>
          </a:xfrm>
          <a:prstGeom prst="rect">
            <a:avLst/>
          </a:prstGeom>
          <a:noFill/>
          <a:ln/>
        </p:spPr>
        <p:txBody>
          <a:bodyPr wrap="square" lIns="0" tIns="0" rIns="0" bIns="0" rtlCol="0" anchor="t"/>
          <a:lstStyle/>
          <a:p>
            <a:pPr algn="l" indent="0" marL="0">
              <a:spcAft>
                <a:spcPts val="1200"/>
              </a:spcAft>
              <a:buNone/>
            </a:pPr>
            <a:r>
              <a:rPr lang="en-US" sz="2400" dirty="0">
                <a:solidFill>
                  <a:schemeClr val="tx1"/>
                </a:solidFill>
              </a:rPr>
              <a:t>Take a quarter of a pizza, three times.</a:t>
            </a:r>
            <a:endParaRPr lang="en-US" sz="2400" dirty="0"/>
          </a:p>
          <a:p>
            <a:pPr algn="l" indent="0" marL="0">
              <a:spcAft>
                <a:spcPts val="1200"/>
              </a:spcAft>
              <a:buNone/>
            </a:pPr>
            <a:r>
              <a:rPr lang="en-US" sz="2400" dirty="0">
                <a:solidFill>
                  <a:schemeClr val="tx1"/>
                </a:solidFill>
              </a:rPr>
              <a:t>Count the slices: 1 quarter + 1 quarter + 1 quarter = </a:t>
            </a:r>
            <a:pPr algn="l" indent="0" marL="0">
              <a:spcAft>
                <a:spcPts val="1200"/>
              </a:spcAft>
              <a:buNone/>
            </a:pPr>
            <a:r>
              <a:rPr lang="en-US" sz="2400" b="1" dirty="0">
                <a:solidFill>
                  <a:schemeClr val="tx1"/>
                </a:solidFill>
              </a:rPr>
              <a:t>3 quarters</a:t>
            </a:r>
            <a:pPr algn="l" indent="0" marL="0">
              <a:spcAft>
                <a:spcPts val="1200"/>
              </a:spcAft>
              <a:buNone/>
            </a:pPr>
            <a:r>
              <a:rPr lang="en-US" sz="2400" dirty="0">
                <a:solidFill>
                  <a:schemeClr val="tx1"/>
                </a:solidFill>
              </a:rPr>
              <a:t>.</a:t>
            </a:r>
            <a:endParaRPr lang="en-US" sz="2400" dirty="0"/>
          </a:p>
        </p:txBody>
      </p:sp>
      <p:pic>
        <p:nvPicPr>
          <p:cNvPr id="6" name="Image 0" descr="3 × 1/4 = 1/4 + 1/4 + 1/4 = 3/4">    </p:cNvPr>
          <p:cNvPicPr>
            <a:picLocks noChangeAspect="1"/>
          </p:cNvPicPr>
          <p:nvPr/>
        </p:nvPicPr>
        <p:blipFill>
          <a:blip r:embed="rId1"/>
          <a:stretch>
            <a:fillRect/>
          </a:stretch>
        </p:blipFill>
        <p:spPr>
          <a:xfrm>
            <a:off x="804672" y="2709672"/>
            <a:ext cx="3709650" cy="860943"/>
          </a:xfrm>
          <a:prstGeom prst="rect">
            <a:avLst/>
          </a:prstGeom>
        </p:spPr>
      </p:pic>
      <p:pic>
        <p:nvPicPr>
          <p:cNvPr id="7" name="Image 1" descr="fraction circles">    </p:cNvPr>
          <p:cNvPicPr>
            <a:picLocks noChangeAspect="1"/>
          </p:cNvPicPr>
          <p:nvPr/>
        </p:nvPicPr>
        <p:blipFill>
          <a:blip r:embed="rId2"/>
          <a:stretch>
            <a:fillRect/>
          </a:stretch>
        </p:blipFill>
        <p:spPr>
          <a:xfrm>
            <a:off x="2576252" y="4055247"/>
            <a:ext cx="7039192" cy="218096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nd label"/>
          <p:cNvSpPr/>
          <p:nvPr/>
        </p:nvSpPr>
        <p:spPr>
          <a:xfrm>
            <a:off x="548640" y="365760"/>
            <a:ext cx="1426453"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THE RULE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A whole number times a fraction: multiply the TOP only</a:t>
            </a:r>
            <a:endParaRPr lang="en-US" sz="3000" dirty="0"/>
          </a:p>
        </p:txBody>
      </p:sp>
      <p:sp>
        <p:nvSpPr>
          <p:cNvPr id="4" name="card"/>
          <p:cNvSpPr/>
          <p:nvPr/>
        </p:nvSpPr>
        <p:spPr>
          <a:xfrm>
            <a:off x="548640" y="1417320"/>
            <a:ext cx="11094415" cy="3578977"/>
          </a:xfrm>
          <a:prstGeom prst="roundRect">
            <a:avLst>
              <a:gd name="adj" fmla="val 3577"/>
            </a:avLst>
          </a:prstGeom>
          <a:solidFill>
            <a:srgbClr val="E3ECF8"/>
          </a:solidFill>
          <a:ln/>
        </p:spPr>
      </p:sp>
      <p:sp>
        <p:nvSpPr>
          <p:cNvPr id="5" name="Text 3"/>
          <p:cNvSpPr txBox="1"/>
          <p:nvPr/>
        </p:nvSpPr>
        <p:spPr>
          <a:xfrm>
            <a:off x="804672" y="1673352"/>
            <a:ext cx="10582351" cy="1976120"/>
          </a:xfrm>
          <a:prstGeom prst="rect">
            <a:avLst/>
          </a:prstGeom>
          <a:noFill/>
          <a:ln/>
        </p:spPr>
        <p:txBody>
          <a:bodyPr wrap="square" lIns="0" tIns="0" rIns="0" bIns="0" rtlCol="0" anchor="t"/>
          <a:lstStyle/>
          <a:p>
            <a:pPr algn="l" indent="0" marL="0">
              <a:spcAft>
                <a:spcPts val="1400"/>
              </a:spcAft>
              <a:buNone/>
            </a:pPr>
            <a:r>
              <a:rPr lang="en-US" sz="2800" dirty="0">
                <a:solidFill>
                  <a:schemeClr val="tx1"/>
                </a:solidFill>
              </a:rPr>
              <a:t>The </a:t>
            </a:r>
            <a:pPr algn="l" indent="0" marL="0">
              <a:spcAft>
                <a:spcPts val="1400"/>
              </a:spcAft>
              <a:buNone/>
            </a:pPr>
            <a:r>
              <a:rPr lang="en-US" sz="2800" b="1" dirty="0">
                <a:solidFill>
                  <a:schemeClr val="tx1"/>
                </a:solidFill>
              </a:rPr>
              <a:t>top</a:t>
            </a:r>
            <a:pPr algn="l" indent="0" marL="0">
              <a:spcAft>
                <a:spcPts val="1400"/>
              </a:spcAft>
              <a:buNone/>
            </a:pPr>
            <a:r>
              <a:rPr lang="en-US" sz="2800" dirty="0">
                <a:solidFill>
                  <a:schemeClr val="tx1"/>
                </a:solidFill>
              </a:rPr>
              <a:t> counts the slices. 3 groups of 1 slice is 3 slices. So </a:t>
            </a:r>
            <a:pPr algn="l" indent="0" marL="0">
              <a:spcAft>
                <a:spcPts val="1400"/>
              </a:spcAft>
              <a:buNone/>
            </a:pPr>
            <a:r>
              <a:rPr lang="en-US" sz="2800" b="1" dirty="0">
                <a:solidFill>
                  <a:schemeClr val="tx1"/>
                </a:solidFill>
              </a:rPr>
              <a:t>multiply the top</a:t>
            </a:r>
            <a:pPr algn="l" indent="0" marL="0">
              <a:spcAft>
                <a:spcPts val="1400"/>
              </a:spcAft>
              <a:buNone/>
            </a:pPr>
            <a:r>
              <a:rPr lang="en-US" sz="2800" dirty="0">
                <a:solidFill>
                  <a:schemeClr val="tx1"/>
                </a:solidFill>
              </a:rPr>
              <a:t> by the whole number.</a:t>
            </a:r>
            <a:endParaRPr lang="en-US" sz="2800" dirty="0"/>
          </a:p>
          <a:p>
            <a:pPr algn="l" indent="0" marL="0">
              <a:spcAft>
                <a:spcPts val="1400"/>
              </a:spcAft>
              <a:buNone/>
            </a:pPr>
            <a:r>
              <a:rPr lang="en-US" sz="2800" dirty="0">
                <a:solidFill>
                  <a:schemeClr val="tx1"/>
                </a:solidFill>
              </a:rPr>
              <a:t>The </a:t>
            </a:r>
            <a:pPr algn="l" indent="0" marL="0">
              <a:spcAft>
                <a:spcPts val="1400"/>
              </a:spcAft>
              <a:buNone/>
            </a:pPr>
            <a:r>
              <a:rPr lang="en-US" sz="2800" b="1" dirty="0">
                <a:solidFill>
                  <a:schemeClr val="tx1"/>
                </a:solidFill>
              </a:rPr>
              <a:t>bottom</a:t>
            </a:r>
            <a:pPr algn="l" indent="0" marL="0">
              <a:spcAft>
                <a:spcPts val="1400"/>
              </a:spcAft>
              <a:buNone/>
            </a:pPr>
            <a:r>
              <a:rPr lang="en-US" sz="2800" dirty="0">
                <a:solidFill>
                  <a:schemeClr val="tx1"/>
                </a:solidFill>
              </a:rPr>
              <a:t> says which slices they are: quarters. They are still quarters. So </a:t>
            </a:r>
            <a:pPr algn="l" indent="0" marL="0">
              <a:spcAft>
                <a:spcPts val="1400"/>
              </a:spcAft>
              <a:buNone/>
            </a:pPr>
            <a:r>
              <a:rPr lang="en-US" sz="2800" b="1" dirty="0">
                <a:solidFill>
                  <a:schemeClr val="tx1"/>
                </a:solidFill>
              </a:rPr>
              <a:t>the bottom stays the same</a:t>
            </a:r>
            <a:pPr algn="l" indent="0" marL="0">
              <a:spcAft>
                <a:spcPts val="1400"/>
              </a:spcAft>
              <a:buNone/>
            </a:pPr>
            <a:r>
              <a:rPr lang="en-US" sz="2800" dirty="0">
                <a:solidFill>
                  <a:schemeClr val="tx1"/>
                </a:solidFill>
              </a:rPr>
              <a:t>.</a:t>
            </a:r>
            <a:endParaRPr lang="en-US" sz="2800" dirty="0"/>
          </a:p>
        </p:txBody>
      </p:sp>
      <p:pic>
        <p:nvPicPr>
          <p:cNvPr id="6" name="Image 0" descr="3 × 1/4 = 3 × 1/4 = 3/4">    </p:cNvPr>
          <p:cNvPicPr>
            <a:picLocks noChangeAspect="1"/>
          </p:cNvPicPr>
          <p:nvPr/>
        </p:nvPicPr>
        <p:blipFill>
          <a:blip r:embed="rId1"/>
          <a:stretch>
            <a:fillRect/>
          </a:stretch>
        </p:blipFill>
        <p:spPr>
          <a:xfrm>
            <a:off x="804672" y="3735832"/>
            <a:ext cx="3426890" cy="1004433"/>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nd label"/>
          <p:cNvSpPr/>
          <p:nvPr/>
        </p:nvSpPr>
        <p:spPr>
          <a:xfrm>
            <a:off x="548640" y="365760"/>
            <a:ext cx="1371963" cy="329184"/>
          </a:xfrm>
          <a:prstGeom prst="roundRect">
            <a:avLst>
              <a:gd name="adj" fmla="val 50000"/>
            </a:avLst>
          </a:prstGeom>
          <a:solidFill>
            <a:srgbClr val="B45309"/>
          </a:solidFill>
          <a:ln/>
        </p:spPr>
        <p:txBody>
          <a:bodyPr wrap="square" lIns="0" tIns="0" rIns="0" bIns="0" rtlCol="0" anchor="ctr"/>
          <a:lstStyle/>
          <a:p>
            <a:pPr algn="ctr" indent="0" marL="0">
              <a:buNone/>
            </a:pPr>
            <a:r>
              <a:rPr lang="en-US" sz="1300" b="1" dirty="0">
                <a:solidFill>
                  <a:schemeClr val="bg1"/>
                </a:solidFill>
              </a:rPr>
              <a:t>CAREFUL</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Do NOT multiply the bottom as well</a:t>
            </a:r>
            <a:endParaRPr lang="en-US" sz="3000" dirty="0"/>
          </a:p>
        </p:txBody>
      </p:sp>
      <p:sp>
        <p:nvSpPr>
          <p:cNvPr id="4" name="card"/>
          <p:cNvSpPr/>
          <p:nvPr/>
        </p:nvSpPr>
        <p:spPr>
          <a:xfrm>
            <a:off x="548640" y="1417320"/>
            <a:ext cx="11094415" cy="2279904"/>
          </a:xfrm>
          <a:prstGeom prst="roundRect">
            <a:avLst>
              <a:gd name="adj" fmla="val 5615"/>
            </a:avLst>
          </a:prstGeom>
          <a:solidFill>
            <a:srgbClr val="FDF0D5"/>
          </a:solidFill>
          <a:ln/>
        </p:spPr>
      </p:sp>
      <p:sp>
        <p:nvSpPr>
          <p:cNvPr id="5" name="Text 3"/>
          <p:cNvSpPr txBox="1"/>
          <p:nvPr/>
        </p:nvSpPr>
        <p:spPr>
          <a:xfrm>
            <a:off x="804672" y="1673352"/>
            <a:ext cx="10582351" cy="1859280"/>
          </a:xfrm>
          <a:prstGeom prst="rect">
            <a:avLst/>
          </a:prstGeom>
          <a:noFill/>
          <a:ln/>
        </p:spPr>
        <p:txBody>
          <a:bodyPr wrap="square" lIns="0" tIns="0" rIns="0" bIns="0" rtlCol="0" anchor="t"/>
          <a:lstStyle/>
          <a:p>
            <a:pPr algn="l" indent="0" marL="0">
              <a:spcAft>
                <a:spcPts val="1200"/>
              </a:spcAft>
              <a:buNone/>
            </a:pPr>
            <a:r>
              <a:rPr lang="en-US" sz="2400" dirty="0">
                <a:solidFill>
                  <a:schemeClr val="tx1"/>
                </a:solidFill>
              </a:rPr>
              <a:t>If you multiply the top AND the bottom by 3, you get 3/12.</a:t>
            </a:r>
            <a:endParaRPr lang="en-US" sz="2400" dirty="0"/>
          </a:p>
          <a:p>
            <a:pPr algn="l" indent="0" marL="0">
              <a:spcAft>
                <a:spcPts val="1200"/>
              </a:spcAft>
              <a:buNone/>
            </a:pPr>
            <a:r>
              <a:rPr lang="en-US" sz="2400" dirty="0">
                <a:solidFill>
                  <a:schemeClr val="tx1"/>
                </a:solidFill>
              </a:rPr>
              <a:t>3/12 simplifies back to 1/4. The amount has not changed at all. (That is the golden rule.)</a:t>
            </a:r>
            <a:endParaRPr lang="en-US" sz="2400" dirty="0"/>
          </a:p>
          <a:p>
            <a:pPr algn="l" indent="0" marL="0">
              <a:spcAft>
                <a:spcPts val="1200"/>
              </a:spcAft>
              <a:buNone/>
            </a:pPr>
            <a:r>
              <a:rPr lang="en-US" sz="2400" dirty="0">
                <a:solidFill>
                  <a:schemeClr val="tx1"/>
                </a:solidFill>
              </a:rPr>
              <a:t>Three groups of a quarter must be MORE than one quarter.</a:t>
            </a:r>
            <a:endParaRPr lang="en-US" sz="2400" dirty="0"/>
          </a:p>
        </p:txBody>
      </p:sp>
      <p:pic>
        <p:nvPicPr>
          <p:cNvPr id="6" name="Image 0" descr="a wrong way and the right way">    </p:cNvPr>
          <p:cNvPicPr>
            <a:picLocks noChangeAspect="1"/>
          </p:cNvPicPr>
          <p:nvPr/>
        </p:nvPicPr>
        <p:blipFill>
          <a:blip r:embed="rId1"/>
          <a:stretch>
            <a:fillRect/>
          </a:stretch>
        </p:blipFill>
        <p:spPr>
          <a:xfrm>
            <a:off x="1545091" y="3925824"/>
            <a:ext cx="9101513" cy="231038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3: 6 groups of two thirds (Lesson 3, Example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6 × 2/3">    </p:cNvPr>
          <p:cNvPicPr>
            <a:picLocks noChangeAspect="1"/>
          </p:cNvPicPr>
          <p:nvPr/>
        </p:nvPicPr>
        <p:blipFill>
          <a:blip r:embed="rId1"/>
          <a:stretch>
            <a:fillRect/>
          </a:stretch>
        </p:blipFill>
        <p:spPr>
          <a:xfrm>
            <a:off x="2374509" y="1600200"/>
            <a:ext cx="1072896"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1 OF 4</a:t>
            </a:r>
            <a:endParaRPr lang="en-US" sz="1400" dirty="0"/>
          </a:p>
        </p:txBody>
      </p:sp>
      <p:sp>
        <p:nvSpPr>
          <p:cNvPr id="9" name="Text 6"/>
          <p:cNvSpPr txBox="1"/>
          <p:nvPr/>
        </p:nvSpPr>
        <p:spPr>
          <a:xfrm>
            <a:off x="548640" y="3681984"/>
            <a:ext cx="4754880" cy="1658112"/>
          </a:xfrm>
          <a:prstGeom prst="rect">
            <a:avLst/>
          </a:prstGeom>
          <a:noFill/>
          <a:ln/>
        </p:spPr>
        <p:txBody>
          <a:bodyPr wrap="square" lIns="0" tIns="0" rIns="0" bIns="0" rtlCol="0" anchor="t"/>
          <a:lstStyle/>
          <a:p>
            <a:pPr algn="l" indent="0" marL="0">
              <a:buNone/>
            </a:pPr>
            <a:r>
              <a:rPr lang="en-US" sz="2600" b="1" dirty="0">
                <a:solidFill>
                  <a:schemeClr val="tx1"/>
                </a:solidFill>
              </a:rPr>
              <a:t>Read the question out loud: "6 times two thirds". It means 6 groups of two thirds of a pizza.</a:t>
            </a:r>
            <a:endParaRPr lang="en-US" sz="2600" dirty="0"/>
          </a:p>
        </p:txBody>
      </p:sp>
      <p:sp>
        <p:nvSpPr>
          <p:cNvPr id="10" name="Text 7"/>
          <p:cNvSpPr txBox="1"/>
          <p:nvPr/>
        </p:nvSpPr>
        <p:spPr>
          <a:xfrm>
            <a:off x="548640" y="5504688"/>
            <a:ext cx="4754880" cy="6827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Saying it in words first tells you what to expect: many slices.</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fraction circles">    </p:cNvPr>
          <p:cNvPicPr>
            <a:picLocks noChangeAspect="1"/>
          </p:cNvPicPr>
          <p:nvPr/>
        </p:nvPicPr>
        <p:blipFill>
          <a:blip r:embed="rId2"/>
          <a:stretch>
            <a:fillRect/>
          </a:stretch>
        </p:blipFill>
        <p:spPr>
          <a:xfrm>
            <a:off x="6385846" y="3133344"/>
            <a:ext cx="4449203" cy="287426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3: 6 groups of two thirds (Lesson 3, Example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6 × 2/3">    </p:cNvPr>
          <p:cNvPicPr>
            <a:picLocks noChangeAspect="1"/>
          </p:cNvPicPr>
          <p:nvPr/>
        </p:nvPicPr>
        <p:blipFill>
          <a:blip r:embed="rId1"/>
          <a:stretch>
            <a:fillRect/>
          </a:stretch>
        </p:blipFill>
        <p:spPr>
          <a:xfrm>
            <a:off x="2374509" y="1600200"/>
            <a:ext cx="1072896"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2 OF 4</a:t>
            </a:r>
            <a:endParaRPr lang="en-US" sz="1400" dirty="0"/>
          </a:p>
        </p:txBody>
      </p:sp>
      <p:sp>
        <p:nvSpPr>
          <p:cNvPr id="9" name="Text 6"/>
          <p:cNvSpPr txBox="1"/>
          <p:nvPr/>
        </p:nvSpPr>
        <p:spPr>
          <a:xfrm>
            <a:off x="548640" y="3681984"/>
            <a:ext cx="4754880" cy="1170432"/>
          </a:xfrm>
          <a:prstGeom prst="rect">
            <a:avLst/>
          </a:prstGeom>
          <a:noFill/>
          <a:ln/>
        </p:spPr>
        <p:txBody>
          <a:bodyPr wrap="square" lIns="0" tIns="0" rIns="0" bIns="0" rtlCol="0" anchor="t"/>
          <a:lstStyle/>
          <a:p>
            <a:pPr algn="l" indent="0" marL="0">
              <a:buNone/>
            </a:pPr>
            <a:r>
              <a:rPr lang="en-US" sz="2400" b="1" dirty="0">
                <a:solidFill>
                  <a:schemeClr val="tx1"/>
                </a:solidFill>
              </a:rPr>
              <a:t>Multiply the TOP by the whole number: 6 × 2 = 12. That is how many slices there are.</a:t>
            </a:r>
            <a:endParaRPr lang="en-US" sz="2400" dirty="0"/>
          </a:p>
        </p:txBody>
      </p:sp>
      <p:sp>
        <p:nvSpPr>
          <p:cNvPr id="10" name="Text 7"/>
          <p:cNvSpPr txBox="1"/>
          <p:nvPr/>
        </p:nvSpPr>
        <p:spPr>
          <a:xfrm>
            <a:off x="548640" y="5017008"/>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Each group has 2 slices and there are 6 groups: 2 + 2 + 2 + 2 + 2 + 2 = 12.</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6 × 2 = 12">    </p:cNvPr>
          <p:cNvPicPr>
            <a:picLocks noChangeAspect="1"/>
          </p:cNvPicPr>
          <p:nvPr/>
        </p:nvPicPr>
        <p:blipFill>
          <a:blip r:embed="rId2"/>
          <a:stretch>
            <a:fillRect/>
          </a:stretch>
        </p:blipFill>
        <p:spPr>
          <a:xfrm>
            <a:off x="7364066" y="4215634"/>
            <a:ext cx="2492764" cy="70968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3: 6 groups of two thirds (Lesson 3, Example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6 × 2/3">    </p:cNvPr>
          <p:cNvPicPr>
            <a:picLocks noChangeAspect="1"/>
          </p:cNvPicPr>
          <p:nvPr/>
        </p:nvPicPr>
        <p:blipFill>
          <a:blip r:embed="rId1"/>
          <a:stretch>
            <a:fillRect/>
          </a:stretch>
        </p:blipFill>
        <p:spPr>
          <a:xfrm>
            <a:off x="2374509" y="1600200"/>
            <a:ext cx="1072896"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3 OF 4</a:t>
            </a:r>
            <a:endParaRPr lang="en-US" sz="1400" dirty="0"/>
          </a:p>
        </p:txBody>
      </p:sp>
      <p:sp>
        <p:nvSpPr>
          <p:cNvPr id="9" name="Text 6"/>
          <p:cNvSpPr txBox="1"/>
          <p:nvPr/>
        </p:nvSpPr>
        <p:spPr>
          <a:xfrm>
            <a:off x="548640" y="3681984"/>
            <a:ext cx="4754880" cy="1261872"/>
          </a:xfrm>
          <a:prstGeom prst="rect">
            <a:avLst/>
          </a:prstGeom>
          <a:noFill/>
          <a:ln/>
        </p:spPr>
        <p:txBody>
          <a:bodyPr wrap="square" lIns="0" tIns="0" rIns="0" bIns="0" rtlCol="0" anchor="t"/>
          <a:lstStyle/>
          <a:p>
            <a:pPr algn="l" indent="0" marL="0">
              <a:buNone/>
            </a:pPr>
            <a:r>
              <a:rPr lang="en-US" sz="2600" b="1" dirty="0">
                <a:solidFill>
                  <a:schemeClr val="tx1"/>
                </a:solidFill>
              </a:rPr>
              <a:t>The bottom stays 3, because every slice is still a third. Write 12 over 3.</a:t>
            </a:r>
            <a:endParaRPr lang="en-US" sz="2600" dirty="0"/>
          </a:p>
        </p:txBody>
      </p:sp>
      <p:sp>
        <p:nvSpPr>
          <p:cNvPr id="10" name="Text 7"/>
          <p:cNvSpPr txBox="1"/>
          <p:nvPr/>
        </p:nvSpPr>
        <p:spPr>
          <a:xfrm>
            <a:off x="548640" y="5108448"/>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Multiplying changes HOW MANY slices you have. It does not change the size of the slices.</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6 × 2/3 = 6 × 2/3 = 12/3">    </p:cNvPr>
          <p:cNvPicPr>
            <a:picLocks noChangeAspect="1"/>
          </p:cNvPicPr>
          <p:nvPr/>
        </p:nvPicPr>
        <p:blipFill>
          <a:blip r:embed="rId2"/>
          <a:stretch>
            <a:fillRect/>
          </a:stretch>
        </p:blipFill>
        <p:spPr>
          <a:xfrm>
            <a:off x="6250750" y="3927325"/>
            <a:ext cx="4719396" cy="128630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3: 6 groups of two thirds (Lesson 3, Example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6 × 2/3">    </p:cNvPr>
          <p:cNvPicPr>
            <a:picLocks noChangeAspect="1"/>
          </p:cNvPicPr>
          <p:nvPr/>
        </p:nvPicPr>
        <p:blipFill>
          <a:blip r:embed="rId1"/>
          <a:stretch>
            <a:fillRect/>
          </a:stretch>
        </p:blipFill>
        <p:spPr>
          <a:xfrm>
            <a:off x="2374509" y="1600200"/>
            <a:ext cx="1072896"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4 OF 4</a:t>
            </a:r>
            <a:endParaRPr lang="en-US" sz="1400" dirty="0"/>
          </a:p>
        </p:txBody>
      </p:sp>
      <p:sp>
        <p:nvSpPr>
          <p:cNvPr id="9" name="Text 6"/>
          <p:cNvSpPr txBox="1"/>
          <p:nvPr/>
        </p:nvSpPr>
        <p:spPr>
          <a:xfrm>
            <a:off x="548640" y="3681984"/>
            <a:ext cx="4754880" cy="1597152"/>
          </a:xfrm>
          <a:prstGeom prst="rect">
            <a:avLst/>
          </a:prstGeom>
          <a:noFill/>
          <a:ln/>
        </p:spPr>
        <p:txBody>
          <a:bodyPr wrap="square" lIns="0" tIns="0" rIns="0" bIns="0" rtlCol="0" anchor="t"/>
          <a:lstStyle/>
          <a:p>
            <a:pPr algn="l" indent="0" marL="0">
              <a:buNone/>
            </a:pPr>
            <a:r>
              <a:rPr lang="en-US" sz="2000" b="1" dirty="0">
                <a:solidFill>
                  <a:schemeClr val="tx1"/>
                </a:solidFill>
              </a:rPr>
              <a:t>The top (12) is bigger than the bottom (3), so there are whole pizzas inside. Divide the top by the bottom: how many 3s fit into 12? Four 3s make 12 exactly. Nothing is left over.</a:t>
            </a:r>
            <a:endParaRPr lang="en-US" sz="2000" dirty="0"/>
          </a:p>
        </p:txBody>
      </p:sp>
      <p:sp>
        <p:nvSpPr>
          <p:cNvPr id="10" name="Text 7"/>
          <p:cNvSpPr txBox="1"/>
          <p:nvPr/>
        </p:nvSpPr>
        <p:spPr>
          <a:xfrm>
            <a:off x="548640" y="5443728"/>
            <a:ext cx="4754880" cy="560832"/>
          </a:xfrm>
          <a:prstGeom prst="rect">
            <a:avLst/>
          </a:prstGeom>
          <a:noFill/>
          <a:ln/>
        </p:spPr>
        <p:txBody>
          <a:bodyPr wrap="square" lIns="0" tIns="0" rIns="0" bIns="0" rtlCol="0" anchor="t"/>
          <a:lstStyle/>
          <a:p>
            <a:pPr algn="l" indent="0" marL="0">
              <a:buNone/>
            </a:pPr>
            <a:r>
              <a:rPr lang="en-US" sz="1600" b="1" dirty="0">
                <a:solidFill>
                  <a:srgbClr val="4B5563"/>
                </a:solidFill>
              </a:rPr>
              <a:t>Why?</a:t>
            </a:r>
            <a:pPr algn="l" indent="0" marL="0">
              <a:buNone/>
            </a:pPr>
            <a:r>
              <a:rPr lang="en-US" sz="1600" dirty="0">
                <a:solidFill>
                  <a:srgbClr val="4B5563"/>
                </a:solidFill>
              </a:rPr>
              <a:t> Every 3 thirds make one whole pizza. 12 thirds make 4 whole pizzas.</a:t>
            </a:r>
            <a:endParaRPr lang="en-US" sz="16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fraction circles">    </p:cNvPr>
          <p:cNvPicPr>
            <a:picLocks noChangeAspect="1"/>
          </p:cNvPicPr>
          <p:nvPr/>
        </p:nvPicPr>
        <p:blipFill>
          <a:blip r:embed="rId2"/>
          <a:stretch>
            <a:fillRect/>
          </a:stretch>
        </p:blipFill>
        <p:spPr>
          <a:xfrm>
            <a:off x="5852160" y="3593065"/>
            <a:ext cx="5516575" cy="1954822"/>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3: 6 groups of two thirds (Lesson 3, Example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6 × 2/3">    </p:cNvPr>
          <p:cNvPicPr>
            <a:picLocks noChangeAspect="1"/>
          </p:cNvPicPr>
          <p:nvPr/>
        </p:nvPicPr>
        <p:blipFill>
          <a:blip r:embed="rId1"/>
          <a:stretch>
            <a:fillRect/>
          </a:stretch>
        </p:blipFill>
        <p:spPr>
          <a:xfrm>
            <a:off x="2374509" y="1600200"/>
            <a:ext cx="1072896"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4 OF 4</a:t>
            </a:r>
            <a:endParaRPr lang="en-US" sz="1400" dirty="0"/>
          </a:p>
        </p:txBody>
      </p:sp>
      <p:sp>
        <p:nvSpPr>
          <p:cNvPr id="9" name="Text 6"/>
          <p:cNvSpPr txBox="1"/>
          <p:nvPr/>
        </p:nvSpPr>
        <p:spPr>
          <a:xfrm>
            <a:off x="548640" y="3681984"/>
            <a:ext cx="4754880" cy="1597152"/>
          </a:xfrm>
          <a:prstGeom prst="rect">
            <a:avLst/>
          </a:prstGeom>
          <a:noFill/>
          <a:ln/>
        </p:spPr>
        <p:txBody>
          <a:bodyPr wrap="square" lIns="0" tIns="0" rIns="0" bIns="0" rtlCol="0" anchor="t"/>
          <a:lstStyle/>
          <a:p>
            <a:pPr algn="l" indent="0" marL="0">
              <a:buNone/>
            </a:pPr>
            <a:r>
              <a:rPr lang="en-US" sz="2000" b="1" dirty="0">
                <a:solidFill>
                  <a:schemeClr val="tx1"/>
                </a:solidFill>
              </a:rPr>
              <a:t>The top (12) is bigger than the bottom (3), so there are whole pizzas inside. Divide the top by the bottom: how many 3s fit into 12? Four 3s make 12 exactly. Nothing is left over.</a:t>
            </a:r>
            <a:endParaRPr lang="en-US" sz="2000" dirty="0"/>
          </a:p>
        </p:txBody>
      </p:sp>
      <p:sp>
        <p:nvSpPr>
          <p:cNvPr id="10" name="Text 7"/>
          <p:cNvSpPr txBox="1"/>
          <p:nvPr/>
        </p:nvSpPr>
        <p:spPr>
          <a:xfrm>
            <a:off x="548640" y="5443728"/>
            <a:ext cx="4754880" cy="560832"/>
          </a:xfrm>
          <a:prstGeom prst="rect">
            <a:avLst/>
          </a:prstGeom>
          <a:noFill/>
          <a:ln/>
        </p:spPr>
        <p:txBody>
          <a:bodyPr wrap="square" lIns="0" tIns="0" rIns="0" bIns="0" rtlCol="0" anchor="t"/>
          <a:lstStyle/>
          <a:p>
            <a:pPr algn="l" indent="0" marL="0">
              <a:buNone/>
            </a:pPr>
            <a:r>
              <a:rPr lang="en-US" sz="1600" b="1" dirty="0">
                <a:solidFill>
                  <a:srgbClr val="4B5563"/>
                </a:solidFill>
              </a:rPr>
              <a:t>Why?</a:t>
            </a:r>
            <a:pPr algn="l" indent="0" marL="0">
              <a:buNone/>
            </a:pPr>
            <a:r>
              <a:rPr lang="en-US" sz="1600" dirty="0">
                <a:solidFill>
                  <a:srgbClr val="4B5563"/>
                </a:solidFill>
              </a:rPr>
              <a:t> Every 3 thirds make one whole pizza. 12 thirds make 4 whole pizzas.</a:t>
            </a:r>
            <a:endParaRPr lang="en-US" sz="16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12 ÷ 3 = 4; 12/3 = 4">    </p:cNvPr>
          <p:cNvPicPr>
            <a:picLocks noChangeAspect="1"/>
          </p:cNvPicPr>
          <p:nvPr/>
        </p:nvPicPr>
        <p:blipFill>
          <a:blip r:embed="rId2"/>
          <a:stretch>
            <a:fillRect/>
          </a:stretch>
        </p:blipFill>
        <p:spPr>
          <a:xfrm>
            <a:off x="7372937" y="3572483"/>
            <a:ext cx="2475021" cy="1995985"/>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kind label"/>
          <p:cNvSpPr/>
          <p:nvPr/>
        </p:nvSpPr>
        <p:spPr>
          <a:xfrm>
            <a:off x="548640" y="365760"/>
            <a:ext cx="1317473"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ANSWER</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3: 6 groups of two thirds (Lesson 3, Example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6 × 2/3">    </p:cNvPr>
          <p:cNvPicPr>
            <a:picLocks noChangeAspect="1"/>
          </p:cNvPicPr>
          <p:nvPr/>
        </p:nvPicPr>
        <p:blipFill>
          <a:blip r:embed="rId1"/>
          <a:stretch>
            <a:fillRect/>
          </a:stretch>
        </p:blipFill>
        <p:spPr>
          <a:xfrm>
            <a:off x="2374509" y="1600200"/>
            <a:ext cx="1072896" cy="938784"/>
          </a:xfrm>
          <a:prstGeom prst="rect">
            <a:avLst/>
          </a:prstGeom>
        </p:spPr>
      </p:pic>
      <p:sp>
        <p:nvSpPr>
          <p:cNvPr id="7" name="answer"/>
          <p:cNvSpPr/>
          <p:nvPr/>
        </p:nvSpPr>
        <p:spPr>
          <a:xfrm>
            <a:off x="548640" y="2904744"/>
            <a:ext cx="4754880" cy="2797233"/>
          </a:xfrm>
          <a:prstGeom prst="roundRect">
            <a:avLst>
              <a:gd name="adj" fmla="val 4577"/>
            </a:avLst>
          </a:prstGeom>
          <a:solidFill>
            <a:srgbClr val="E3F2E5"/>
          </a:solidFill>
          <a:ln/>
        </p:spPr>
      </p:sp>
      <p:sp>
        <p:nvSpPr>
          <p:cNvPr id="8" name="Text 5"/>
          <p:cNvSpPr txBox="1"/>
          <p:nvPr/>
        </p:nvSpPr>
        <p:spPr>
          <a:xfrm>
            <a:off x="777240" y="3069336"/>
            <a:ext cx="1828800"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9" name="Image 1" descr="4">    </p:cNvPr>
          <p:cNvPicPr>
            <a:picLocks noChangeAspect="1"/>
          </p:cNvPicPr>
          <p:nvPr/>
        </p:nvPicPr>
        <p:blipFill>
          <a:blip r:embed="rId2"/>
          <a:stretch>
            <a:fillRect/>
          </a:stretch>
        </p:blipFill>
        <p:spPr>
          <a:xfrm>
            <a:off x="777240" y="3416808"/>
            <a:ext cx="448887" cy="739833"/>
          </a:xfrm>
          <a:prstGeom prst="rect">
            <a:avLst/>
          </a:prstGeom>
        </p:spPr>
      </p:pic>
      <p:sp>
        <p:nvSpPr>
          <p:cNvPr id="10" name="Text 6"/>
          <p:cNvSpPr txBox="1"/>
          <p:nvPr/>
        </p:nvSpPr>
        <p:spPr>
          <a:xfrm>
            <a:off x="777240" y="4248081"/>
            <a:ext cx="4297680" cy="1170432"/>
          </a:xfrm>
          <a:prstGeom prst="rect">
            <a:avLst/>
          </a:prstGeom>
          <a:noFill/>
          <a:ln/>
        </p:spPr>
        <p:txBody>
          <a:bodyPr wrap="square" lIns="0" tIns="0" rIns="0" bIns="0" rtlCol="0" anchor="t"/>
          <a:lstStyle/>
          <a:p>
            <a:pPr algn="l" indent="0" marL="0">
              <a:buNone/>
            </a:pPr>
            <a:r>
              <a:rPr lang="en-US" sz="1800" b="1" dirty="0">
                <a:solidFill>
                  <a:srgbClr val="4B5563"/>
                </a:solidFill>
              </a:rPr>
              <a:t>Check:</a:t>
            </a:r>
            <a:pPr algn="l" indent="0" marL="0">
              <a:buNone/>
            </a:pPr>
            <a:r>
              <a:rPr lang="en-US" sz="1800" dirty="0">
                <a:solidFill>
                  <a:srgbClr val="4B5563"/>
                </a:solidFill>
              </a:rPr>
              <a:t> Two thirds is a little more than half a pizza. Six halves would be 3 pizzas. So the answer should be a little more than 3 ✓</a:t>
            </a:r>
            <a:endParaRPr lang="en-US" sz="18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sp>
        <p:nvSpPr>
          <p:cNvPr id="12" name="Text 8"/>
          <p:cNvSpPr txBox="1"/>
          <p:nvPr/>
        </p:nvSpPr>
        <p:spPr>
          <a:xfrm>
            <a:off x="5852160" y="3051048"/>
            <a:ext cx="5516575" cy="256032"/>
          </a:xfrm>
          <a:prstGeom prst="rect">
            <a:avLst/>
          </a:prstGeom>
          <a:noFill/>
          <a:ln/>
        </p:spPr>
        <p:txBody>
          <a:bodyPr wrap="square" lIns="0" tIns="0" rIns="0" bIns="0" rtlCol="0" anchor="t"/>
          <a:lstStyle/>
          <a:p>
            <a:pPr algn="l" indent="0" marL="0">
              <a:buNone/>
            </a:pPr>
            <a:r>
              <a:rPr lang="en-US" sz="1200" b="1" dirty="0">
                <a:solidFill>
                  <a:srgbClr val="6B7280"/>
                </a:solidFill>
              </a:rPr>
              <a:t>HOW IT LOOKS ON YOUR PAGE</a:t>
            </a:r>
            <a:endParaRPr lang="en-US" sz="1200" dirty="0"/>
          </a:p>
        </p:txBody>
      </p:sp>
      <p:pic>
        <p:nvPicPr>
          <p:cNvPr id="13" name="Image 2" descr="the whole working">    </p:cNvPr>
          <p:cNvPicPr>
            <a:picLocks noChangeAspect="1"/>
          </p:cNvPicPr>
          <p:nvPr/>
        </p:nvPicPr>
        <p:blipFill>
          <a:blip r:embed="rId3"/>
          <a:stretch>
            <a:fillRect/>
          </a:stretch>
        </p:blipFill>
        <p:spPr>
          <a:xfrm>
            <a:off x="5852160" y="3361944"/>
            <a:ext cx="3132677" cy="264566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Fill in the blanks: 4 × 2/5</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Type only the three missing numbers, in order.</a:t>
            </a:r>
            <a:endParaRPr lang="en-US" sz="2800" dirty="0"/>
          </a:p>
        </p:txBody>
      </p:sp>
      <p:pic>
        <p:nvPicPr>
          <p:cNvPr id="5" name="Image 0" descr="4 × 2/5 = ? × 2/5 = ?/5 = 1_?/5">    </p:cNvPr>
          <p:cNvPicPr>
            <a:picLocks noChangeAspect="1"/>
          </p:cNvPicPr>
          <p:nvPr/>
        </p:nvPicPr>
        <p:blipFill>
          <a:blip r:embed="rId1"/>
          <a:stretch>
            <a:fillRect/>
          </a:stretch>
        </p:blipFill>
        <p:spPr>
          <a:xfrm>
            <a:off x="548640" y="2526792"/>
            <a:ext cx="5054803"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FFFFFF"/>
          </a:solidFill>
          <a:ln w="15875">
            <a:solidFill>
              <a:srgbClr val="D1D5DB"/>
            </a:solidFill>
            <a:prstDash val="solid"/>
          </a:ln>
        </p:spPr>
      </p:sp>
      <p:sp>
        <p:nvSpPr>
          <p:cNvPr id="7" name="Text 4"/>
          <p:cNvSpPr txBox="1"/>
          <p:nvPr/>
        </p:nvSpPr>
        <p:spPr>
          <a:xfrm>
            <a:off x="7543800" y="2638044"/>
            <a:ext cx="4099255" cy="1463040"/>
          </a:xfrm>
          <a:prstGeom prst="rect">
            <a:avLst/>
          </a:prstGeom>
          <a:noFill/>
          <a:ln/>
        </p:spPr>
        <p:txBody>
          <a:bodyPr wrap="square" lIns="0" tIns="0" rIns="0" bIns="0" rtlCol="0" anchor="ctr"/>
          <a:lstStyle/>
          <a:p>
            <a:pPr algn="ctr" indent="0" marL="0">
              <a:buNone/>
            </a:pPr>
            <a:r>
              <a:rPr lang="en-US" sz="9600" b="1" dirty="0">
                <a:solidFill>
                  <a:srgbClr val="D1D5DB"/>
                </a:solidFill>
              </a:rPr>
              <a:t>?</a:t>
            </a:r>
            <a:endParaRPr lang="en-US" sz="9600" dirty="0"/>
          </a:p>
        </p:txBody>
      </p:sp>
      <p:sp>
        <p:nvSpPr>
          <p:cNvPr id="8" name="Text 5"/>
          <p:cNvSpPr txBox="1"/>
          <p:nvPr/>
        </p:nvSpPr>
        <p:spPr>
          <a:xfrm>
            <a:off x="7818120" y="4283964"/>
            <a:ext cx="3550615" cy="682752"/>
          </a:xfrm>
          <a:prstGeom prst="rect">
            <a:avLst/>
          </a:prstGeom>
          <a:noFill/>
          <a:ln/>
        </p:spPr>
        <p:txBody>
          <a:bodyPr wrap="square" lIns="0" tIns="0" rIns="0" bIns="0" rtlCol="0" anchor="t"/>
          <a:lstStyle/>
          <a:p>
            <a:pPr algn="ctr" indent="0" marL="0">
              <a:buNone/>
            </a:pPr>
            <a:r>
              <a:rPr lang="en-US" sz="2000" b="1" dirty="0">
                <a:solidFill>
                  <a:srgbClr val="6B7280"/>
                </a:solidFill>
              </a:rPr>
              <a:t>Type your answer in the chat</a:t>
            </a:r>
            <a:endParaRPr lang="en-US" sz="20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Fill in the blanks: 4 × 2/5</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Type only the three missing numbers, in order.</a:t>
            </a:r>
            <a:endParaRPr lang="en-US" sz="2800" dirty="0"/>
          </a:p>
        </p:txBody>
      </p:sp>
      <p:pic>
        <p:nvPicPr>
          <p:cNvPr id="5" name="Image 0" descr="4 × 2/5 = ? × 2/5 = ?/5 = 1_?/5">    </p:cNvPr>
          <p:cNvPicPr>
            <a:picLocks noChangeAspect="1"/>
          </p:cNvPicPr>
          <p:nvPr/>
        </p:nvPicPr>
        <p:blipFill>
          <a:blip r:embed="rId1"/>
          <a:stretch>
            <a:fillRect/>
          </a:stretch>
        </p:blipFill>
        <p:spPr>
          <a:xfrm>
            <a:off x="548640" y="2526792"/>
            <a:ext cx="5054803"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E3F2E5"/>
          </a:solidFill>
          <a:ln/>
        </p:spPr>
      </p:sp>
      <p:sp>
        <p:nvSpPr>
          <p:cNvPr id="7" name="Text 4"/>
          <p:cNvSpPr txBox="1"/>
          <p:nvPr/>
        </p:nvSpPr>
        <p:spPr>
          <a:xfrm>
            <a:off x="7818120" y="1691640"/>
            <a:ext cx="3550615"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8" name="Image 1" descr="4 × 2/5 = 4 × 2/5 = 8/5 = 1 and 3/5">    </p:cNvPr>
          <p:cNvPicPr>
            <a:picLocks noChangeAspect="1"/>
          </p:cNvPicPr>
          <p:nvPr/>
        </p:nvPicPr>
        <p:blipFill>
          <a:blip r:embed="rId2"/>
          <a:stretch>
            <a:fillRect/>
          </a:stretch>
        </p:blipFill>
        <p:spPr>
          <a:xfrm>
            <a:off x="7818120" y="2115312"/>
            <a:ext cx="3550615" cy="791309"/>
          </a:xfrm>
          <a:prstGeom prst="rect">
            <a:avLst/>
          </a:prstGeom>
        </p:spPr>
      </p:pic>
      <p:sp>
        <p:nvSpPr>
          <p:cNvPr id="9" name="Text 5"/>
          <p:cNvSpPr txBox="1"/>
          <p:nvPr/>
        </p:nvSpPr>
        <p:spPr>
          <a:xfrm>
            <a:off x="7818120" y="3089501"/>
            <a:ext cx="3550615" cy="1749552"/>
          </a:xfrm>
          <a:prstGeom prst="rect">
            <a:avLst/>
          </a:prstGeom>
          <a:noFill/>
          <a:ln/>
        </p:spPr>
        <p:txBody>
          <a:bodyPr wrap="square" lIns="0" tIns="0" rIns="0" bIns="0" rtlCol="0" anchor="t"/>
          <a:lstStyle/>
          <a:p>
            <a:pPr algn="l" indent="0" marL="0">
              <a:buNone/>
            </a:pPr>
            <a:r>
              <a:rPr lang="en-US" sz="2200" dirty="0">
                <a:solidFill>
                  <a:schemeClr val="tx1"/>
                </a:solidFill>
              </a:rPr>
              <a:t>Multiply the top by the whole number: 4 × 2 = 8. The bottom stays 5. Then 8 ÷ 5 = 1 remainder 3: one whole and 3 fifths.</a:t>
            </a:r>
            <a:endParaRPr lang="en-US" sz="22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idea number"/>
          <p:cNvSpPr/>
          <p:nvPr/>
        </p:nvSpPr>
        <p:spPr>
          <a:xfrm>
            <a:off x="731520" y="2377440"/>
            <a:ext cx="1737360" cy="1737360"/>
          </a:xfrm>
          <a:prstGeom prst="ellipse">
            <a:avLst/>
          </a:prstGeom>
          <a:solidFill>
            <a:schemeClr val="accent2"/>
          </a:solidFill>
          <a:ln/>
        </p:spPr>
        <p:txBody>
          <a:bodyPr wrap="square" lIns="0" tIns="0" rIns="0" bIns="0" rtlCol="0" anchor="ctr"/>
          <a:lstStyle/>
          <a:p>
            <a:pPr algn="ctr" indent="0" marL="0">
              <a:buNone/>
            </a:pPr>
            <a:r>
              <a:rPr lang="en-US" sz="6600" b="1" dirty="0">
                <a:solidFill>
                  <a:schemeClr val="tx2"/>
                </a:solidFill>
              </a:rPr>
              <a:t>5</a:t>
            </a:r>
            <a:endParaRPr lang="en-US" sz="6600" dirty="0"/>
          </a:p>
        </p:txBody>
      </p:sp>
      <p:sp>
        <p:nvSpPr>
          <p:cNvPr id="3" name="Text 1"/>
          <p:cNvSpPr txBox="1"/>
          <p:nvPr/>
        </p:nvSpPr>
        <p:spPr>
          <a:xfrm>
            <a:off x="2834640" y="2011680"/>
            <a:ext cx="8229600" cy="365760"/>
          </a:xfrm>
          <a:prstGeom prst="rect">
            <a:avLst/>
          </a:prstGeom>
          <a:noFill/>
          <a:ln/>
        </p:spPr>
        <p:txBody>
          <a:bodyPr wrap="square" lIns="0" tIns="0" rIns="0" bIns="0" rtlCol="0" anchor="ctr"/>
          <a:lstStyle/>
          <a:p>
            <a:pPr indent="0" marL="0">
              <a:buNone/>
            </a:pPr>
            <a:r>
              <a:rPr lang="en-US" sz="1600" b="1" spc="200" kern="0" dirty="0">
                <a:solidFill>
                  <a:srgbClr val="B45309"/>
                </a:solidFill>
              </a:rPr>
              <a:t>PART 5 OF 7 · LESSON 3, IDEA 2   ·   about 13 minutes</a:t>
            </a:r>
            <a:endParaRPr lang="en-US" sz="1600" dirty="0"/>
          </a:p>
        </p:txBody>
      </p:sp>
      <p:sp>
        <p:nvSpPr>
          <p:cNvPr id="4" name="Text 0"/>
          <p:cNvSpPr/>
          <p:nvPr>
            <p:ph idx="100" type="title" hasCustomPrompt="1"/>
          </p:nvPr>
        </p:nvSpPr>
        <p:spPr>
          <a:xfrm>
            <a:off x="2834640" y="2514600"/>
            <a:ext cx="8778240" cy="1371600"/>
          </a:xfrm>
          <a:prstGeom prst="rect">
            <a:avLst/>
          </a:prstGeom>
          <a:noFill/>
          <a:ln/>
        </p:spPr>
        <p:txBody>
          <a:bodyPr wrap="square" lIns="0" tIns="0" rIns="0" bIns="0" rtlCol="0" anchor="t"/>
          <a:lstStyle/>
          <a:p>
            <a:pPr algn="l" indent="0" marL="0">
              <a:buNone/>
            </a:pPr>
            <a:r>
              <a:rPr lang="en-US" sz="4000" b="1" dirty="0">
                <a:solidFill>
                  <a:schemeClr val="tx1"/>
                </a:solidFill>
              </a:rPr>
              <a:t>A fraction OF something: "of" means ×</a:t>
            </a:r>
            <a:endParaRPr lang="en-US" sz="4000" dirty="0"/>
          </a:p>
        </p:txBody>
      </p:sp>
      <p:sp>
        <p:nvSpPr>
          <p:cNvPr id="5" name="Text 0"/>
          <p:cNvSpPr/>
          <p:nvPr>
            <p:ph idx="101" type="body" hasCustomPrompt="1"/>
          </p:nvPr>
        </p:nvSpPr>
        <p:spPr>
          <a:xfrm>
            <a:off x="2834640" y="3931920"/>
            <a:ext cx="8778240" cy="1280160"/>
          </a:xfrm>
          <a:prstGeom prst="rect">
            <a:avLst/>
          </a:prstGeom>
          <a:noFill/>
          <a:ln/>
        </p:spPr>
        <p:txBody>
          <a:bodyPr wrap="square" lIns="0" tIns="0" rIns="0" bIns="0" rtlCol="0" anchor="t"/>
          <a:lstStyle/>
          <a:p>
            <a:pPr algn="l" indent="0" marL="0">
              <a:buNone/>
            </a:pPr>
            <a:r>
              <a:rPr lang="en-US" sz="2400" dirty="0">
                <a:solidFill>
                  <a:srgbClr val="4B5563"/>
                </a:solidFill>
              </a:rPr>
              <a:t>Fraction × fraction: top × top, bottom × bottom, then simplify</a:t>
            </a:r>
            <a:endParaRPr lang="en-US" sz="24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What if the number in front is a fraction? Half a group</a:t>
            </a:r>
            <a:endParaRPr lang="en-US" sz="3000" dirty="0"/>
          </a:p>
        </p:txBody>
      </p:sp>
      <p:sp>
        <p:nvSpPr>
          <p:cNvPr id="4" name="card"/>
          <p:cNvSpPr/>
          <p:nvPr/>
        </p:nvSpPr>
        <p:spPr>
          <a:xfrm>
            <a:off x="548640" y="1417320"/>
            <a:ext cx="11094415" cy="2272284"/>
          </a:xfrm>
          <a:prstGeom prst="roundRect">
            <a:avLst>
              <a:gd name="adj" fmla="val 5634"/>
            </a:avLst>
          </a:prstGeom>
          <a:solidFill>
            <a:srgbClr val="F1EAFB"/>
          </a:solidFill>
          <a:ln/>
        </p:spPr>
      </p:sp>
      <p:sp>
        <p:nvSpPr>
          <p:cNvPr id="5" name="Text 3"/>
          <p:cNvSpPr txBox="1"/>
          <p:nvPr/>
        </p:nvSpPr>
        <p:spPr>
          <a:xfrm>
            <a:off x="804672" y="1673352"/>
            <a:ext cx="10582351" cy="1851660"/>
          </a:xfrm>
          <a:prstGeom prst="rect">
            <a:avLst/>
          </a:prstGeom>
          <a:noFill/>
          <a:ln/>
        </p:spPr>
        <p:txBody>
          <a:bodyPr wrap="square" lIns="0" tIns="0" rIns="0" bIns="0" rtlCol="0" anchor="t"/>
          <a:lstStyle/>
          <a:p>
            <a:pPr algn="l" indent="0" marL="0">
              <a:spcAft>
                <a:spcPts val="1100"/>
              </a:spcAft>
              <a:buNone/>
            </a:pPr>
            <a:r>
              <a:rPr lang="en-US" sz="2200" dirty="0">
                <a:solidFill>
                  <a:schemeClr val="tx1"/>
                </a:solidFill>
              </a:rPr>
              <a:t>2 × 6 is </a:t>
            </a:r>
            <a:pPr algn="l" indent="0" marL="0">
              <a:spcAft>
                <a:spcPts val="1100"/>
              </a:spcAft>
              <a:buNone/>
            </a:pPr>
            <a:r>
              <a:rPr lang="en-US" sz="2200" b="1" dirty="0">
                <a:solidFill>
                  <a:schemeClr val="tx1"/>
                </a:solidFill>
              </a:rPr>
              <a:t>two groups</a:t>
            </a:r>
            <a:pPr algn="l" indent="0" marL="0">
              <a:spcAft>
                <a:spcPts val="1100"/>
              </a:spcAft>
              <a:buNone/>
            </a:pPr>
            <a:r>
              <a:rPr lang="en-US" sz="2200" dirty="0">
                <a:solidFill>
                  <a:schemeClr val="tx1"/>
                </a:solidFill>
              </a:rPr>
              <a:t> of 6. That is 12.</a:t>
            </a:r>
            <a:endParaRPr lang="en-US" sz="2200" dirty="0"/>
          </a:p>
          <a:p>
            <a:pPr algn="l" indent="0" marL="0">
              <a:spcAft>
                <a:spcPts val="1100"/>
              </a:spcAft>
              <a:buNone/>
            </a:pPr>
            <a:r>
              <a:rPr lang="en-US" sz="2200" dirty="0">
                <a:solidFill>
                  <a:schemeClr val="tx1"/>
                </a:solidFill>
              </a:rPr>
              <a:t>1 × 6 is </a:t>
            </a:r>
            <a:pPr algn="l" indent="0" marL="0">
              <a:spcAft>
                <a:spcPts val="1100"/>
              </a:spcAft>
              <a:buNone/>
            </a:pPr>
            <a:r>
              <a:rPr lang="en-US" sz="2200" b="1" dirty="0">
                <a:solidFill>
                  <a:schemeClr val="tx1"/>
                </a:solidFill>
              </a:rPr>
              <a:t>one group</a:t>
            </a:r>
            <a:pPr algn="l" indent="0" marL="0">
              <a:spcAft>
                <a:spcPts val="1100"/>
              </a:spcAft>
              <a:buNone/>
            </a:pPr>
            <a:r>
              <a:rPr lang="en-US" sz="2200" dirty="0">
                <a:solidFill>
                  <a:schemeClr val="tx1"/>
                </a:solidFill>
              </a:rPr>
              <a:t> of 6. That is 6.</a:t>
            </a:r>
            <a:endParaRPr lang="en-US" sz="2200" dirty="0"/>
          </a:p>
          <a:p>
            <a:pPr algn="l" indent="0" marL="0">
              <a:spcAft>
                <a:spcPts val="1100"/>
              </a:spcAft>
              <a:buNone/>
            </a:pPr>
            <a:r>
              <a:rPr lang="en-US" sz="2200" dirty="0">
                <a:solidFill>
                  <a:schemeClr val="tx1"/>
                </a:solidFill>
              </a:rPr>
              <a:t>1/2 × 6 is </a:t>
            </a:r>
            <a:pPr algn="l" indent="0" marL="0">
              <a:spcAft>
                <a:spcPts val="1100"/>
              </a:spcAft>
              <a:buNone/>
            </a:pPr>
            <a:r>
              <a:rPr lang="en-US" sz="2200" b="1" dirty="0">
                <a:solidFill>
                  <a:schemeClr val="tx1"/>
                </a:solidFill>
              </a:rPr>
              <a:t>half a group</a:t>
            </a:r>
            <a:pPr algn="l" indent="0" marL="0">
              <a:spcAft>
                <a:spcPts val="1100"/>
              </a:spcAft>
              <a:buNone/>
            </a:pPr>
            <a:r>
              <a:rPr lang="en-US" sz="2200" dirty="0">
                <a:solidFill>
                  <a:schemeClr val="tx1"/>
                </a:solidFill>
              </a:rPr>
              <a:t> of 6. That is 3.</a:t>
            </a:r>
            <a:endParaRPr lang="en-US" sz="2200" dirty="0"/>
          </a:p>
          <a:p>
            <a:pPr algn="l" indent="0" marL="0">
              <a:spcAft>
                <a:spcPts val="1100"/>
              </a:spcAft>
              <a:buNone/>
            </a:pPr>
            <a:r>
              <a:rPr lang="en-US" sz="2200" dirty="0">
                <a:solidFill>
                  <a:schemeClr val="tx1"/>
                </a:solidFill>
              </a:rPr>
              <a:t>So </a:t>
            </a:r>
            <a:pPr algn="l" indent="0" marL="0">
              <a:spcAft>
                <a:spcPts val="1100"/>
              </a:spcAft>
              <a:buNone/>
            </a:pPr>
            <a:r>
              <a:rPr lang="en-US" sz="2200" b="1" dirty="0">
                <a:solidFill>
                  <a:schemeClr val="tx1"/>
                </a:solidFill>
              </a:rPr>
              <a:t>1/2 × 6</a:t>
            </a:r>
            <a:pPr algn="l" indent="0" marL="0">
              <a:spcAft>
                <a:spcPts val="1100"/>
              </a:spcAft>
              <a:buNone/>
            </a:pPr>
            <a:r>
              <a:rPr lang="en-US" sz="2200" dirty="0">
                <a:solidFill>
                  <a:schemeClr val="tx1"/>
                </a:solidFill>
              </a:rPr>
              <a:t> means </a:t>
            </a:r>
            <a:pPr algn="l" indent="0" marL="0">
              <a:spcAft>
                <a:spcPts val="1100"/>
              </a:spcAft>
              <a:buNone/>
            </a:pPr>
            <a:r>
              <a:rPr lang="en-US" sz="2200" b="1" dirty="0">
                <a:solidFill>
                  <a:schemeClr val="tx1"/>
                </a:solidFill>
              </a:rPr>
              <a:t>"half OF 6"</a:t>
            </a:r>
            <a:pPr algn="l" indent="0" marL="0">
              <a:spcAft>
                <a:spcPts val="1100"/>
              </a:spcAft>
              <a:buNone/>
            </a:pPr>
            <a:r>
              <a:rPr lang="en-US" sz="2200" dirty="0">
                <a:solidFill>
                  <a:schemeClr val="tx1"/>
                </a:solidFill>
              </a:rPr>
              <a:t>. In maths, the word </a:t>
            </a:r>
            <a:pPr algn="l" indent="0" marL="0">
              <a:spcAft>
                <a:spcPts val="1100"/>
              </a:spcAft>
              <a:buNone/>
            </a:pPr>
            <a:r>
              <a:rPr lang="en-US" sz="2200" b="1" dirty="0">
                <a:solidFill>
                  <a:schemeClr val="tx1"/>
                </a:solidFill>
              </a:rPr>
              <a:t>"of"</a:t>
            </a:r>
            <a:pPr algn="l" indent="0" marL="0">
              <a:spcAft>
                <a:spcPts val="1100"/>
              </a:spcAft>
              <a:buNone/>
            </a:pPr>
            <a:r>
              <a:rPr lang="en-US" sz="2200" dirty="0">
                <a:solidFill>
                  <a:schemeClr val="tx1"/>
                </a:solidFill>
              </a:rPr>
              <a:t> means </a:t>
            </a:r>
            <a:pPr algn="l" indent="0" marL="0">
              <a:spcAft>
                <a:spcPts val="1100"/>
              </a:spcAft>
              <a:buNone/>
            </a:pPr>
            <a:r>
              <a:rPr lang="en-US" sz="2200" b="1" dirty="0">
                <a:solidFill>
                  <a:schemeClr val="tx1"/>
                </a:solidFill>
              </a:rPr>
              <a:t>×</a:t>
            </a:r>
            <a:pPr algn="l" indent="0" marL="0">
              <a:spcAft>
                <a:spcPts val="1100"/>
              </a:spcAft>
              <a:buNone/>
            </a:pPr>
            <a:r>
              <a:rPr lang="en-US" sz="2200" dirty="0">
                <a:solidFill>
                  <a:schemeClr val="tx1"/>
                </a:solidFill>
              </a:rPr>
              <a:t>.</a:t>
            </a:r>
            <a:endParaRPr lang="en-US" sz="2200" dirty="0"/>
          </a:p>
        </p:txBody>
      </p:sp>
      <p:pic>
        <p:nvPicPr>
          <p:cNvPr id="6" name="Image 0" descr="2 × 6 = 12; 1 × 6 = 6; 1/2 × 6 = 3">    </p:cNvPr>
          <p:cNvPicPr>
            <a:picLocks noChangeAspect="1"/>
          </p:cNvPicPr>
          <p:nvPr/>
        </p:nvPicPr>
        <p:blipFill>
          <a:blip r:embed="rId1"/>
          <a:stretch>
            <a:fillRect/>
          </a:stretch>
        </p:blipFill>
        <p:spPr>
          <a:xfrm>
            <a:off x="1261033" y="3918204"/>
            <a:ext cx="9669630" cy="231800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Half OF three quarters of a slab of chocolate</a:t>
            </a:r>
            <a:endParaRPr lang="en-US" sz="3000" dirty="0"/>
          </a:p>
        </p:txBody>
      </p:sp>
      <p:sp>
        <p:nvSpPr>
          <p:cNvPr id="4" name="card"/>
          <p:cNvSpPr/>
          <p:nvPr/>
        </p:nvSpPr>
        <p:spPr>
          <a:xfrm>
            <a:off x="548640" y="1417320"/>
            <a:ext cx="5257800" cy="4756287"/>
          </a:xfrm>
          <a:prstGeom prst="roundRect">
            <a:avLst>
              <a:gd name="adj" fmla="val 2692"/>
            </a:avLst>
          </a:prstGeom>
          <a:solidFill>
            <a:srgbClr val="F1EAFB"/>
          </a:solidFill>
          <a:ln/>
        </p:spPr>
      </p:sp>
      <p:sp>
        <p:nvSpPr>
          <p:cNvPr id="5" name="Text 3"/>
          <p:cNvSpPr txBox="1"/>
          <p:nvPr/>
        </p:nvSpPr>
        <p:spPr>
          <a:xfrm>
            <a:off x="804672" y="1673352"/>
            <a:ext cx="4745736" cy="3322320"/>
          </a:xfrm>
          <a:prstGeom prst="rect">
            <a:avLst/>
          </a:prstGeom>
          <a:noFill/>
          <a:ln/>
        </p:spPr>
        <p:txBody>
          <a:bodyPr wrap="square" lIns="0" tIns="0" rIns="0" bIns="0" rtlCol="0" anchor="t"/>
          <a:lstStyle/>
          <a:p>
            <a:pPr algn="l" indent="0" marL="0">
              <a:spcAft>
                <a:spcPts val="1200"/>
              </a:spcAft>
              <a:buNone/>
            </a:pPr>
            <a:r>
              <a:rPr lang="en-US" sz="2400" dirty="0">
                <a:solidFill>
                  <a:schemeClr val="tx1"/>
                </a:solidFill>
              </a:rPr>
              <a:t>The slab has 4 columns. </a:t>
            </a:r>
            <a:pPr algn="l" indent="0" marL="0">
              <a:spcAft>
                <a:spcPts val="1200"/>
              </a:spcAft>
              <a:buNone/>
            </a:pPr>
            <a:r>
              <a:rPr lang="en-US" sz="2400" b="1" dirty="0">
                <a:solidFill>
                  <a:schemeClr val="tx1"/>
                </a:solidFill>
              </a:rPr>
              <a:t>3/4</a:t>
            </a:r>
            <a:pPr algn="l" indent="0" marL="0">
              <a:spcAft>
                <a:spcPts val="1200"/>
              </a:spcAft>
              <a:buNone/>
            </a:pPr>
            <a:r>
              <a:rPr lang="en-US" sz="2400" dirty="0">
                <a:solidFill>
                  <a:schemeClr val="tx1"/>
                </a:solidFill>
              </a:rPr>
              <a:t> of it is yours: the 3 coloured columns.</a:t>
            </a:r>
            <a:endParaRPr lang="en-US" sz="2400" dirty="0"/>
          </a:p>
          <a:p>
            <a:pPr algn="l" indent="0" marL="0">
              <a:spcAft>
                <a:spcPts val="1200"/>
              </a:spcAft>
              <a:buNone/>
            </a:pPr>
            <a:r>
              <a:rPr lang="en-US" sz="2400" dirty="0">
                <a:solidFill>
                  <a:schemeClr val="tx1"/>
                </a:solidFill>
              </a:rPr>
              <a:t>You give away </a:t>
            </a:r>
            <a:pPr algn="l" indent="0" marL="0">
              <a:spcAft>
                <a:spcPts val="1200"/>
              </a:spcAft>
              <a:buNone/>
            </a:pPr>
            <a:r>
              <a:rPr lang="en-US" sz="2400" b="1" dirty="0">
                <a:solidFill>
                  <a:schemeClr val="tx1"/>
                </a:solidFill>
              </a:rPr>
              <a:t>half OF your part</a:t>
            </a:r>
            <a:pPr algn="l" indent="0" marL="0">
              <a:spcAft>
                <a:spcPts val="1200"/>
              </a:spcAft>
              <a:buNone/>
            </a:pPr>
            <a:r>
              <a:rPr lang="en-US" sz="2400" dirty="0">
                <a:solidFill>
                  <a:schemeClr val="tx1"/>
                </a:solidFill>
              </a:rPr>
              <a:t>. Cut across the middle and take the top row: the orange part.</a:t>
            </a:r>
            <a:endParaRPr lang="en-US" sz="2400" dirty="0"/>
          </a:p>
          <a:p>
            <a:pPr algn="l" indent="0" marL="0">
              <a:spcAft>
                <a:spcPts val="1200"/>
              </a:spcAft>
              <a:buNone/>
            </a:pPr>
            <a:r>
              <a:rPr lang="en-US" sz="2400" dirty="0">
                <a:solidFill>
                  <a:schemeClr val="tx1"/>
                </a:solidFill>
              </a:rPr>
              <a:t>The whole slab is now in 8 small pieces. The orange part is </a:t>
            </a:r>
            <a:pPr algn="l" indent="0" marL="0">
              <a:spcAft>
                <a:spcPts val="1200"/>
              </a:spcAft>
              <a:buNone/>
            </a:pPr>
            <a:r>
              <a:rPr lang="en-US" sz="2400" b="1" dirty="0">
                <a:solidFill>
                  <a:schemeClr val="tx1"/>
                </a:solidFill>
              </a:rPr>
              <a:t>3 of those 8</a:t>
            </a:r>
            <a:pPr algn="l" indent="0" marL="0">
              <a:spcAft>
                <a:spcPts val="1200"/>
              </a:spcAft>
              <a:buNone/>
            </a:pPr>
            <a:r>
              <a:rPr lang="en-US" sz="2400" dirty="0">
                <a:solidFill>
                  <a:schemeClr val="tx1"/>
                </a:solidFill>
              </a:rPr>
              <a:t>.</a:t>
            </a:r>
            <a:endParaRPr lang="en-US" sz="2400" dirty="0"/>
          </a:p>
        </p:txBody>
      </p:sp>
      <p:pic>
        <p:nvPicPr>
          <p:cNvPr id="6" name="Image 0" descr="1/2 × 3/4 = 3/8">    </p:cNvPr>
          <p:cNvPicPr>
            <a:picLocks noChangeAspect="1"/>
          </p:cNvPicPr>
          <p:nvPr/>
        </p:nvPicPr>
        <p:blipFill>
          <a:blip r:embed="rId1"/>
          <a:stretch>
            <a:fillRect/>
          </a:stretch>
        </p:blipFill>
        <p:spPr>
          <a:xfrm>
            <a:off x="804672" y="5056632"/>
            <a:ext cx="1759868" cy="860943"/>
          </a:xfrm>
          <a:prstGeom prst="rect">
            <a:avLst/>
          </a:prstGeom>
        </p:spPr>
      </p:pic>
      <p:pic>
        <p:nvPicPr>
          <p:cNvPr id="7" name="Image 1" descr="1/2 of 3/4 as an area">    </p:cNvPr>
          <p:cNvPicPr>
            <a:picLocks noChangeAspect="1"/>
          </p:cNvPicPr>
          <p:nvPr/>
        </p:nvPicPr>
        <p:blipFill>
          <a:blip r:embed="rId2"/>
          <a:stretch>
            <a:fillRect/>
          </a:stretch>
        </p:blipFill>
        <p:spPr>
          <a:xfrm>
            <a:off x="6126480" y="1534047"/>
            <a:ext cx="5516575" cy="458543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kind label"/>
          <p:cNvSpPr/>
          <p:nvPr/>
        </p:nvSpPr>
        <p:spPr>
          <a:xfrm>
            <a:off x="548640" y="365760"/>
            <a:ext cx="1938227"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WHY IT WORKS</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Where do the 3 and the 8 come from?</a:t>
            </a:r>
            <a:endParaRPr lang="en-US" sz="3000" dirty="0"/>
          </a:p>
        </p:txBody>
      </p:sp>
      <p:sp>
        <p:nvSpPr>
          <p:cNvPr id="4" name="card"/>
          <p:cNvSpPr/>
          <p:nvPr/>
        </p:nvSpPr>
        <p:spPr>
          <a:xfrm>
            <a:off x="548640" y="1417320"/>
            <a:ext cx="5257800" cy="3450844"/>
          </a:xfrm>
          <a:prstGeom prst="roundRect">
            <a:avLst>
              <a:gd name="adj" fmla="val 3710"/>
            </a:avLst>
          </a:prstGeom>
          <a:solidFill>
            <a:srgbClr val="F1EAFB"/>
          </a:solidFill>
          <a:ln/>
        </p:spPr>
      </p:sp>
      <p:sp>
        <p:nvSpPr>
          <p:cNvPr id="5" name="Text 3"/>
          <p:cNvSpPr txBox="1"/>
          <p:nvPr/>
        </p:nvSpPr>
        <p:spPr>
          <a:xfrm>
            <a:off x="804672" y="1673352"/>
            <a:ext cx="4745736" cy="3030220"/>
          </a:xfrm>
          <a:prstGeom prst="rect">
            <a:avLst/>
          </a:prstGeom>
          <a:noFill/>
          <a:ln/>
        </p:spPr>
        <p:txBody>
          <a:bodyPr wrap="square" lIns="0" tIns="0" rIns="0" bIns="0" rtlCol="0" anchor="t"/>
          <a:lstStyle/>
          <a:p>
            <a:pPr algn="l" indent="0" marL="0">
              <a:spcAft>
                <a:spcPts val="1300"/>
              </a:spcAft>
              <a:buNone/>
            </a:pPr>
            <a:r>
              <a:rPr lang="en-US" sz="2600" b="1" dirty="0">
                <a:solidFill>
                  <a:schemeClr val="tx1"/>
                </a:solidFill>
              </a:rPr>
              <a:t>The 8 on the bottom:</a:t>
            </a:r>
            <a:pPr algn="l" indent="0" marL="0">
              <a:spcAft>
                <a:spcPts val="1300"/>
              </a:spcAft>
              <a:buNone/>
            </a:pPr>
            <a:r>
              <a:rPr lang="en-US" sz="2600" dirty="0">
                <a:solidFill>
                  <a:schemeClr val="tx1"/>
                </a:solidFill>
              </a:rPr>
              <a:t> 2 rows × 4 columns = 8 small pieces in the whole slab. That is </a:t>
            </a:r>
            <a:pPr algn="l" indent="0" marL="0">
              <a:spcAft>
                <a:spcPts val="1300"/>
              </a:spcAft>
              <a:buNone/>
            </a:pPr>
            <a:r>
              <a:rPr lang="en-US" sz="2600" b="1" dirty="0">
                <a:solidFill>
                  <a:schemeClr val="tx1"/>
                </a:solidFill>
              </a:rPr>
              <a:t>bottom × bottom</a:t>
            </a:r>
            <a:pPr algn="l" indent="0" marL="0">
              <a:spcAft>
                <a:spcPts val="1300"/>
              </a:spcAft>
              <a:buNone/>
            </a:pPr>
            <a:r>
              <a:rPr lang="en-US" sz="2600" dirty="0">
                <a:solidFill>
                  <a:schemeClr val="tx1"/>
                </a:solidFill>
              </a:rPr>
              <a:t>.</a:t>
            </a:r>
            <a:endParaRPr lang="en-US" sz="2600" dirty="0"/>
          </a:p>
          <a:p>
            <a:pPr algn="l" indent="0" marL="0">
              <a:spcAft>
                <a:spcPts val="1300"/>
              </a:spcAft>
              <a:buNone/>
            </a:pPr>
            <a:r>
              <a:rPr lang="en-US" sz="2600" b="1" dirty="0">
                <a:solidFill>
                  <a:schemeClr val="tx1"/>
                </a:solidFill>
              </a:rPr>
              <a:t>The 3 on top:</a:t>
            </a:r>
            <a:pPr algn="l" indent="0" marL="0">
              <a:spcAft>
                <a:spcPts val="1300"/>
              </a:spcAft>
              <a:buNone/>
            </a:pPr>
            <a:r>
              <a:rPr lang="en-US" sz="2600" dirty="0">
                <a:solidFill>
                  <a:schemeClr val="tx1"/>
                </a:solidFill>
              </a:rPr>
              <a:t> 1 row × 3 columns = 3 orange pieces. That is </a:t>
            </a:r>
            <a:pPr algn="l" indent="0" marL="0">
              <a:spcAft>
                <a:spcPts val="1300"/>
              </a:spcAft>
              <a:buNone/>
            </a:pPr>
            <a:r>
              <a:rPr lang="en-US" sz="2600" b="1" dirty="0">
                <a:solidFill>
                  <a:schemeClr val="tx1"/>
                </a:solidFill>
              </a:rPr>
              <a:t>top × top</a:t>
            </a:r>
            <a:pPr algn="l" indent="0" marL="0">
              <a:spcAft>
                <a:spcPts val="1300"/>
              </a:spcAft>
              <a:buNone/>
            </a:pPr>
            <a:r>
              <a:rPr lang="en-US" sz="2600" dirty="0">
                <a:solidFill>
                  <a:schemeClr val="tx1"/>
                </a:solidFill>
              </a:rPr>
              <a:t>.</a:t>
            </a:r>
            <a:endParaRPr lang="en-US" sz="2600" dirty="0"/>
          </a:p>
        </p:txBody>
      </p:sp>
      <p:pic>
        <p:nvPicPr>
          <p:cNvPr id="6" name="Image 0" descr="1/2 times 3/4: tops multiplied together, bottoms multiplied together">    </p:cNvPr>
          <p:cNvPicPr>
            <a:picLocks noChangeAspect="1"/>
          </p:cNvPicPr>
          <p:nvPr/>
        </p:nvPicPr>
        <p:blipFill>
          <a:blip r:embed="rId1"/>
          <a:stretch>
            <a:fillRect/>
          </a:stretch>
        </p:blipFill>
        <p:spPr>
          <a:xfrm>
            <a:off x="6126480" y="1417320"/>
            <a:ext cx="5516575" cy="3405293"/>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kind label"/>
          <p:cNvSpPr/>
          <p:nvPr/>
        </p:nvSpPr>
        <p:spPr>
          <a:xfrm>
            <a:off x="548640" y="365760"/>
            <a:ext cx="1426453"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THE RULE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To multiply fractions: top × top, bottom × bottom, then simplify</a:t>
            </a:r>
            <a:endParaRPr lang="en-US" sz="3000" dirty="0"/>
          </a:p>
        </p:txBody>
      </p:sp>
      <p:sp>
        <p:nvSpPr>
          <p:cNvPr id="4" name="card"/>
          <p:cNvSpPr/>
          <p:nvPr/>
        </p:nvSpPr>
        <p:spPr>
          <a:xfrm>
            <a:off x="548640" y="1828800"/>
            <a:ext cx="11094415" cy="2030984"/>
          </a:xfrm>
          <a:prstGeom prst="roundRect">
            <a:avLst>
              <a:gd name="adj" fmla="val 6303"/>
            </a:avLst>
          </a:prstGeom>
          <a:solidFill>
            <a:srgbClr val="E3ECF8"/>
          </a:solidFill>
          <a:ln/>
        </p:spPr>
      </p:sp>
      <p:sp>
        <p:nvSpPr>
          <p:cNvPr id="5" name="Text 3"/>
          <p:cNvSpPr txBox="1"/>
          <p:nvPr/>
        </p:nvSpPr>
        <p:spPr>
          <a:xfrm>
            <a:off x="804672" y="2084832"/>
            <a:ext cx="10582351" cy="1610360"/>
          </a:xfrm>
          <a:prstGeom prst="rect">
            <a:avLst/>
          </a:prstGeom>
          <a:noFill/>
          <a:ln/>
        </p:spPr>
        <p:txBody>
          <a:bodyPr wrap="square" lIns="0" tIns="0" rIns="0" bIns="0" rtlCol="0" anchor="t"/>
          <a:lstStyle/>
          <a:p>
            <a:pPr algn="l" indent="0" marL="0">
              <a:spcAft>
                <a:spcPts val="1300"/>
              </a:spcAft>
              <a:buNone/>
            </a:pPr>
            <a:r>
              <a:rPr lang="en-US" sz="2600" b="1" dirty="0">
                <a:solidFill>
                  <a:schemeClr val="tx1"/>
                </a:solidFill>
              </a:rPr>
              <a:t>1.</a:t>
            </a:r>
            <a:pPr algn="l" indent="0" marL="0">
              <a:spcAft>
                <a:spcPts val="1300"/>
              </a:spcAft>
              <a:buNone/>
            </a:pPr>
            <a:r>
              <a:rPr lang="en-US" sz="2600" dirty="0">
                <a:solidFill>
                  <a:schemeClr val="tx1"/>
                </a:solidFill>
              </a:rPr>
              <a:t> Multiply the </a:t>
            </a:r>
            <a:pPr algn="l" indent="0" marL="0">
              <a:spcAft>
                <a:spcPts val="1300"/>
              </a:spcAft>
              <a:buNone/>
            </a:pPr>
            <a:r>
              <a:rPr lang="en-US" sz="2600" b="1" dirty="0">
                <a:solidFill>
                  <a:schemeClr val="tx1"/>
                </a:solidFill>
              </a:rPr>
              <a:t>tops</a:t>
            </a:r>
            <a:pPr algn="l" indent="0" marL="0">
              <a:spcAft>
                <a:spcPts val="1300"/>
              </a:spcAft>
              <a:buNone/>
            </a:pPr>
            <a:r>
              <a:rPr lang="en-US" sz="2600" dirty="0">
                <a:solidFill>
                  <a:schemeClr val="tx1"/>
                </a:solidFill>
              </a:rPr>
              <a:t>. That is the new top.</a:t>
            </a:r>
            <a:endParaRPr lang="en-US" sz="2600" dirty="0"/>
          </a:p>
          <a:p>
            <a:pPr algn="l" indent="0" marL="0">
              <a:spcAft>
                <a:spcPts val="1300"/>
              </a:spcAft>
              <a:buNone/>
            </a:pPr>
            <a:r>
              <a:rPr lang="en-US" sz="2600" b="1" dirty="0">
                <a:solidFill>
                  <a:schemeClr val="tx1"/>
                </a:solidFill>
              </a:rPr>
              <a:t>2.</a:t>
            </a:r>
            <a:pPr algn="l" indent="0" marL="0">
              <a:spcAft>
                <a:spcPts val="1300"/>
              </a:spcAft>
              <a:buNone/>
            </a:pPr>
            <a:r>
              <a:rPr lang="en-US" sz="2600" dirty="0">
                <a:solidFill>
                  <a:schemeClr val="tx1"/>
                </a:solidFill>
              </a:rPr>
              <a:t> Multiply the </a:t>
            </a:r>
            <a:pPr algn="l" indent="0" marL="0">
              <a:spcAft>
                <a:spcPts val="1300"/>
              </a:spcAft>
              <a:buNone/>
            </a:pPr>
            <a:r>
              <a:rPr lang="en-US" sz="2600" b="1" dirty="0">
                <a:solidFill>
                  <a:schemeClr val="tx1"/>
                </a:solidFill>
              </a:rPr>
              <a:t>bottoms</a:t>
            </a:r>
            <a:pPr algn="l" indent="0" marL="0">
              <a:spcAft>
                <a:spcPts val="1300"/>
              </a:spcAft>
              <a:buNone/>
            </a:pPr>
            <a:r>
              <a:rPr lang="en-US" sz="2600" dirty="0">
                <a:solidFill>
                  <a:schemeClr val="tx1"/>
                </a:solidFill>
              </a:rPr>
              <a:t>. That is the new bottom.</a:t>
            </a:r>
            <a:endParaRPr lang="en-US" sz="2600" dirty="0"/>
          </a:p>
          <a:p>
            <a:pPr algn="l" indent="0" marL="0">
              <a:spcAft>
                <a:spcPts val="1300"/>
              </a:spcAft>
              <a:buNone/>
            </a:pPr>
            <a:r>
              <a:rPr lang="en-US" sz="2600" b="1" dirty="0">
                <a:solidFill>
                  <a:schemeClr val="tx1"/>
                </a:solidFill>
              </a:rPr>
              <a:t>3.</a:t>
            </a:r>
            <a:pPr algn="l" indent="0" marL="0">
              <a:spcAft>
                <a:spcPts val="1300"/>
              </a:spcAft>
              <a:buNone/>
            </a:pPr>
            <a:r>
              <a:rPr lang="en-US" sz="2600" dirty="0">
                <a:solidFill>
                  <a:schemeClr val="tx1"/>
                </a:solidFill>
              </a:rPr>
              <a:t> </a:t>
            </a:r>
            <a:pPr algn="l" indent="0" marL="0">
              <a:spcAft>
                <a:spcPts val="1300"/>
              </a:spcAft>
              <a:buNone/>
            </a:pPr>
            <a:r>
              <a:rPr lang="en-US" sz="2600" b="1" dirty="0">
                <a:solidFill>
                  <a:schemeClr val="tx1"/>
                </a:solidFill>
              </a:rPr>
              <a:t>Simplify</a:t>
            </a:r>
            <a:pPr algn="l" indent="0" marL="0">
              <a:spcAft>
                <a:spcPts val="1300"/>
              </a:spcAft>
              <a:buNone/>
            </a:pPr>
            <a:r>
              <a:rPr lang="en-US" sz="2600" dirty="0">
                <a:solidFill>
                  <a:schemeClr val="tx1"/>
                </a:solidFill>
              </a:rPr>
              <a:t> the answer if you can.</a:t>
            </a:r>
            <a:endParaRPr lang="en-US" sz="2600" dirty="0"/>
          </a:p>
        </p:txBody>
      </p:sp>
      <p:pic>
        <p:nvPicPr>
          <p:cNvPr id="6" name="Image 0" descr="1. top × top then 2. bottom × bottom then 3. simplify">    </p:cNvPr>
          <p:cNvPicPr>
            <a:picLocks noChangeAspect="1"/>
          </p:cNvPicPr>
          <p:nvPr/>
        </p:nvPicPr>
        <p:blipFill>
          <a:blip r:embed="rId1"/>
          <a:stretch>
            <a:fillRect/>
          </a:stretch>
        </p:blipFill>
        <p:spPr>
          <a:xfrm>
            <a:off x="548640" y="4588128"/>
            <a:ext cx="11094415" cy="1148337"/>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4: two thirds of five sixths (Lesson 3, Example 2)</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2/3 × 5/6">    </p:cNvPr>
          <p:cNvPicPr>
            <a:picLocks noChangeAspect="1"/>
          </p:cNvPicPr>
          <p:nvPr/>
        </p:nvPicPr>
        <p:blipFill>
          <a:blip r:embed="rId1"/>
          <a:stretch>
            <a:fillRect/>
          </a:stretch>
        </p:blipFill>
        <p:spPr>
          <a:xfrm>
            <a:off x="2374509" y="1600200"/>
            <a:ext cx="118262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1 OF 4</a:t>
            </a:r>
            <a:endParaRPr lang="en-US" sz="1400" dirty="0"/>
          </a:p>
        </p:txBody>
      </p:sp>
      <p:sp>
        <p:nvSpPr>
          <p:cNvPr id="9" name="Text 6"/>
          <p:cNvSpPr txBox="1"/>
          <p:nvPr/>
        </p:nvSpPr>
        <p:spPr>
          <a:xfrm>
            <a:off x="548640" y="3681984"/>
            <a:ext cx="4754880" cy="1292352"/>
          </a:xfrm>
          <a:prstGeom prst="rect">
            <a:avLst/>
          </a:prstGeom>
          <a:noFill/>
          <a:ln/>
        </p:spPr>
        <p:txBody>
          <a:bodyPr wrap="square" lIns="0" tIns="0" rIns="0" bIns="0" rtlCol="0" anchor="t"/>
          <a:lstStyle/>
          <a:p>
            <a:pPr algn="l" indent="0" marL="0">
              <a:buNone/>
            </a:pPr>
            <a:r>
              <a:rPr lang="en-US" sz="2000" b="1" dirty="0">
                <a:solidFill>
                  <a:schemeClr val="tx1"/>
                </a:solidFill>
              </a:rPr>
              <a:t>Read the question: "two thirds TIMES five sixths". That means two thirds OF five sixths. In the slab picture: 5 of the 6 columns, then 2 of the 3 rows.</a:t>
            </a:r>
            <a:endParaRPr lang="en-US" sz="2000" dirty="0"/>
          </a:p>
        </p:txBody>
      </p:sp>
      <p:sp>
        <p:nvSpPr>
          <p:cNvPr id="10" name="Text 7"/>
          <p:cNvSpPr txBox="1"/>
          <p:nvPr/>
        </p:nvSpPr>
        <p:spPr>
          <a:xfrm>
            <a:off x="548640" y="5138928"/>
            <a:ext cx="4754880" cy="804672"/>
          </a:xfrm>
          <a:prstGeom prst="rect">
            <a:avLst/>
          </a:prstGeom>
          <a:noFill/>
          <a:ln/>
        </p:spPr>
        <p:txBody>
          <a:bodyPr wrap="square" lIns="0" tIns="0" rIns="0" bIns="0" rtlCol="0" anchor="t"/>
          <a:lstStyle/>
          <a:p>
            <a:pPr algn="l" indent="0" marL="0">
              <a:buNone/>
            </a:pPr>
            <a:r>
              <a:rPr lang="en-US" sz="1600" b="1" dirty="0">
                <a:solidFill>
                  <a:srgbClr val="4B5563"/>
                </a:solidFill>
              </a:rPr>
              <a:t>Why?</a:t>
            </a:r>
            <a:pPr algn="l" indent="0" marL="0">
              <a:buNone/>
            </a:pPr>
            <a:r>
              <a:rPr lang="en-US" sz="1600" dirty="0">
                <a:solidFill>
                  <a:srgbClr val="4B5563"/>
                </a:solidFill>
              </a:rPr>
              <a:t> The orange part is the answer. It must be smaller than five sixths, because we only take part of it.</a:t>
            </a:r>
            <a:endParaRPr lang="en-US" sz="16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2/3 of 5/6 as an area">    </p:cNvPr>
          <p:cNvPicPr>
            <a:picLocks noChangeAspect="1"/>
          </p:cNvPicPr>
          <p:nvPr/>
        </p:nvPicPr>
        <p:blipFill>
          <a:blip r:embed="rId2"/>
          <a:stretch>
            <a:fillRect/>
          </a:stretch>
        </p:blipFill>
        <p:spPr>
          <a:xfrm>
            <a:off x="6881484" y="3133344"/>
            <a:ext cx="3457927" cy="287426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4: two thirds of five sixths (Lesson 3, Example 2)</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2/3 × 5/6">    </p:cNvPr>
          <p:cNvPicPr>
            <a:picLocks noChangeAspect="1"/>
          </p:cNvPicPr>
          <p:nvPr/>
        </p:nvPicPr>
        <p:blipFill>
          <a:blip r:embed="rId1"/>
          <a:stretch>
            <a:fillRect/>
          </a:stretch>
        </p:blipFill>
        <p:spPr>
          <a:xfrm>
            <a:off x="2374509" y="1600200"/>
            <a:ext cx="118262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2 OF 4</a:t>
            </a:r>
            <a:endParaRPr lang="en-US" sz="1400" dirty="0"/>
          </a:p>
        </p:txBody>
      </p:sp>
      <p:sp>
        <p:nvSpPr>
          <p:cNvPr id="9" name="Text 6"/>
          <p:cNvSpPr txBox="1"/>
          <p:nvPr/>
        </p:nvSpPr>
        <p:spPr>
          <a:xfrm>
            <a:off x="548640" y="3681984"/>
            <a:ext cx="4754880" cy="865632"/>
          </a:xfrm>
          <a:prstGeom prst="rect">
            <a:avLst/>
          </a:prstGeom>
          <a:noFill/>
          <a:ln/>
        </p:spPr>
        <p:txBody>
          <a:bodyPr wrap="square" lIns="0" tIns="0" rIns="0" bIns="0" rtlCol="0" anchor="t"/>
          <a:lstStyle/>
          <a:p>
            <a:pPr algn="l" indent="0" marL="0">
              <a:buNone/>
            </a:pPr>
            <a:r>
              <a:rPr lang="en-US" sz="2600" b="1" dirty="0">
                <a:solidFill>
                  <a:schemeClr val="tx1"/>
                </a:solidFill>
              </a:rPr>
              <a:t>Tops first: 2 × 5 = 10. Write 10 on top of the answer.</a:t>
            </a:r>
            <a:endParaRPr lang="en-US" sz="2600" dirty="0"/>
          </a:p>
        </p:txBody>
      </p:sp>
      <p:sp>
        <p:nvSpPr>
          <p:cNvPr id="10" name="Text 7"/>
          <p:cNvSpPr txBox="1"/>
          <p:nvPr/>
        </p:nvSpPr>
        <p:spPr>
          <a:xfrm>
            <a:off x="548640" y="4712208"/>
            <a:ext cx="4754880" cy="6827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In the slab picture: 2 rows × 5 columns = 10 orange pieces.</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2/3 times 5/6: tops multiplied together, bottoms multiplied together">    </p:cNvPr>
          <p:cNvPicPr>
            <a:picLocks noChangeAspect="1"/>
          </p:cNvPicPr>
          <p:nvPr/>
        </p:nvPicPr>
        <p:blipFill>
          <a:blip r:embed="rId2"/>
          <a:stretch>
            <a:fillRect/>
          </a:stretch>
        </p:blipFill>
        <p:spPr>
          <a:xfrm>
            <a:off x="6749213" y="3133344"/>
            <a:ext cx="3722468" cy="2121065"/>
          </a:xfrm>
          <a:prstGeom prst="rect">
            <a:avLst/>
          </a:prstGeom>
        </p:spPr>
      </p:pic>
      <p:pic>
        <p:nvPicPr>
          <p:cNvPr id="13" name="Image 2" descr="2 × 5 = 10">    </p:cNvPr>
          <p:cNvPicPr>
            <a:picLocks noChangeAspect="1"/>
          </p:cNvPicPr>
          <p:nvPr/>
        </p:nvPicPr>
        <p:blipFill>
          <a:blip r:embed="rId3"/>
          <a:stretch>
            <a:fillRect/>
          </a:stretch>
        </p:blipFill>
        <p:spPr>
          <a:xfrm>
            <a:off x="7769416" y="5528729"/>
            <a:ext cx="1682064" cy="478879"/>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4: two thirds of five sixths (Lesson 3, Example 2)</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2/3 × 5/6">    </p:cNvPr>
          <p:cNvPicPr>
            <a:picLocks noChangeAspect="1"/>
          </p:cNvPicPr>
          <p:nvPr/>
        </p:nvPicPr>
        <p:blipFill>
          <a:blip r:embed="rId1"/>
          <a:stretch>
            <a:fillRect/>
          </a:stretch>
        </p:blipFill>
        <p:spPr>
          <a:xfrm>
            <a:off x="2374509" y="1600200"/>
            <a:ext cx="118262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3 OF 4</a:t>
            </a:r>
            <a:endParaRPr lang="en-US" sz="1400" dirty="0"/>
          </a:p>
        </p:txBody>
      </p:sp>
      <p:sp>
        <p:nvSpPr>
          <p:cNvPr id="9" name="Text 6"/>
          <p:cNvSpPr txBox="1"/>
          <p:nvPr/>
        </p:nvSpPr>
        <p:spPr>
          <a:xfrm>
            <a:off x="548640" y="3681984"/>
            <a:ext cx="4754880" cy="865632"/>
          </a:xfrm>
          <a:prstGeom prst="rect">
            <a:avLst/>
          </a:prstGeom>
          <a:noFill/>
          <a:ln/>
        </p:spPr>
        <p:txBody>
          <a:bodyPr wrap="square" lIns="0" tIns="0" rIns="0" bIns="0" rtlCol="0" anchor="t"/>
          <a:lstStyle/>
          <a:p>
            <a:pPr algn="l" indent="0" marL="0">
              <a:buNone/>
            </a:pPr>
            <a:r>
              <a:rPr lang="en-US" sz="2600" b="1" dirty="0">
                <a:solidFill>
                  <a:schemeClr val="tx1"/>
                </a:solidFill>
              </a:rPr>
              <a:t>Now the bottoms: 3 × 6 = 18. Write 18 underneath.</a:t>
            </a:r>
            <a:endParaRPr lang="en-US" sz="2600" dirty="0"/>
          </a:p>
        </p:txBody>
      </p:sp>
      <p:sp>
        <p:nvSpPr>
          <p:cNvPr id="10" name="Text 7"/>
          <p:cNvSpPr txBox="1"/>
          <p:nvPr/>
        </p:nvSpPr>
        <p:spPr>
          <a:xfrm>
            <a:off x="548640" y="4712208"/>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In the slab picture: 3 rows × 6 columns = 18 small pieces in the whole slab.</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2/3 times 5/6: tops multiplied together, bottoms multiplied together">    </p:cNvPr>
          <p:cNvPicPr>
            <a:picLocks noChangeAspect="1"/>
          </p:cNvPicPr>
          <p:nvPr/>
        </p:nvPicPr>
        <p:blipFill>
          <a:blip r:embed="rId2"/>
          <a:stretch>
            <a:fillRect/>
          </a:stretch>
        </p:blipFill>
        <p:spPr>
          <a:xfrm>
            <a:off x="6088281" y="3133344"/>
            <a:ext cx="5044333" cy="287426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4: two thirds of five sixths (Lesson 3, Example 2)</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2/3 × 5/6">    </p:cNvPr>
          <p:cNvPicPr>
            <a:picLocks noChangeAspect="1"/>
          </p:cNvPicPr>
          <p:nvPr/>
        </p:nvPicPr>
        <p:blipFill>
          <a:blip r:embed="rId1"/>
          <a:stretch>
            <a:fillRect/>
          </a:stretch>
        </p:blipFill>
        <p:spPr>
          <a:xfrm>
            <a:off x="2374509" y="1600200"/>
            <a:ext cx="118262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3 OF 4</a:t>
            </a:r>
            <a:endParaRPr lang="en-US" sz="1400" dirty="0"/>
          </a:p>
        </p:txBody>
      </p:sp>
      <p:sp>
        <p:nvSpPr>
          <p:cNvPr id="9" name="Text 6"/>
          <p:cNvSpPr txBox="1"/>
          <p:nvPr/>
        </p:nvSpPr>
        <p:spPr>
          <a:xfrm>
            <a:off x="548640" y="3681984"/>
            <a:ext cx="4754880" cy="865632"/>
          </a:xfrm>
          <a:prstGeom prst="rect">
            <a:avLst/>
          </a:prstGeom>
          <a:noFill/>
          <a:ln/>
        </p:spPr>
        <p:txBody>
          <a:bodyPr wrap="square" lIns="0" tIns="0" rIns="0" bIns="0" rtlCol="0" anchor="t"/>
          <a:lstStyle/>
          <a:p>
            <a:pPr algn="l" indent="0" marL="0">
              <a:buNone/>
            </a:pPr>
            <a:r>
              <a:rPr lang="en-US" sz="2600" b="1" dirty="0">
                <a:solidFill>
                  <a:schemeClr val="tx1"/>
                </a:solidFill>
              </a:rPr>
              <a:t>Now the bottoms: 3 × 6 = 18. Write 18 underneath.</a:t>
            </a:r>
            <a:endParaRPr lang="en-US" sz="2600" dirty="0"/>
          </a:p>
        </p:txBody>
      </p:sp>
      <p:sp>
        <p:nvSpPr>
          <p:cNvPr id="10" name="Text 7"/>
          <p:cNvSpPr txBox="1"/>
          <p:nvPr/>
        </p:nvSpPr>
        <p:spPr>
          <a:xfrm>
            <a:off x="548640" y="4712208"/>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In the slab picture: 3 rows × 6 columns = 18 small pieces in the whole slab.</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3 × 6 = 18; 2/3 × 5/6 = 2 × 5/3 × 6 = 10/18">    </p:cNvPr>
          <p:cNvPicPr>
            <a:picLocks noChangeAspect="1"/>
          </p:cNvPicPr>
          <p:nvPr/>
        </p:nvPicPr>
        <p:blipFill>
          <a:blip r:embed="rId2"/>
          <a:stretch>
            <a:fillRect/>
          </a:stretch>
        </p:blipFill>
        <p:spPr>
          <a:xfrm>
            <a:off x="6179781" y="3572483"/>
            <a:ext cx="4861333" cy="1995985"/>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4: two thirds of five sixths (Lesson 3, Example 2)</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2/3 × 5/6">    </p:cNvPr>
          <p:cNvPicPr>
            <a:picLocks noChangeAspect="1"/>
          </p:cNvPicPr>
          <p:nvPr/>
        </p:nvPicPr>
        <p:blipFill>
          <a:blip r:embed="rId1"/>
          <a:stretch>
            <a:fillRect/>
          </a:stretch>
        </p:blipFill>
        <p:spPr>
          <a:xfrm>
            <a:off x="2374509" y="1600200"/>
            <a:ext cx="118262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4 OF 4</a:t>
            </a:r>
            <a:endParaRPr lang="en-US" sz="1400" dirty="0"/>
          </a:p>
        </p:txBody>
      </p:sp>
      <p:sp>
        <p:nvSpPr>
          <p:cNvPr id="9" name="Text 6"/>
          <p:cNvSpPr txBox="1"/>
          <p:nvPr/>
        </p:nvSpPr>
        <p:spPr>
          <a:xfrm>
            <a:off x="548640" y="3681984"/>
            <a:ext cx="4754880" cy="1536192"/>
          </a:xfrm>
          <a:prstGeom prst="rect">
            <a:avLst/>
          </a:prstGeom>
          <a:noFill/>
          <a:ln/>
        </p:spPr>
        <p:txBody>
          <a:bodyPr wrap="square" lIns="0" tIns="0" rIns="0" bIns="0" rtlCol="0" anchor="t"/>
          <a:lstStyle/>
          <a:p>
            <a:pPr algn="l" indent="0" marL="0">
              <a:buNone/>
            </a:pPr>
            <a:r>
              <a:rPr lang="en-US" sz="2400" b="1" dirty="0">
                <a:solidFill>
                  <a:schemeClr val="tx1"/>
                </a:solidFill>
              </a:rPr>
              <a:t>Last, simplify 10/18. Both are even, so 2 goes into both. Divide the top and the bottom by 2.</a:t>
            </a:r>
            <a:endParaRPr lang="en-US" sz="2400" dirty="0"/>
          </a:p>
        </p:txBody>
      </p:sp>
      <p:sp>
        <p:nvSpPr>
          <p:cNvPr id="10" name="Text 7"/>
          <p:cNvSpPr txBox="1"/>
          <p:nvPr/>
        </p:nvSpPr>
        <p:spPr>
          <a:xfrm>
            <a:off x="548640" y="5382768"/>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Half of 10 is 5. Half of 18 is 9. Then 1 is the only number that goes into both 5 and 9, so it is finished.</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the same fraction written with different numbers">    </p:cNvPr>
          <p:cNvPicPr>
            <a:picLocks noChangeAspect="1"/>
          </p:cNvPicPr>
          <p:nvPr/>
        </p:nvPicPr>
        <p:blipFill>
          <a:blip r:embed="rId2"/>
          <a:stretch>
            <a:fillRect/>
          </a:stretch>
        </p:blipFill>
        <p:spPr>
          <a:xfrm>
            <a:off x="7475688" y="3133344"/>
            <a:ext cx="2269520" cy="1739258"/>
          </a:xfrm>
          <a:prstGeom prst="rect">
            <a:avLst/>
          </a:prstGeom>
        </p:spPr>
      </p:pic>
      <p:pic>
        <p:nvPicPr>
          <p:cNvPr id="13" name="Image 2" descr="10/18 = 10 ÷ 2/18 ÷ 2 = 5/9">    </p:cNvPr>
          <p:cNvPicPr>
            <a:picLocks noChangeAspect="1"/>
          </p:cNvPicPr>
          <p:nvPr/>
        </p:nvPicPr>
        <p:blipFill>
          <a:blip r:embed="rId3"/>
          <a:stretch>
            <a:fillRect/>
          </a:stretch>
        </p:blipFill>
        <p:spPr>
          <a:xfrm>
            <a:off x="7236318" y="5146922"/>
            <a:ext cx="2748259" cy="860686"/>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kind label"/>
          <p:cNvSpPr/>
          <p:nvPr/>
        </p:nvSpPr>
        <p:spPr>
          <a:xfrm>
            <a:off x="548640" y="365760"/>
            <a:ext cx="1317473"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ANSWER</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4: two thirds of five sixths (Lesson 3, Example 2)</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2/3 × 5/6">    </p:cNvPr>
          <p:cNvPicPr>
            <a:picLocks noChangeAspect="1"/>
          </p:cNvPicPr>
          <p:nvPr/>
        </p:nvPicPr>
        <p:blipFill>
          <a:blip r:embed="rId1"/>
          <a:stretch>
            <a:fillRect/>
          </a:stretch>
        </p:blipFill>
        <p:spPr>
          <a:xfrm>
            <a:off x="2374509" y="1600200"/>
            <a:ext cx="1182624" cy="938784"/>
          </a:xfrm>
          <a:prstGeom prst="rect">
            <a:avLst/>
          </a:prstGeom>
        </p:spPr>
      </p:pic>
      <p:sp>
        <p:nvSpPr>
          <p:cNvPr id="7" name="answer"/>
          <p:cNvSpPr/>
          <p:nvPr/>
        </p:nvSpPr>
        <p:spPr>
          <a:xfrm>
            <a:off x="548640" y="2904744"/>
            <a:ext cx="4754880" cy="3102864"/>
          </a:xfrm>
          <a:prstGeom prst="roundRect">
            <a:avLst>
              <a:gd name="adj" fmla="val 4126"/>
            </a:avLst>
          </a:prstGeom>
          <a:solidFill>
            <a:srgbClr val="E3F2E5"/>
          </a:solidFill>
          <a:ln/>
        </p:spPr>
      </p:sp>
      <p:sp>
        <p:nvSpPr>
          <p:cNvPr id="8" name="Text 5"/>
          <p:cNvSpPr txBox="1"/>
          <p:nvPr/>
        </p:nvSpPr>
        <p:spPr>
          <a:xfrm>
            <a:off x="777240" y="3069336"/>
            <a:ext cx="1828800"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9" name="Image 1" descr="5/9">    </p:cNvPr>
          <p:cNvPicPr>
            <a:picLocks noChangeAspect="1"/>
          </p:cNvPicPr>
          <p:nvPr/>
        </p:nvPicPr>
        <p:blipFill>
          <a:blip r:embed="rId2"/>
          <a:stretch>
            <a:fillRect/>
          </a:stretch>
        </p:blipFill>
        <p:spPr>
          <a:xfrm>
            <a:off x="777240" y="3416808"/>
            <a:ext cx="587465" cy="1319784"/>
          </a:xfrm>
          <a:prstGeom prst="rect">
            <a:avLst/>
          </a:prstGeom>
        </p:spPr>
      </p:pic>
      <p:sp>
        <p:nvSpPr>
          <p:cNvPr id="10" name="Text 6"/>
          <p:cNvSpPr txBox="1"/>
          <p:nvPr/>
        </p:nvSpPr>
        <p:spPr>
          <a:xfrm>
            <a:off x="777240" y="4828032"/>
            <a:ext cx="4297680" cy="896112"/>
          </a:xfrm>
          <a:prstGeom prst="rect">
            <a:avLst/>
          </a:prstGeom>
          <a:noFill/>
          <a:ln/>
        </p:spPr>
        <p:txBody>
          <a:bodyPr wrap="square" lIns="0" tIns="0" rIns="0" bIns="0" rtlCol="0" anchor="t"/>
          <a:lstStyle/>
          <a:p>
            <a:pPr algn="l" indent="0" marL="0">
              <a:buNone/>
            </a:pPr>
            <a:r>
              <a:rPr lang="en-US" sz="1800" b="1" dirty="0">
                <a:solidFill>
                  <a:srgbClr val="4B5563"/>
                </a:solidFill>
              </a:rPr>
              <a:t>Check:</a:t>
            </a:r>
            <a:pPr algn="l" indent="0" marL="0">
              <a:buNone/>
            </a:pPr>
            <a:r>
              <a:rPr lang="en-US" sz="1800" dirty="0">
                <a:solidFill>
                  <a:srgbClr val="4B5563"/>
                </a:solidFill>
              </a:rPr>
              <a:t> Count the slab picture: 10 of the 18 small pieces are orange, and 10/18 simplifies to 5/9 ✓</a:t>
            </a:r>
            <a:endParaRPr lang="en-US" sz="18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sp>
        <p:nvSpPr>
          <p:cNvPr id="12" name="Text 8"/>
          <p:cNvSpPr txBox="1"/>
          <p:nvPr/>
        </p:nvSpPr>
        <p:spPr>
          <a:xfrm>
            <a:off x="5852160" y="3051048"/>
            <a:ext cx="5516575" cy="256032"/>
          </a:xfrm>
          <a:prstGeom prst="rect">
            <a:avLst/>
          </a:prstGeom>
          <a:noFill/>
          <a:ln/>
        </p:spPr>
        <p:txBody>
          <a:bodyPr wrap="square" lIns="0" tIns="0" rIns="0" bIns="0" rtlCol="0" anchor="t"/>
          <a:lstStyle/>
          <a:p>
            <a:pPr algn="l" indent="0" marL="0">
              <a:buNone/>
            </a:pPr>
            <a:r>
              <a:rPr lang="en-US" sz="1200" b="1" dirty="0">
                <a:solidFill>
                  <a:srgbClr val="6B7280"/>
                </a:solidFill>
              </a:rPr>
              <a:t>HOW IT LOOKS ON YOUR PAGE</a:t>
            </a:r>
            <a:endParaRPr lang="en-US" sz="1200" dirty="0"/>
          </a:p>
        </p:txBody>
      </p:sp>
      <p:pic>
        <p:nvPicPr>
          <p:cNvPr id="13" name="Image 2" descr="the whole working">    </p:cNvPr>
          <p:cNvPicPr>
            <a:picLocks noChangeAspect="1"/>
          </p:cNvPicPr>
          <p:nvPr/>
        </p:nvPicPr>
        <p:blipFill>
          <a:blip r:embed="rId3"/>
          <a:stretch>
            <a:fillRect/>
          </a:stretch>
        </p:blipFill>
        <p:spPr>
          <a:xfrm>
            <a:off x="5852160" y="3361944"/>
            <a:ext cx="3231396" cy="264566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1/2 × 1/3</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Half OF a third. Top × top, bottom × bottom.</a:t>
            </a:r>
            <a:endParaRPr lang="en-US" sz="2800" dirty="0"/>
          </a:p>
        </p:txBody>
      </p:sp>
      <p:pic>
        <p:nvPicPr>
          <p:cNvPr id="5" name="Image 0" descr="1/2 × 1/3">    </p:cNvPr>
          <p:cNvPicPr>
            <a:picLocks noChangeAspect="1"/>
          </p:cNvPicPr>
          <p:nvPr/>
        </p:nvPicPr>
        <p:blipFill>
          <a:blip r:embed="rId1"/>
          <a:stretch>
            <a:fillRect/>
          </a:stretch>
        </p:blipFill>
        <p:spPr>
          <a:xfrm>
            <a:off x="548640" y="2526792"/>
            <a:ext cx="1419149"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FFFFFF"/>
          </a:solidFill>
          <a:ln w="15875">
            <a:solidFill>
              <a:srgbClr val="D1D5DB"/>
            </a:solidFill>
            <a:prstDash val="solid"/>
          </a:ln>
        </p:spPr>
      </p:sp>
      <p:sp>
        <p:nvSpPr>
          <p:cNvPr id="7" name="Text 4"/>
          <p:cNvSpPr txBox="1"/>
          <p:nvPr/>
        </p:nvSpPr>
        <p:spPr>
          <a:xfrm>
            <a:off x="7543800" y="2638044"/>
            <a:ext cx="4099255" cy="1463040"/>
          </a:xfrm>
          <a:prstGeom prst="rect">
            <a:avLst/>
          </a:prstGeom>
          <a:noFill/>
          <a:ln/>
        </p:spPr>
        <p:txBody>
          <a:bodyPr wrap="square" lIns="0" tIns="0" rIns="0" bIns="0" rtlCol="0" anchor="ctr"/>
          <a:lstStyle/>
          <a:p>
            <a:pPr algn="ctr" indent="0" marL="0">
              <a:buNone/>
            </a:pPr>
            <a:r>
              <a:rPr lang="en-US" sz="9600" b="1" dirty="0">
                <a:solidFill>
                  <a:srgbClr val="D1D5DB"/>
                </a:solidFill>
              </a:rPr>
              <a:t>?</a:t>
            </a:r>
            <a:endParaRPr lang="en-US" sz="9600" dirty="0"/>
          </a:p>
        </p:txBody>
      </p:sp>
      <p:sp>
        <p:nvSpPr>
          <p:cNvPr id="8" name="Text 5"/>
          <p:cNvSpPr txBox="1"/>
          <p:nvPr/>
        </p:nvSpPr>
        <p:spPr>
          <a:xfrm>
            <a:off x="7818120" y="4283964"/>
            <a:ext cx="3550615" cy="682752"/>
          </a:xfrm>
          <a:prstGeom prst="rect">
            <a:avLst/>
          </a:prstGeom>
          <a:noFill/>
          <a:ln/>
        </p:spPr>
        <p:txBody>
          <a:bodyPr wrap="square" lIns="0" tIns="0" rIns="0" bIns="0" rtlCol="0" anchor="t"/>
          <a:lstStyle/>
          <a:p>
            <a:pPr algn="ctr" indent="0" marL="0">
              <a:buNone/>
            </a:pPr>
            <a:r>
              <a:rPr lang="en-US" sz="2000" b="1" dirty="0">
                <a:solidFill>
                  <a:srgbClr val="6B7280"/>
                </a:solidFill>
              </a:rPr>
              <a:t>Type your answer in the chat</a:t>
            </a:r>
            <a:endParaRPr lang="en-US" sz="20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kind label"/>
          <p:cNvSpPr/>
          <p:nvPr/>
        </p:nvSpPr>
        <p:spPr>
          <a:xfrm>
            <a:off x="548640" y="365760"/>
            <a:ext cx="1818467"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QUICK CHECK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Your go: 1/2 × 1/3</a:t>
            </a:r>
            <a:endParaRPr lang="en-US" sz="3000" dirty="0"/>
          </a:p>
        </p:txBody>
      </p:sp>
      <p:sp>
        <p:nvSpPr>
          <p:cNvPr id="4" name="Text 2"/>
          <p:cNvSpPr txBox="1"/>
          <p:nvPr/>
        </p:nvSpPr>
        <p:spPr>
          <a:xfrm>
            <a:off x="548640" y="1417320"/>
            <a:ext cx="6675120" cy="926592"/>
          </a:xfrm>
          <a:prstGeom prst="rect">
            <a:avLst/>
          </a:prstGeom>
          <a:noFill/>
          <a:ln/>
        </p:spPr>
        <p:txBody>
          <a:bodyPr wrap="square" lIns="0" tIns="0" rIns="0" bIns="0" rtlCol="0" anchor="t"/>
          <a:lstStyle/>
          <a:p>
            <a:pPr algn="l" indent="0" marL="0">
              <a:buNone/>
            </a:pPr>
            <a:r>
              <a:rPr lang="en-US" sz="2800" b="1" dirty="0">
                <a:solidFill>
                  <a:schemeClr val="tx1"/>
                </a:solidFill>
              </a:rPr>
              <a:t>Half OF a third. Top × top, bottom × bottom.</a:t>
            </a:r>
            <a:endParaRPr lang="en-US" sz="2800" dirty="0"/>
          </a:p>
        </p:txBody>
      </p:sp>
      <p:pic>
        <p:nvPicPr>
          <p:cNvPr id="5" name="Image 0" descr="1/2 × 1/3">    </p:cNvPr>
          <p:cNvPicPr>
            <a:picLocks noChangeAspect="1"/>
          </p:cNvPicPr>
          <p:nvPr/>
        </p:nvPicPr>
        <p:blipFill>
          <a:blip r:embed="rId1"/>
          <a:stretch>
            <a:fillRect/>
          </a:stretch>
        </p:blipFill>
        <p:spPr>
          <a:xfrm>
            <a:off x="548640" y="2526792"/>
            <a:ext cx="1419149" cy="1126541"/>
          </a:xfrm>
          <a:prstGeom prst="rect">
            <a:avLst/>
          </a:prstGeom>
        </p:spPr>
      </p:pic>
      <p:sp>
        <p:nvSpPr>
          <p:cNvPr id="6" name="card"/>
          <p:cNvSpPr/>
          <p:nvPr/>
        </p:nvSpPr>
        <p:spPr>
          <a:xfrm>
            <a:off x="7543800" y="1417320"/>
            <a:ext cx="4099255" cy="4818888"/>
          </a:xfrm>
          <a:prstGeom prst="roundRect">
            <a:avLst>
              <a:gd name="adj" fmla="val 3123"/>
            </a:avLst>
          </a:prstGeom>
          <a:solidFill>
            <a:srgbClr val="E3F2E5"/>
          </a:solidFill>
          <a:ln/>
        </p:spPr>
      </p:sp>
      <p:sp>
        <p:nvSpPr>
          <p:cNvPr id="7" name="Text 4"/>
          <p:cNvSpPr txBox="1"/>
          <p:nvPr/>
        </p:nvSpPr>
        <p:spPr>
          <a:xfrm>
            <a:off x="7818120" y="1691640"/>
            <a:ext cx="3550615"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8" name="Image 1" descr="1/2 × 1/3 = 1 × 1/2 × 3 = 1/6">    </p:cNvPr>
          <p:cNvPicPr>
            <a:picLocks noChangeAspect="1"/>
          </p:cNvPicPr>
          <p:nvPr/>
        </p:nvPicPr>
        <p:blipFill>
          <a:blip r:embed="rId2"/>
          <a:stretch>
            <a:fillRect/>
          </a:stretch>
        </p:blipFill>
        <p:spPr>
          <a:xfrm>
            <a:off x="7818120" y="2115312"/>
            <a:ext cx="3550615" cy="992368"/>
          </a:xfrm>
          <a:prstGeom prst="rect">
            <a:avLst/>
          </a:prstGeom>
        </p:spPr>
      </p:pic>
      <p:pic>
        <p:nvPicPr>
          <p:cNvPr id="9" name="Image 2" descr="1/2 of 1/3 as an area">    </p:cNvPr>
          <p:cNvPicPr>
            <a:picLocks noChangeAspect="1"/>
          </p:cNvPicPr>
          <p:nvPr/>
        </p:nvPicPr>
        <p:blipFill>
          <a:blip r:embed="rId3"/>
          <a:stretch>
            <a:fillRect/>
          </a:stretch>
        </p:blipFill>
        <p:spPr>
          <a:xfrm>
            <a:off x="7818120" y="3290560"/>
            <a:ext cx="2223707" cy="1848368"/>
          </a:xfrm>
          <a:prstGeom prst="rect">
            <a:avLst/>
          </a:prstGeom>
        </p:spPr>
      </p:pic>
      <p:sp>
        <p:nvSpPr>
          <p:cNvPr id="10" name="Text 5"/>
          <p:cNvSpPr txBox="1"/>
          <p:nvPr/>
        </p:nvSpPr>
        <p:spPr>
          <a:xfrm>
            <a:off x="7818120" y="5321808"/>
            <a:ext cx="3550615" cy="804672"/>
          </a:xfrm>
          <a:prstGeom prst="rect">
            <a:avLst/>
          </a:prstGeom>
          <a:noFill/>
          <a:ln/>
        </p:spPr>
        <p:txBody>
          <a:bodyPr wrap="square" lIns="0" tIns="0" rIns="0" bIns="0" rtlCol="0" anchor="t"/>
          <a:lstStyle/>
          <a:p>
            <a:pPr algn="l" indent="0" marL="0">
              <a:buNone/>
            </a:pPr>
            <a:r>
              <a:rPr lang="en-US" sz="1600" dirty="0">
                <a:solidFill>
                  <a:schemeClr val="tx1"/>
                </a:solidFill>
              </a:rPr>
              <a:t>Tops: 1 × 1 = 1. Bottoms: 2 × 3 = 6. Half of a third is a sixth. Nothing to simplify.</a:t>
            </a:r>
            <a:endParaRPr lang="en-US" sz="16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idea number"/>
          <p:cNvSpPr/>
          <p:nvPr/>
        </p:nvSpPr>
        <p:spPr>
          <a:xfrm>
            <a:off x="731520" y="2377440"/>
            <a:ext cx="1737360" cy="1737360"/>
          </a:xfrm>
          <a:prstGeom prst="ellipse">
            <a:avLst/>
          </a:prstGeom>
          <a:solidFill>
            <a:schemeClr val="accent2"/>
          </a:solidFill>
          <a:ln/>
        </p:spPr>
        <p:txBody>
          <a:bodyPr wrap="square" lIns="0" tIns="0" rIns="0" bIns="0" rtlCol="0" anchor="ctr"/>
          <a:lstStyle/>
          <a:p>
            <a:pPr algn="ctr" indent="0" marL="0">
              <a:buNone/>
            </a:pPr>
            <a:r>
              <a:rPr lang="en-US" sz="6600" b="1" dirty="0">
                <a:solidFill>
                  <a:schemeClr val="tx2"/>
                </a:solidFill>
              </a:rPr>
              <a:t>6</a:t>
            </a:r>
            <a:endParaRPr lang="en-US" sz="6600" dirty="0"/>
          </a:p>
        </p:txBody>
      </p:sp>
      <p:sp>
        <p:nvSpPr>
          <p:cNvPr id="3" name="Text 1"/>
          <p:cNvSpPr txBox="1"/>
          <p:nvPr/>
        </p:nvSpPr>
        <p:spPr>
          <a:xfrm>
            <a:off x="2834640" y="2011680"/>
            <a:ext cx="8229600" cy="365760"/>
          </a:xfrm>
          <a:prstGeom prst="rect">
            <a:avLst/>
          </a:prstGeom>
          <a:noFill/>
          <a:ln/>
        </p:spPr>
        <p:txBody>
          <a:bodyPr wrap="square" lIns="0" tIns="0" rIns="0" bIns="0" rtlCol="0" anchor="ctr"/>
          <a:lstStyle/>
          <a:p>
            <a:pPr indent="0" marL="0">
              <a:buNone/>
            </a:pPr>
            <a:r>
              <a:rPr lang="en-US" sz="1600" b="1" spc="200" kern="0" dirty="0">
                <a:solidFill>
                  <a:srgbClr val="B45309"/>
                </a:solidFill>
              </a:rPr>
              <a:t>PART 6 OF 7 · LESSON 3, IDEA 3   ·   about 5 minutes</a:t>
            </a:r>
            <a:endParaRPr lang="en-US" sz="1600" dirty="0"/>
          </a:p>
        </p:txBody>
      </p:sp>
      <p:sp>
        <p:nvSpPr>
          <p:cNvPr id="4" name="Text 0"/>
          <p:cNvSpPr/>
          <p:nvPr>
            <p:ph idx="100" type="title" hasCustomPrompt="1"/>
          </p:nvPr>
        </p:nvSpPr>
        <p:spPr>
          <a:xfrm>
            <a:off x="2834640" y="2514600"/>
            <a:ext cx="8778240" cy="1371600"/>
          </a:xfrm>
          <a:prstGeom prst="rect">
            <a:avLst/>
          </a:prstGeom>
          <a:noFill/>
          <a:ln/>
        </p:spPr>
        <p:txBody>
          <a:bodyPr wrap="square" lIns="0" tIns="0" rIns="0" bIns="0" rtlCol="0" anchor="t"/>
          <a:lstStyle/>
          <a:p>
            <a:pPr algn="l" indent="0" marL="0">
              <a:buNone/>
            </a:pPr>
            <a:r>
              <a:rPr lang="en-US" sz="4000" b="1" dirty="0">
                <a:solidFill>
                  <a:schemeClr val="tx1"/>
                </a:solidFill>
              </a:rPr>
              <a:t>A whole number or a mixed number in a multiplication</a:t>
            </a:r>
            <a:endParaRPr lang="en-US" sz="4000" dirty="0"/>
          </a:p>
        </p:txBody>
      </p:sp>
      <p:sp>
        <p:nvSpPr>
          <p:cNvPr id="5" name="Text 0"/>
          <p:cNvSpPr/>
          <p:nvPr>
            <p:ph idx="101" type="body" hasCustomPrompt="1"/>
          </p:nvPr>
        </p:nvSpPr>
        <p:spPr>
          <a:xfrm>
            <a:off x="2834640" y="3931920"/>
            <a:ext cx="8778240" cy="1280160"/>
          </a:xfrm>
          <a:prstGeom prst="rect">
            <a:avLst/>
          </a:prstGeom>
          <a:noFill/>
          <a:ln/>
        </p:spPr>
        <p:txBody>
          <a:bodyPr wrap="square" lIns="0" tIns="0" rIns="0" bIns="0" rtlCol="0" anchor="t"/>
          <a:lstStyle/>
          <a:p>
            <a:pPr algn="l" indent="0" marL="0">
              <a:buNone/>
            </a:pPr>
            <a:r>
              <a:rPr lang="en-US" sz="2400" dirty="0">
                <a:solidFill>
                  <a:srgbClr val="4B5563"/>
                </a:solidFill>
              </a:rPr>
              <a:t>Turn everything into a plain fraction first</a:t>
            </a:r>
            <a:endParaRPr lang="en-US" sz="24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kind label"/>
          <p:cNvSpPr/>
          <p:nvPr/>
        </p:nvSpPr>
        <p:spPr>
          <a:xfrm>
            <a:off x="548640" y="365760"/>
            <a:ext cx="1426453"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THE RULE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First turn every number into a plain fraction</a:t>
            </a:r>
            <a:endParaRPr lang="en-US" sz="3000" dirty="0"/>
          </a:p>
        </p:txBody>
      </p:sp>
      <p:sp>
        <p:nvSpPr>
          <p:cNvPr id="4" name="card"/>
          <p:cNvSpPr/>
          <p:nvPr/>
        </p:nvSpPr>
        <p:spPr>
          <a:xfrm>
            <a:off x="548640" y="1417320"/>
            <a:ext cx="5257800" cy="4261104"/>
          </a:xfrm>
          <a:prstGeom prst="roundRect">
            <a:avLst>
              <a:gd name="adj" fmla="val 3004"/>
            </a:avLst>
          </a:prstGeom>
          <a:solidFill>
            <a:srgbClr val="E3ECF8"/>
          </a:solidFill>
          <a:ln/>
        </p:spPr>
      </p:sp>
      <p:sp>
        <p:nvSpPr>
          <p:cNvPr id="5" name="Text 3"/>
          <p:cNvSpPr txBox="1"/>
          <p:nvPr/>
        </p:nvSpPr>
        <p:spPr>
          <a:xfrm>
            <a:off x="804672" y="1673352"/>
            <a:ext cx="4745736" cy="3840480"/>
          </a:xfrm>
          <a:prstGeom prst="rect">
            <a:avLst/>
          </a:prstGeom>
          <a:noFill/>
          <a:ln/>
        </p:spPr>
        <p:txBody>
          <a:bodyPr wrap="square" lIns="0" tIns="0" rIns="0" bIns="0" rtlCol="0" anchor="t"/>
          <a:lstStyle/>
          <a:p>
            <a:pPr algn="l" indent="0" marL="0">
              <a:spcAft>
                <a:spcPts val="1200"/>
              </a:spcAft>
              <a:buNone/>
            </a:pPr>
            <a:r>
              <a:rPr lang="en-US" sz="2400" dirty="0">
                <a:solidFill>
                  <a:schemeClr val="tx1"/>
                </a:solidFill>
              </a:rPr>
              <a:t>A </a:t>
            </a:r>
            <a:pPr algn="l" indent="0" marL="0">
              <a:spcAft>
                <a:spcPts val="1200"/>
              </a:spcAft>
              <a:buNone/>
            </a:pPr>
            <a:r>
              <a:rPr lang="en-US" sz="2400" b="1" dirty="0">
                <a:solidFill>
                  <a:schemeClr val="tx1"/>
                </a:solidFill>
              </a:rPr>
              <a:t>plain fraction</a:t>
            </a:r>
            <a:pPr algn="l" indent="0" marL="0">
              <a:spcAft>
                <a:spcPts val="1200"/>
              </a:spcAft>
              <a:buNone/>
            </a:pPr>
            <a:r>
              <a:rPr lang="en-US" sz="2400" dirty="0">
                <a:solidFill>
                  <a:schemeClr val="tx1"/>
                </a:solidFill>
              </a:rPr>
              <a:t> is just a top and a bottom, with no whole number in front.</a:t>
            </a:r>
            <a:endParaRPr lang="en-US" sz="2400" dirty="0"/>
          </a:p>
          <a:p>
            <a:pPr algn="l" indent="0" marL="0">
              <a:spcAft>
                <a:spcPts val="1200"/>
              </a:spcAft>
              <a:buNone/>
            </a:pPr>
            <a:r>
              <a:rPr lang="en-US" sz="2400" b="1" dirty="0">
                <a:solidFill>
                  <a:schemeClr val="tx1"/>
                </a:solidFill>
              </a:rPr>
              <a:t>A whole number:</a:t>
            </a:r>
            <a:pPr algn="l" indent="0" marL="0">
              <a:spcAft>
                <a:spcPts val="1200"/>
              </a:spcAft>
              <a:buNone/>
            </a:pPr>
            <a:r>
              <a:rPr lang="en-US" sz="2400" dirty="0">
                <a:solidFill>
                  <a:schemeClr val="tx1"/>
                </a:solidFill>
              </a:rPr>
              <a:t> write it over 1. 3 = 3/1, because 3 ÷ 1 is still 3.</a:t>
            </a:r>
            <a:endParaRPr lang="en-US" sz="2400" dirty="0"/>
          </a:p>
          <a:p>
            <a:pPr algn="l" indent="0" marL="0">
              <a:spcAft>
                <a:spcPts val="1200"/>
              </a:spcAft>
              <a:buNone/>
            </a:pPr>
            <a:r>
              <a:rPr lang="en-US" sz="2400" b="1" dirty="0">
                <a:solidFill>
                  <a:schemeClr val="tx1"/>
                </a:solidFill>
              </a:rPr>
              <a:t>A mixed number:</a:t>
            </a:r>
            <a:pPr algn="l" indent="0" marL="0">
              <a:spcAft>
                <a:spcPts val="1200"/>
              </a:spcAft>
              <a:buNone/>
            </a:pPr>
            <a:r>
              <a:rPr lang="en-US" sz="2400" dirty="0">
                <a:solidFill>
                  <a:schemeClr val="tx1"/>
                </a:solidFill>
              </a:rPr>
              <a:t> change it into an improper fraction (Part 3).</a:t>
            </a:r>
            <a:endParaRPr lang="en-US" sz="2400" dirty="0"/>
          </a:p>
          <a:p>
            <a:pPr algn="l" indent="0" marL="0">
              <a:spcAft>
                <a:spcPts val="1200"/>
              </a:spcAft>
              <a:buNone/>
            </a:pPr>
            <a:r>
              <a:rPr lang="en-US" sz="2400" dirty="0">
                <a:solidFill>
                  <a:schemeClr val="tx1"/>
                </a:solidFill>
              </a:rPr>
              <a:t>Then multiply as before: top × top, bottom × bottom.</a:t>
            </a:r>
            <a:endParaRPr lang="en-US" sz="2400" dirty="0"/>
          </a:p>
        </p:txBody>
      </p:sp>
      <p:pic>
        <p:nvPicPr>
          <p:cNvPr id="6" name="Image 0" descr="3 then 3/1; 1 1/2 then 3/2">    </p:cNvPr>
          <p:cNvPicPr>
            <a:picLocks noChangeAspect="1"/>
          </p:cNvPicPr>
          <p:nvPr/>
        </p:nvPicPr>
        <p:blipFill>
          <a:blip r:embed="rId1"/>
          <a:stretch>
            <a:fillRect/>
          </a:stretch>
        </p:blipFill>
        <p:spPr>
          <a:xfrm>
            <a:off x="6126480" y="1417320"/>
            <a:ext cx="5516575" cy="302064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5: three groups of one and a half</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3 × 1 and 1/2">    </p:cNvPr>
          <p:cNvPicPr>
            <a:picLocks noChangeAspect="1"/>
          </p:cNvPicPr>
          <p:nvPr/>
        </p:nvPicPr>
        <p:blipFill>
          <a:blip r:embed="rId1"/>
          <a:stretch>
            <a:fillRect/>
          </a:stretch>
        </p:blipFill>
        <p:spPr>
          <a:xfrm>
            <a:off x="2374509" y="1600200"/>
            <a:ext cx="127406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1 OF 3</a:t>
            </a:r>
            <a:endParaRPr lang="en-US" sz="1400" dirty="0"/>
          </a:p>
        </p:txBody>
      </p:sp>
      <p:sp>
        <p:nvSpPr>
          <p:cNvPr id="9" name="Text 6"/>
          <p:cNvSpPr txBox="1"/>
          <p:nvPr/>
        </p:nvSpPr>
        <p:spPr>
          <a:xfrm>
            <a:off x="548640" y="3681984"/>
            <a:ext cx="4754880" cy="1261872"/>
          </a:xfrm>
          <a:prstGeom prst="rect">
            <a:avLst/>
          </a:prstGeom>
          <a:noFill/>
          <a:ln/>
        </p:spPr>
        <p:txBody>
          <a:bodyPr wrap="square" lIns="0" tIns="0" rIns="0" bIns="0" rtlCol="0" anchor="t"/>
          <a:lstStyle/>
          <a:p>
            <a:pPr algn="l" indent="0" marL="0">
              <a:buNone/>
            </a:pPr>
            <a:r>
              <a:rPr lang="en-US" sz="2600" b="1" dirty="0">
                <a:solidFill>
                  <a:schemeClr val="tx1"/>
                </a:solidFill>
              </a:rPr>
              <a:t>Make both numbers plain fractions. 3 is 3/1. And 1 1/2 is 3/2, because 1 × 2 + 1 = 3.</a:t>
            </a:r>
            <a:endParaRPr lang="en-US" sz="2600" dirty="0"/>
          </a:p>
        </p:txBody>
      </p:sp>
      <p:sp>
        <p:nvSpPr>
          <p:cNvPr id="10" name="Text 7"/>
          <p:cNvSpPr txBox="1"/>
          <p:nvPr/>
        </p:nvSpPr>
        <p:spPr>
          <a:xfrm>
            <a:off x="548640" y="5108448"/>
            <a:ext cx="4754880" cy="6827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One whole is 2 halves, plus 1 more half makes 3 halves.</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3 = 3/1; 1 and 1/2 = 1 × 2 + 1/2 = 3/2">    </p:cNvPr>
          <p:cNvPicPr>
            <a:picLocks noChangeAspect="1"/>
          </p:cNvPicPr>
          <p:nvPr/>
        </p:nvPicPr>
        <p:blipFill>
          <a:blip r:embed="rId2"/>
          <a:stretch>
            <a:fillRect/>
          </a:stretch>
        </p:blipFill>
        <p:spPr>
          <a:xfrm>
            <a:off x="6255185" y="3284175"/>
            <a:ext cx="4710525" cy="2572603"/>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5: three groups of one and a half</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3 × 1 and 1/2">    </p:cNvPr>
          <p:cNvPicPr>
            <a:picLocks noChangeAspect="1"/>
          </p:cNvPicPr>
          <p:nvPr/>
        </p:nvPicPr>
        <p:blipFill>
          <a:blip r:embed="rId1"/>
          <a:stretch>
            <a:fillRect/>
          </a:stretch>
        </p:blipFill>
        <p:spPr>
          <a:xfrm>
            <a:off x="2374509" y="1600200"/>
            <a:ext cx="127406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2 OF 3</a:t>
            </a:r>
            <a:endParaRPr lang="en-US" sz="1400" dirty="0"/>
          </a:p>
        </p:txBody>
      </p:sp>
      <p:sp>
        <p:nvSpPr>
          <p:cNvPr id="9" name="Text 6"/>
          <p:cNvSpPr txBox="1"/>
          <p:nvPr/>
        </p:nvSpPr>
        <p:spPr>
          <a:xfrm>
            <a:off x="548640" y="3681984"/>
            <a:ext cx="4754880" cy="865632"/>
          </a:xfrm>
          <a:prstGeom prst="rect">
            <a:avLst/>
          </a:prstGeom>
          <a:noFill/>
          <a:ln/>
        </p:spPr>
        <p:txBody>
          <a:bodyPr wrap="square" lIns="0" tIns="0" rIns="0" bIns="0" rtlCol="0" anchor="t"/>
          <a:lstStyle/>
          <a:p>
            <a:pPr algn="l" indent="0" marL="0">
              <a:buNone/>
            </a:pPr>
            <a:r>
              <a:rPr lang="en-US" sz="2600" b="1" dirty="0">
                <a:solidFill>
                  <a:schemeClr val="tx1"/>
                </a:solidFill>
              </a:rPr>
              <a:t>Tops: 3 × 3 = 9. Bottoms: 1 × 2 = 2.</a:t>
            </a:r>
            <a:endParaRPr lang="en-US" sz="2600" dirty="0"/>
          </a:p>
        </p:txBody>
      </p:sp>
      <p:sp>
        <p:nvSpPr>
          <p:cNvPr id="10" name="Text 7"/>
          <p:cNvSpPr txBox="1"/>
          <p:nvPr/>
        </p:nvSpPr>
        <p:spPr>
          <a:xfrm>
            <a:off x="548640" y="4712208"/>
            <a:ext cx="4754880" cy="3779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Top × top, bottom × bottom.</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3/1 × 3/2 = 3 × 3/1 × 2 = 9/2">    </p:cNvPr>
          <p:cNvPicPr>
            <a:picLocks noChangeAspect="1"/>
          </p:cNvPicPr>
          <p:nvPr/>
        </p:nvPicPr>
        <p:blipFill>
          <a:blip r:embed="rId2"/>
          <a:stretch>
            <a:fillRect/>
          </a:stretch>
        </p:blipFill>
        <p:spPr>
          <a:xfrm>
            <a:off x="6326154" y="3927325"/>
            <a:ext cx="4568588" cy="128630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5: three groups of one and a half</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3 × 1 and 1/2">    </p:cNvPr>
          <p:cNvPicPr>
            <a:picLocks noChangeAspect="1"/>
          </p:cNvPicPr>
          <p:nvPr/>
        </p:nvPicPr>
        <p:blipFill>
          <a:blip r:embed="rId1"/>
          <a:stretch>
            <a:fillRect/>
          </a:stretch>
        </p:blipFill>
        <p:spPr>
          <a:xfrm>
            <a:off x="2374509" y="1600200"/>
            <a:ext cx="1274064"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3 OF 3</a:t>
            </a:r>
            <a:endParaRPr lang="en-US" sz="1400" dirty="0"/>
          </a:p>
        </p:txBody>
      </p:sp>
      <p:sp>
        <p:nvSpPr>
          <p:cNvPr id="9" name="Text 6"/>
          <p:cNvSpPr txBox="1"/>
          <p:nvPr/>
        </p:nvSpPr>
        <p:spPr>
          <a:xfrm>
            <a:off x="548640" y="3681984"/>
            <a:ext cx="4754880" cy="1658112"/>
          </a:xfrm>
          <a:prstGeom prst="rect">
            <a:avLst/>
          </a:prstGeom>
          <a:noFill/>
          <a:ln/>
        </p:spPr>
        <p:txBody>
          <a:bodyPr wrap="square" lIns="0" tIns="0" rIns="0" bIns="0" rtlCol="0" anchor="t"/>
          <a:lstStyle/>
          <a:p>
            <a:pPr algn="l" indent="0" marL="0">
              <a:buNone/>
            </a:pPr>
            <a:r>
              <a:rPr lang="en-US" sz="2600" b="1" dirty="0">
                <a:solidFill>
                  <a:schemeClr val="tx1"/>
                </a:solidFill>
              </a:rPr>
              <a:t>The top is bigger than the bottom. Divide: how many 2s fit into 9? Four 2s make 8, and 1 is left over.</a:t>
            </a:r>
            <a:endParaRPr lang="en-US" sz="2600" dirty="0"/>
          </a:p>
        </p:txBody>
      </p:sp>
      <p:sp>
        <p:nvSpPr>
          <p:cNvPr id="10" name="Text 7"/>
          <p:cNvSpPr txBox="1"/>
          <p:nvPr/>
        </p:nvSpPr>
        <p:spPr>
          <a:xfrm>
            <a:off x="548640" y="5504688"/>
            <a:ext cx="4754880" cy="3779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Every 2 halves make one whole.</a:t>
            </a:r>
            <a:endParaRPr lang="en-US" sz="20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2" name="Image 1" descr="9 ÷ 2 = 4 remainder 1; 9/2 = 4 and 1/2">    </p:cNvPr>
          <p:cNvPicPr>
            <a:picLocks noChangeAspect="1"/>
          </p:cNvPicPr>
          <p:nvPr/>
        </p:nvPicPr>
        <p:blipFill>
          <a:blip r:embed="rId2"/>
          <a:stretch>
            <a:fillRect/>
          </a:stretch>
        </p:blipFill>
        <p:spPr>
          <a:xfrm>
            <a:off x="6104377" y="3572483"/>
            <a:ext cx="5012140" cy="1995985"/>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kind label"/>
          <p:cNvSpPr/>
          <p:nvPr/>
        </p:nvSpPr>
        <p:spPr>
          <a:xfrm>
            <a:off x="548640" y="365760"/>
            <a:ext cx="1317473"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ANSWER</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5: three groups of one and a half</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3 × 1 and 1/2">    </p:cNvPr>
          <p:cNvPicPr>
            <a:picLocks noChangeAspect="1"/>
          </p:cNvPicPr>
          <p:nvPr/>
        </p:nvPicPr>
        <p:blipFill>
          <a:blip r:embed="rId1"/>
          <a:stretch>
            <a:fillRect/>
          </a:stretch>
        </p:blipFill>
        <p:spPr>
          <a:xfrm>
            <a:off x="2374509" y="1600200"/>
            <a:ext cx="1274064" cy="938784"/>
          </a:xfrm>
          <a:prstGeom prst="rect">
            <a:avLst/>
          </a:prstGeom>
        </p:spPr>
      </p:pic>
      <p:sp>
        <p:nvSpPr>
          <p:cNvPr id="7" name="answer"/>
          <p:cNvSpPr/>
          <p:nvPr/>
        </p:nvSpPr>
        <p:spPr>
          <a:xfrm>
            <a:off x="548640" y="2904744"/>
            <a:ext cx="4754880" cy="2872047"/>
          </a:xfrm>
          <a:prstGeom prst="roundRect">
            <a:avLst>
              <a:gd name="adj" fmla="val 4457"/>
            </a:avLst>
          </a:prstGeom>
          <a:solidFill>
            <a:srgbClr val="E3F2E5"/>
          </a:solidFill>
          <a:ln/>
        </p:spPr>
      </p:sp>
      <p:sp>
        <p:nvSpPr>
          <p:cNvPr id="8" name="Text 5"/>
          <p:cNvSpPr txBox="1"/>
          <p:nvPr/>
        </p:nvSpPr>
        <p:spPr>
          <a:xfrm>
            <a:off x="777240" y="3069336"/>
            <a:ext cx="1828800"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9" name="Image 1" descr="4 and 1/2">    </p:cNvPr>
          <p:cNvPicPr>
            <a:picLocks noChangeAspect="1"/>
          </p:cNvPicPr>
          <p:nvPr/>
        </p:nvPicPr>
        <p:blipFill>
          <a:blip r:embed="rId2"/>
          <a:stretch>
            <a:fillRect/>
          </a:stretch>
        </p:blipFill>
        <p:spPr>
          <a:xfrm>
            <a:off x="777240" y="3416808"/>
            <a:ext cx="906087" cy="1363287"/>
          </a:xfrm>
          <a:prstGeom prst="rect">
            <a:avLst/>
          </a:prstGeom>
        </p:spPr>
      </p:pic>
      <p:sp>
        <p:nvSpPr>
          <p:cNvPr id="10" name="Text 6"/>
          <p:cNvSpPr txBox="1"/>
          <p:nvPr/>
        </p:nvSpPr>
        <p:spPr>
          <a:xfrm>
            <a:off x="777240" y="4871535"/>
            <a:ext cx="4297680" cy="621792"/>
          </a:xfrm>
          <a:prstGeom prst="rect">
            <a:avLst/>
          </a:prstGeom>
          <a:noFill/>
          <a:ln/>
        </p:spPr>
        <p:txBody>
          <a:bodyPr wrap="square" lIns="0" tIns="0" rIns="0" bIns="0" rtlCol="0" anchor="t"/>
          <a:lstStyle/>
          <a:p>
            <a:pPr algn="l" indent="0" marL="0">
              <a:buNone/>
            </a:pPr>
            <a:r>
              <a:rPr lang="en-US" sz="1800" b="1" dirty="0">
                <a:solidFill>
                  <a:srgbClr val="4B5563"/>
                </a:solidFill>
              </a:rPr>
              <a:t>Check:</a:t>
            </a:r>
            <a:pPr algn="l" indent="0" marL="0">
              <a:buNone/>
            </a:pPr>
            <a:r>
              <a:rPr lang="en-US" sz="1800" dirty="0">
                <a:solidFill>
                  <a:srgbClr val="4B5563"/>
                </a:solidFill>
              </a:rPr>
              <a:t> In money: 3 groups of R1.50 is R4.50 ✓</a:t>
            </a:r>
            <a:endParaRPr lang="en-US" sz="1800" dirty="0"/>
          </a:p>
        </p:txBody>
      </p:sp>
      <p:sp>
        <p:nvSpPr>
          <p:cNvPr id="11"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sp>
        <p:nvSpPr>
          <p:cNvPr id="12" name="Text 8"/>
          <p:cNvSpPr txBox="1"/>
          <p:nvPr/>
        </p:nvSpPr>
        <p:spPr>
          <a:xfrm>
            <a:off x="5852160" y="3051048"/>
            <a:ext cx="5516575" cy="256032"/>
          </a:xfrm>
          <a:prstGeom prst="rect">
            <a:avLst/>
          </a:prstGeom>
          <a:noFill/>
          <a:ln/>
        </p:spPr>
        <p:txBody>
          <a:bodyPr wrap="square" lIns="0" tIns="0" rIns="0" bIns="0" rtlCol="0" anchor="t"/>
          <a:lstStyle/>
          <a:p>
            <a:pPr algn="l" indent="0" marL="0">
              <a:buNone/>
            </a:pPr>
            <a:r>
              <a:rPr lang="en-US" sz="1200" b="1" dirty="0">
                <a:solidFill>
                  <a:srgbClr val="6B7280"/>
                </a:solidFill>
              </a:rPr>
              <a:t>HOW IT LOOKS ON YOUR PAGE</a:t>
            </a:r>
            <a:endParaRPr lang="en-US" sz="1200" dirty="0"/>
          </a:p>
        </p:txBody>
      </p:sp>
      <p:pic>
        <p:nvPicPr>
          <p:cNvPr id="13" name="Image 2" descr="the whole working">    </p:cNvPr>
          <p:cNvPicPr>
            <a:picLocks noChangeAspect="1"/>
          </p:cNvPicPr>
          <p:nvPr/>
        </p:nvPicPr>
        <p:blipFill>
          <a:blip r:embed="rId3"/>
          <a:stretch>
            <a:fillRect/>
          </a:stretch>
        </p:blipFill>
        <p:spPr>
          <a:xfrm>
            <a:off x="5852160" y="3361944"/>
            <a:ext cx="2465725" cy="2015057"/>
          </a:xfrm>
          <a:prstGeom prst="rect">
            <a:avLst/>
          </a:prstGeom>
        </p:spPr>
      </p:pic>
      <p:pic>
        <p:nvPicPr>
          <p:cNvPr id="14" name="Image 3" descr="the whole working">    </p:cNvPr>
          <p:cNvPicPr>
            <a:picLocks noChangeAspect="1"/>
          </p:cNvPicPr>
          <p:nvPr/>
        </p:nvPicPr>
        <p:blipFill>
          <a:blip r:embed="rId4"/>
          <a:stretch>
            <a:fillRect/>
          </a:stretch>
        </p:blipFill>
        <p:spPr>
          <a:xfrm>
            <a:off x="8747608" y="3361944"/>
            <a:ext cx="2621128" cy="1046379"/>
          </a:xfrm>
          <a:prstGeom prst="rect">
            <a:avLst/>
          </a:prstGeom>
        </p:spPr>
      </p:pic>
      <p:sp>
        <p:nvSpPr>
          <p:cNvPr id="15" name="Shape 9"/>
          <p:cNvSpPr/>
          <p:nvPr/>
        </p:nvSpPr>
        <p:spPr>
          <a:xfrm>
            <a:off x="8610448" y="3361944"/>
            <a:ext cx="0" cy="2554224"/>
          </a:xfrm>
          <a:prstGeom prst="line">
            <a:avLst/>
          </a:prstGeom>
          <a:noFill/>
          <a:ln w="12700">
            <a:solidFill>
              <a:srgbClr val="D1D5DB"/>
            </a:solidFill>
            <a:prstDash val="solid"/>
          </a:ln>
        </p:spPr>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idea number"/>
          <p:cNvSpPr/>
          <p:nvPr/>
        </p:nvSpPr>
        <p:spPr>
          <a:xfrm>
            <a:off x="731520" y="2377440"/>
            <a:ext cx="1737360" cy="1737360"/>
          </a:xfrm>
          <a:prstGeom prst="ellipse">
            <a:avLst/>
          </a:prstGeom>
          <a:solidFill>
            <a:schemeClr val="accent2"/>
          </a:solidFill>
          <a:ln/>
        </p:spPr>
        <p:txBody>
          <a:bodyPr wrap="square" lIns="0" tIns="0" rIns="0" bIns="0" rtlCol="0" anchor="ctr"/>
          <a:lstStyle/>
          <a:p>
            <a:pPr algn="ctr" indent="0" marL="0">
              <a:buNone/>
            </a:pPr>
            <a:r>
              <a:rPr lang="en-US" sz="6600" b="1" dirty="0">
                <a:solidFill>
                  <a:schemeClr val="tx2"/>
                </a:solidFill>
              </a:rPr>
              <a:t>7</a:t>
            </a:r>
            <a:endParaRPr lang="en-US" sz="6600" dirty="0"/>
          </a:p>
        </p:txBody>
      </p:sp>
      <p:sp>
        <p:nvSpPr>
          <p:cNvPr id="3" name="Text 1"/>
          <p:cNvSpPr txBox="1"/>
          <p:nvPr/>
        </p:nvSpPr>
        <p:spPr>
          <a:xfrm>
            <a:off x="2834640" y="2011680"/>
            <a:ext cx="8229600" cy="365760"/>
          </a:xfrm>
          <a:prstGeom prst="rect">
            <a:avLst/>
          </a:prstGeom>
          <a:noFill/>
          <a:ln/>
        </p:spPr>
        <p:txBody>
          <a:bodyPr wrap="square" lIns="0" tIns="0" rIns="0" bIns="0" rtlCol="0" anchor="ctr"/>
          <a:lstStyle/>
          <a:p>
            <a:pPr indent="0" marL="0">
              <a:buNone/>
            </a:pPr>
            <a:r>
              <a:rPr lang="en-US" sz="1600" b="1" spc="200" kern="0" dirty="0">
                <a:solidFill>
                  <a:srgbClr val="B45309"/>
                </a:solidFill>
              </a:rPr>
              <a:t>PART 7 OF 7 · LESSON 3, IDEA 4   ·   about 10 minutes</a:t>
            </a:r>
            <a:endParaRPr lang="en-US" sz="1600" dirty="0"/>
          </a:p>
        </p:txBody>
      </p:sp>
      <p:sp>
        <p:nvSpPr>
          <p:cNvPr id="4" name="Text 0"/>
          <p:cNvSpPr/>
          <p:nvPr>
            <p:ph idx="100" type="title" hasCustomPrompt="1"/>
          </p:nvPr>
        </p:nvSpPr>
        <p:spPr>
          <a:xfrm>
            <a:off x="2834640" y="2514600"/>
            <a:ext cx="8778240" cy="1371600"/>
          </a:xfrm>
          <a:prstGeom prst="rect">
            <a:avLst/>
          </a:prstGeom>
          <a:noFill/>
          <a:ln/>
        </p:spPr>
        <p:txBody>
          <a:bodyPr wrap="square" lIns="0" tIns="0" rIns="0" bIns="0" rtlCol="0" anchor="t"/>
          <a:lstStyle/>
          <a:p>
            <a:pPr algn="l" indent="0" marL="0">
              <a:buNone/>
            </a:pPr>
            <a:r>
              <a:rPr lang="en-US" sz="4000" b="1" dirty="0">
                <a:solidFill>
                  <a:schemeClr val="tx1"/>
                </a:solidFill>
              </a:rPr>
              <a:t>A fraction OF an amount</a:t>
            </a:r>
            <a:endParaRPr lang="en-US" sz="4000" dirty="0"/>
          </a:p>
        </p:txBody>
      </p:sp>
      <p:sp>
        <p:nvSpPr>
          <p:cNvPr id="5" name="Text 0"/>
          <p:cNvSpPr/>
          <p:nvPr>
            <p:ph idx="101" type="body" hasCustomPrompt="1"/>
          </p:nvPr>
        </p:nvSpPr>
        <p:spPr>
          <a:xfrm>
            <a:off x="2834640" y="3931920"/>
            <a:ext cx="8778240" cy="1280160"/>
          </a:xfrm>
          <a:prstGeom prst="rect">
            <a:avLst/>
          </a:prstGeom>
          <a:noFill/>
          <a:ln/>
        </p:spPr>
        <p:txBody>
          <a:bodyPr wrap="square" lIns="0" tIns="0" rIns="0" bIns="0" rtlCol="0" anchor="t"/>
          <a:lstStyle/>
          <a:p>
            <a:pPr algn="l" indent="0" marL="0">
              <a:buNone/>
            </a:pPr>
            <a:r>
              <a:rPr lang="en-US" sz="2400" dirty="0">
                <a:solidFill>
                  <a:srgbClr val="4B5563"/>
                </a:solidFill>
              </a:rPr>
              <a:t>Divide by the bottom, then multiply by the top</a:t>
            </a:r>
            <a:endParaRPr lang="en-US" sz="24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kind label"/>
          <p:cNvSpPr/>
          <p:nvPr/>
        </p:nvSpPr>
        <p:spPr>
          <a:xfrm>
            <a:off x="548640" y="365760"/>
            <a:ext cx="15462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PICTURE IT</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What is 2/5 of R100?</a:t>
            </a:r>
            <a:endParaRPr lang="en-US" sz="3000" dirty="0"/>
          </a:p>
        </p:txBody>
      </p:sp>
      <p:sp>
        <p:nvSpPr>
          <p:cNvPr id="4" name="card"/>
          <p:cNvSpPr/>
          <p:nvPr/>
        </p:nvSpPr>
        <p:spPr>
          <a:xfrm>
            <a:off x="548640" y="1417320"/>
            <a:ext cx="11094415" cy="2279904"/>
          </a:xfrm>
          <a:prstGeom prst="roundRect">
            <a:avLst>
              <a:gd name="adj" fmla="val 5615"/>
            </a:avLst>
          </a:prstGeom>
          <a:solidFill>
            <a:srgbClr val="F1EAFB"/>
          </a:solidFill>
          <a:ln/>
        </p:spPr>
      </p:sp>
      <p:sp>
        <p:nvSpPr>
          <p:cNvPr id="5" name="Text 3"/>
          <p:cNvSpPr txBox="1"/>
          <p:nvPr/>
        </p:nvSpPr>
        <p:spPr>
          <a:xfrm>
            <a:off x="804672" y="1673352"/>
            <a:ext cx="10582351" cy="1859280"/>
          </a:xfrm>
          <a:prstGeom prst="rect">
            <a:avLst/>
          </a:prstGeom>
          <a:noFill/>
          <a:ln/>
        </p:spPr>
        <p:txBody>
          <a:bodyPr wrap="square" lIns="0" tIns="0" rIns="0" bIns="0" rtlCol="0" anchor="t"/>
          <a:lstStyle/>
          <a:p>
            <a:pPr algn="l" indent="0" marL="0">
              <a:spcAft>
                <a:spcPts val="1200"/>
              </a:spcAft>
              <a:buNone/>
            </a:pPr>
            <a:r>
              <a:rPr lang="en-US" sz="2400" dirty="0">
                <a:solidFill>
                  <a:schemeClr val="tx1"/>
                </a:solidFill>
              </a:rPr>
              <a:t>"2/5 OF R100" means: share the R100 into </a:t>
            </a:r>
            <a:pPr algn="l" indent="0" marL="0">
              <a:spcAft>
                <a:spcPts val="1200"/>
              </a:spcAft>
              <a:buNone/>
            </a:pPr>
            <a:r>
              <a:rPr lang="en-US" sz="2400" b="1" dirty="0">
                <a:solidFill>
                  <a:schemeClr val="tx1"/>
                </a:solidFill>
              </a:rPr>
              <a:t>5 equal parts</a:t>
            </a:r>
            <a:pPr algn="l" indent="0" marL="0">
              <a:spcAft>
                <a:spcPts val="1200"/>
              </a:spcAft>
              <a:buNone/>
            </a:pPr>
            <a:r>
              <a:rPr lang="en-US" sz="2400" dirty="0">
                <a:solidFill>
                  <a:schemeClr val="tx1"/>
                </a:solidFill>
              </a:rPr>
              <a:t>, then take </a:t>
            </a:r>
            <a:pPr algn="l" indent="0" marL="0">
              <a:spcAft>
                <a:spcPts val="1200"/>
              </a:spcAft>
              <a:buNone/>
            </a:pPr>
            <a:r>
              <a:rPr lang="en-US" sz="2400" b="1" dirty="0">
                <a:solidFill>
                  <a:schemeClr val="tx1"/>
                </a:solidFill>
              </a:rPr>
              <a:t>2 of the parts</a:t>
            </a:r>
            <a:pPr algn="l" indent="0" marL="0">
              <a:spcAft>
                <a:spcPts val="1200"/>
              </a:spcAft>
              <a:buNone/>
            </a:pPr>
            <a:r>
              <a:rPr lang="en-US" sz="2400" dirty="0">
                <a:solidFill>
                  <a:schemeClr val="tx1"/>
                </a:solidFill>
              </a:rPr>
              <a:t>.</a:t>
            </a:r>
            <a:endParaRPr lang="en-US" sz="2400" dirty="0"/>
          </a:p>
          <a:p>
            <a:pPr algn="l" indent="0" marL="0">
              <a:spcAft>
                <a:spcPts val="1200"/>
              </a:spcAft>
              <a:buNone/>
            </a:pPr>
            <a:r>
              <a:rPr lang="en-US" sz="2400" b="1" dirty="0">
                <a:solidFill>
                  <a:schemeClr val="tx1"/>
                </a:solidFill>
              </a:rPr>
              <a:t>One part:</a:t>
            </a:r>
            <a:pPr algn="l" indent="0" marL="0">
              <a:spcAft>
                <a:spcPts val="1200"/>
              </a:spcAft>
              <a:buNone/>
            </a:pPr>
            <a:r>
              <a:rPr lang="en-US" sz="2400" dirty="0">
                <a:solidFill>
                  <a:schemeClr val="tx1"/>
                </a:solidFill>
              </a:rPr>
              <a:t> R100 ÷ 5 = R20. (Five R20 notes make R100.)</a:t>
            </a:r>
            <a:endParaRPr lang="en-US" sz="2400" dirty="0"/>
          </a:p>
          <a:p>
            <a:pPr algn="l" indent="0" marL="0">
              <a:spcAft>
                <a:spcPts val="1200"/>
              </a:spcAft>
              <a:buNone/>
            </a:pPr>
            <a:r>
              <a:rPr lang="en-US" sz="2400" b="1" dirty="0">
                <a:solidFill>
                  <a:schemeClr val="tx1"/>
                </a:solidFill>
              </a:rPr>
              <a:t>Two parts:</a:t>
            </a:r>
            <a:pPr algn="l" indent="0" marL="0">
              <a:spcAft>
                <a:spcPts val="1200"/>
              </a:spcAft>
              <a:buNone/>
            </a:pPr>
            <a:r>
              <a:rPr lang="en-US" sz="2400" dirty="0">
                <a:solidFill>
                  <a:schemeClr val="tx1"/>
                </a:solidFill>
              </a:rPr>
              <a:t> 2 × R20 = </a:t>
            </a:r>
            <a:pPr algn="l" indent="0" marL="0">
              <a:spcAft>
                <a:spcPts val="1200"/>
              </a:spcAft>
              <a:buNone/>
            </a:pPr>
            <a:r>
              <a:rPr lang="en-US" sz="2400" b="1" dirty="0">
                <a:solidFill>
                  <a:schemeClr val="tx1"/>
                </a:solidFill>
              </a:rPr>
              <a:t>R40</a:t>
            </a:r>
            <a:pPr algn="l" indent="0" marL="0">
              <a:spcAft>
                <a:spcPts val="1200"/>
              </a:spcAft>
              <a:buNone/>
            </a:pPr>
            <a:r>
              <a:rPr lang="en-US" sz="2400" dirty="0">
                <a:solidFill>
                  <a:schemeClr val="tx1"/>
                </a:solidFill>
              </a:rPr>
              <a:t>.</a:t>
            </a:r>
            <a:endParaRPr lang="en-US" sz="2400" dirty="0"/>
          </a:p>
        </p:txBody>
      </p:sp>
      <p:pic>
        <p:nvPicPr>
          <p:cNvPr id="6" name="Image 0" descr="bar split into equal parts">    </p:cNvPr>
          <p:cNvPicPr>
            <a:picLocks noChangeAspect="1"/>
          </p:cNvPicPr>
          <p:nvPr/>
        </p:nvPicPr>
        <p:blipFill>
          <a:blip r:embed="rId1"/>
          <a:stretch>
            <a:fillRect/>
          </a:stretch>
        </p:blipFill>
        <p:spPr>
          <a:xfrm>
            <a:off x="2956912" y="3925824"/>
            <a:ext cx="6277871" cy="231038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kind label"/>
          <p:cNvSpPr/>
          <p:nvPr/>
        </p:nvSpPr>
        <p:spPr>
          <a:xfrm>
            <a:off x="548640" y="365760"/>
            <a:ext cx="1426453"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THE RULE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Divide by the bottom, then multiply by the top</a:t>
            </a:r>
            <a:endParaRPr lang="en-US" sz="3000" dirty="0"/>
          </a:p>
        </p:txBody>
      </p:sp>
      <p:sp>
        <p:nvSpPr>
          <p:cNvPr id="4" name="card"/>
          <p:cNvSpPr/>
          <p:nvPr/>
        </p:nvSpPr>
        <p:spPr>
          <a:xfrm>
            <a:off x="548640" y="1417320"/>
            <a:ext cx="11094415" cy="3874946"/>
          </a:xfrm>
          <a:prstGeom prst="roundRect">
            <a:avLst>
              <a:gd name="adj" fmla="val 3304"/>
            </a:avLst>
          </a:prstGeom>
          <a:solidFill>
            <a:srgbClr val="E3ECF8"/>
          </a:solidFill>
          <a:ln/>
        </p:spPr>
      </p:sp>
      <p:sp>
        <p:nvSpPr>
          <p:cNvPr id="5" name="Text 3"/>
          <p:cNvSpPr txBox="1"/>
          <p:nvPr/>
        </p:nvSpPr>
        <p:spPr>
          <a:xfrm>
            <a:off x="804672" y="1673352"/>
            <a:ext cx="10582351" cy="1976120"/>
          </a:xfrm>
          <a:prstGeom prst="rect">
            <a:avLst/>
          </a:prstGeom>
          <a:noFill/>
          <a:ln/>
        </p:spPr>
        <p:txBody>
          <a:bodyPr wrap="square" lIns="0" tIns="0" rIns="0" bIns="0" rtlCol="0" anchor="t"/>
          <a:lstStyle/>
          <a:p>
            <a:pPr algn="l" indent="0" marL="0">
              <a:spcAft>
                <a:spcPts val="1400"/>
              </a:spcAft>
              <a:buNone/>
            </a:pPr>
            <a:r>
              <a:rPr lang="en-US" sz="2800" b="1" dirty="0">
                <a:solidFill>
                  <a:schemeClr val="tx1"/>
                </a:solidFill>
              </a:rPr>
              <a:t>÷ bottom</a:t>
            </a:r>
            <a:pPr algn="l" indent="0" marL="0">
              <a:spcAft>
                <a:spcPts val="1400"/>
              </a:spcAft>
              <a:buNone/>
            </a:pPr>
            <a:r>
              <a:rPr lang="en-US" sz="2800" dirty="0">
                <a:solidFill>
                  <a:schemeClr val="tx1"/>
                </a:solidFill>
              </a:rPr>
              <a:t> gives the size of ONE part. (The bottom says how many equal parts there are.)</a:t>
            </a:r>
            <a:endParaRPr lang="en-US" sz="2800" dirty="0"/>
          </a:p>
          <a:p>
            <a:pPr algn="l" indent="0" marL="0">
              <a:spcAft>
                <a:spcPts val="1400"/>
              </a:spcAft>
              <a:buNone/>
            </a:pPr>
            <a:r>
              <a:rPr lang="en-US" sz="2800" b="1" dirty="0">
                <a:solidFill>
                  <a:schemeClr val="tx1"/>
                </a:solidFill>
              </a:rPr>
              <a:t>× top</a:t>
            </a:r>
            <a:pPr algn="l" indent="0" marL="0">
              <a:spcAft>
                <a:spcPts val="1400"/>
              </a:spcAft>
              <a:buNone/>
            </a:pPr>
            <a:r>
              <a:rPr lang="en-US" sz="2800" dirty="0">
                <a:solidFill>
                  <a:schemeClr val="tx1"/>
                </a:solidFill>
              </a:rPr>
              <a:t> takes as many parts as you need. (The top says how many parts you want.)</a:t>
            </a:r>
            <a:endParaRPr lang="en-US" sz="2800" dirty="0"/>
          </a:p>
        </p:txBody>
      </p:sp>
      <p:pic>
        <p:nvPicPr>
          <p:cNvPr id="6" name="Image 0" descr="100 ÷ 5 = 20">    </p:cNvPr>
          <p:cNvPicPr>
            <a:picLocks noChangeAspect="1"/>
          </p:cNvPicPr>
          <p:nvPr/>
        </p:nvPicPr>
        <p:blipFill>
          <a:blip r:embed="rId1"/>
          <a:stretch>
            <a:fillRect/>
          </a:stretch>
        </p:blipFill>
        <p:spPr>
          <a:xfrm>
            <a:off x="804672" y="3735832"/>
            <a:ext cx="2378143" cy="561301"/>
          </a:xfrm>
          <a:prstGeom prst="rect">
            <a:avLst/>
          </a:prstGeom>
        </p:spPr>
      </p:pic>
      <p:pic>
        <p:nvPicPr>
          <p:cNvPr id="7" name="Image 1" descr="2 × 20 = 40">    </p:cNvPr>
          <p:cNvPicPr>
            <a:picLocks noChangeAspect="1"/>
          </p:cNvPicPr>
          <p:nvPr/>
        </p:nvPicPr>
        <p:blipFill>
          <a:blip r:embed="rId2"/>
          <a:stretch>
            <a:fillRect/>
          </a:stretch>
        </p:blipFill>
        <p:spPr>
          <a:xfrm>
            <a:off x="804672" y="4474933"/>
            <a:ext cx="2163963" cy="56130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kind label"/>
          <p:cNvSpPr/>
          <p:nvPr/>
        </p:nvSpPr>
        <p:spPr>
          <a:xfrm>
            <a:off x="548640" y="365760"/>
            <a:ext cx="1188720" cy="329184"/>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TOOL</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Dividing a number that ends in 0</a:t>
            </a:r>
            <a:endParaRPr lang="en-US" sz="3000" dirty="0"/>
          </a:p>
        </p:txBody>
      </p:sp>
      <p:sp>
        <p:nvSpPr>
          <p:cNvPr id="4" name="card"/>
          <p:cNvSpPr/>
          <p:nvPr/>
        </p:nvSpPr>
        <p:spPr>
          <a:xfrm>
            <a:off x="548640" y="1417320"/>
            <a:ext cx="11094415" cy="2147824"/>
          </a:xfrm>
          <a:prstGeom prst="roundRect">
            <a:avLst>
              <a:gd name="adj" fmla="val 5960"/>
            </a:avLst>
          </a:prstGeom>
          <a:solidFill>
            <a:srgbClr val="DDF1F2"/>
          </a:solidFill>
          <a:ln/>
        </p:spPr>
      </p:sp>
      <p:sp>
        <p:nvSpPr>
          <p:cNvPr id="5" name="Text 3"/>
          <p:cNvSpPr txBox="1"/>
          <p:nvPr/>
        </p:nvSpPr>
        <p:spPr>
          <a:xfrm>
            <a:off x="804672" y="1673352"/>
            <a:ext cx="10582351" cy="1727200"/>
          </a:xfrm>
          <a:prstGeom prst="rect">
            <a:avLst/>
          </a:prstGeom>
          <a:noFill/>
          <a:ln/>
        </p:spPr>
        <p:txBody>
          <a:bodyPr wrap="square" lIns="0" tIns="0" rIns="0" bIns="0" rtlCol="0" anchor="t"/>
          <a:lstStyle/>
          <a:p>
            <a:pPr algn="l" indent="0" marL="0">
              <a:spcAft>
                <a:spcPts val="1400"/>
              </a:spcAft>
              <a:buNone/>
            </a:pPr>
            <a:r>
              <a:rPr lang="en-US" sz="2800" dirty="0">
                <a:solidFill>
                  <a:schemeClr val="tx1"/>
                </a:solidFill>
              </a:rPr>
              <a:t>For </a:t>
            </a:r>
            <a:pPr algn="l" indent="0" marL="0">
              <a:spcAft>
                <a:spcPts val="1400"/>
              </a:spcAft>
              <a:buNone/>
            </a:pPr>
            <a:r>
              <a:rPr lang="en-US" sz="2800" b="1" dirty="0">
                <a:solidFill>
                  <a:schemeClr val="tx1"/>
                </a:solidFill>
              </a:rPr>
              <a:t>120 ÷ 4</a:t>
            </a:r>
            <a:pPr algn="l" indent="0" marL="0">
              <a:spcAft>
                <a:spcPts val="1400"/>
              </a:spcAft>
              <a:buNone/>
            </a:pPr>
            <a:r>
              <a:rPr lang="en-US" sz="2800" dirty="0">
                <a:solidFill>
                  <a:schemeClr val="tx1"/>
                </a:solidFill>
              </a:rPr>
              <a:t>, leave the 0 off: 12 ÷ 4 = 3. Then put the 0 back: </a:t>
            </a:r>
            <a:pPr algn="l" indent="0" marL="0">
              <a:spcAft>
                <a:spcPts val="1400"/>
              </a:spcAft>
              <a:buNone/>
            </a:pPr>
            <a:r>
              <a:rPr lang="en-US" sz="2800" b="1" dirty="0">
                <a:solidFill>
                  <a:schemeClr val="tx1"/>
                </a:solidFill>
              </a:rPr>
              <a:t>30</a:t>
            </a:r>
            <a:pPr algn="l" indent="0" marL="0">
              <a:spcAft>
                <a:spcPts val="1400"/>
              </a:spcAft>
              <a:buNone/>
            </a:pPr>
            <a:r>
              <a:rPr lang="en-US" sz="2800" dirty="0">
                <a:solidFill>
                  <a:schemeClr val="tx1"/>
                </a:solidFill>
              </a:rPr>
              <a:t>.</a:t>
            </a:r>
            <a:endParaRPr lang="en-US" sz="2800" dirty="0"/>
          </a:p>
          <a:p>
            <a:pPr algn="l" indent="0" marL="0">
              <a:spcAft>
                <a:spcPts val="1400"/>
              </a:spcAft>
              <a:buNone/>
            </a:pPr>
            <a:r>
              <a:rPr lang="en-US" sz="2800" dirty="0">
                <a:solidFill>
                  <a:schemeClr val="tx1"/>
                </a:solidFill>
              </a:rPr>
              <a:t>Why? 120 is 12 tens. 12 tens shared by 4 is 3 tens, which is 30.</a:t>
            </a:r>
            <a:endParaRPr lang="en-US" sz="2800" dirty="0"/>
          </a:p>
          <a:p>
            <a:pPr algn="l" indent="0" marL="0">
              <a:spcAft>
                <a:spcPts val="1400"/>
              </a:spcAft>
              <a:buNone/>
            </a:pPr>
            <a:r>
              <a:rPr lang="en-US" sz="2800" dirty="0">
                <a:solidFill>
                  <a:schemeClr val="tx1"/>
                </a:solidFill>
              </a:rPr>
              <a:t>Check by multiplying back: 4 × 30 = 120 ✓</a:t>
            </a:r>
            <a:endParaRPr lang="en-US" sz="28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6: the staff canteen (Lesson 3, Example 5)</a:t>
            </a:r>
            <a:endParaRPr lang="en-US" sz="3000" dirty="0"/>
          </a:p>
        </p:txBody>
      </p:sp>
      <p:sp>
        <p:nvSpPr>
          <p:cNvPr id="4" name="question"/>
          <p:cNvSpPr/>
          <p:nvPr/>
        </p:nvSpPr>
        <p:spPr>
          <a:xfrm>
            <a:off x="548640" y="1417320"/>
            <a:ext cx="11094415" cy="1036320"/>
          </a:xfrm>
          <a:prstGeom prst="roundRect">
            <a:avLst>
              <a:gd name="adj" fmla="val 12353"/>
            </a:avLst>
          </a:prstGeom>
          <a:solidFill>
            <a:schemeClr val="bg2"/>
          </a:solidFill>
          <a:ln/>
        </p:spPr>
      </p:sp>
      <p:sp>
        <p:nvSpPr>
          <p:cNvPr id="5" name="Text 3"/>
          <p:cNvSpPr txBox="1"/>
          <p:nvPr/>
        </p:nvSpPr>
        <p:spPr>
          <a:xfrm>
            <a:off x="731520" y="1600200"/>
            <a:ext cx="10728655" cy="716280"/>
          </a:xfrm>
          <a:prstGeom prst="rect">
            <a:avLst/>
          </a:prstGeom>
          <a:noFill/>
          <a:ln/>
        </p:spPr>
        <p:txBody>
          <a:bodyPr wrap="square" lIns="0" tIns="0" rIns="0" bIns="0" rtlCol="0" anchor="t"/>
          <a:lstStyle/>
          <a:p>
            <a:pPr algn="l" indent="0" marL="0">
              <a:buNone/>
            </a:pPr>
            <a:r>
              <a:rPr lang="en-US" sz="2200" dirty="0">
                <a:solidFill>
                  <a:schemeClr val="tx1"/>
                </a:solidFill>
              </a:rPr>
              <a:t>A company has 120 staff. 3/4 of them use the canteen. How many staff use the canteen?</a:t>
            </a:r>
            <a:endParaRPr lang="en-US" sz="2200" dirty="0"/>
          </a:p>
        </p:txBody>
      </p:sp>
      <p:sp>
        <p:nvSpPr>
          <p:cNvPr id="6" name="number badge"/>
          <p:cNvSpPr/>
          <p:nvPr/>
        </p:nvSpPr>
        <p:spPr>
          <a:xfrm>
            <a:off x="548640" y="2673096"/>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5"/>
          <p:cNvSpPr txBox="1"/>
          <p:nvPr/>
        </p:nvSpPr>
        <p:spPr>
          <a:xfrm>
            <a:off x="1261872" y="2673096"/>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1 OF 4</a:t>
            </a:r>
            <a:endParaRPr lang="en-US" sz="1400" dirty="0"/>
          </a:p>
        </p:txBody>
      </p:sp>
      <p:sp>
        <p:nvSpPr>
          <p:cNvPr id="8" name="Text 6"/>
          <p:cNvSpPr txBox="1"/>
          <p:nvPr/>
        </p:nvSpPr>
        <p:spPr>
          <a:xfrm>
            <a:off x="548640" y="3413760"/>
            <a:ext cx="4754880" cy="1749552"/>
          </a:xfrm>
          <a:prstGeom prst="rect">
            <a:avLst/>
          </a:prstGeom>
          <a:noFill/>
          <a:ln/>
        </p:spPr>
        <p:txBody>
          <a:bodyPr wrap="square" lIns="0" tIns="0" rIns="0" bIns="0" rtlCol="0" anchor="t"/>
          <a:lstStyle/>
          <a:p>
            <a:pPr algn="l" indent="0" marL="0">
              <a:buNone/>
            </a:pPr>
            <a:r>
              <a:rPr lang="en-US" sz="2200" b="1" dirty="0">
                <a:solidFill>
                  <a:schemeClr val="tx1"/>
                </a:solidFill>
              </a:rPr>
              <a:t>Find the fraction and the amount. The fraction is 3/4. The amount is 120 staff. "3/4 OF 120" means: split the staff into 4 equal groups and take 3 of the groups.</a:t>
            </a:r>
            <a:endParaRPr lang="en-US" sz="2200" dirty="0"/>
          </a:p>
        </p:txBody>
      </p:sp>
      <p:sp>
        <p:nvSpPr>
          <p:cNvPr id="9" name="Text 7"/>
          <p:cNvSpPr txBox="1"/>
          <p:nvPr/>
        </p:nvSpPr>
        <p:spPr>
          <a:xfrm>
            <a:off x="548640" y="5327904"/>
            <a:ext cx="4754880" cy="896112"/>
          </a:xfrm>
          <a:prstGeom prst="rect">
            <a:avLst/>
          </a:prstGeom>
          <a:noFill/>
          <a:ln/>
        </p:spPr>
        <p:txBody>
          <a:bodyPr wrap="square" lIns="0" tIns="0" rIns="0" bIns="0" rtlCol="0" anchor="t"/>
          <a:lstStyle/>
          <a:p>
            <a:pPr algn="l" indent="0" marL="0">
              <a:buNone/>
            </a:pPr>
            <a:r>
              <a:rPr lang="en-US" sz="1800" b="1" dirty="0">
                <a:solidFill>
                  <a:srgbClr val="4B5563"/>
                </a:solidFill>
              </a:rPr>
              <a:t>Why?</a:t>
            </a:r>
            <a:pPr algn="l" indent="0" marL="0">
              <a:buNone/>
            </a:pPr>
            <a:r>
              <a:rPr lang="en-US" sz="1800" dirty="0">
                <a:solidFill>
                  <a:srgbClr val="4B5563"/>
                </a:solidFill>
              </a:rPr>
              <a:t> The bottom (4) says how many equal groups. The top (3) says how many groups we want.</a:t>
            </a:r>
            <a:endParaRPr lang="en-US" sz="1800" dirty="0"/>
          </a:p>
        </p:txBody>
      </p:sp>
      <p:sp>
        <p:nvSpPr>
          <p:cNvPr id="10" name="board"/>
          <p:cNvSpPr/>
          <p:nvPr/>
        </p:nvSpPr>
        <p:spPr>
          <a:xfrm>
            <a:off x="5577840" y="2636520"/>
            <a:ext cx="6065215" cy="3599688"/>
          </a:xfrm>
          <a:prstGeom prst="roundRect">
            <a:avLst>
              <a:gd name="adj" fmla="val 3556"/>
            </a:avLst>
          </a:prstGeom>
          <a:solidFill>
            <a:srgbClr val="FFFFFF"/>
          </a:solidFill>
          <a:ln w="15875">
            <a:solidFill>
              <a:srgbClr val="D1D5DB"/>
            </a:solidFill>
            <a:prstDash val="solid"/>
          </a:ln>
        </p:spPr>
      </p:sp>
      <p:pic>
        <p:nvPicPr>
          <p:cNvPr id="11" name="Image 0" descr="bar split into equal parts">    </p:cNvPr>
          <p:cNvPicPr>
            <a:picLocks noChangeAspect="1"/>
          </p:cNvPicPr>
          <p:nvPr/>
        </p:nvPicPr>
        <p:blipFill>
          <a:blip r:embed="rId1"/>
          <a:stretch>
            <a:fillRect/>
          </a:stretch>
        </p:blipFill>
        <p:spPr>
          <a:xfrm>
            <a:off x="5852160" y="3238904"/>
            <a:ext cx="5516575" cy="2394920"/>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6: the staff canteen (Lesson 3, Example 5)</a:t>
            </a:r>
            <a:endParaRPr lang="en-US" sz="3000" dirty="0"/>
          </a:p>
        </p:txBody>
      </p:sp>
      <p:sp>
        <p:nvSpPr>
          <p:cNvPr id="4" name="question"/>
          <p:cNvSpPr/>
          <p:nvPr/>
        </p:nvSpPr>
        <p:spPr>
          <a:xfrm>
            <a:off x="548640" y="1417320"/>
            <a:ext cx="11094415" cy="1036320"/>
          </a:xfrm>
          <a:prstGeom prst="roundRect">
            <a:avLst>
              <a:gd name="adj" fmla="val 12353"/>
            </a:avLst>
          </a:prstGeom>
          <a:solidFill>
            <a:schemeClr val="bg2"/>
          </a:solidFill>
          <a:ln/>
        </p:spPr>
      </p:sp>
      <p:sp>
        <p:nvSpPr>
          <p:cNvPr id="5" name="Text 3"/>
          <p:cNvSpPr txBox="1"/>
          <p:nvPr/>
        </p:nvSpPr>
        <p:spPr>
          <a:xfrm>
            <a:off x="731520" y="1600200"/>
            <a:ext cx="10728655" cy="716280"/>
          </a:xfrm>
          <a:prstGeom prst="rect">
            <a:avLst/>
          </a:prstGeom>
          <a:noFill/>
          <a:ln/>
        </p:spPr>
        <p:txBody>
          <a:bodyPr wrap="square" lIns="0" tIns="0" rIns="0" bIns="0" rtlCol="0" anchor="t"/>
          <a:lstStyle/>
          <a:p>
            <a:pPr algn="l" indent="0" marL="0">
              <a:buNone/>
            </a:pPr>
            <a:r>
              <a:rPr lang="en-US" sz="2200" dirty="0">
                <a:solidFill>
                  <a:schemeClr val="tx1"/>
                </a:solidFill>
              </a:rPr>
              <a:t>A company has 120 staff. 3/4 of them use the canteen. How many staff use the canteen?</a:t>
            </a:r>
            <a:endParaRPr lang="en-US" sz="2200" dirty="0"/>
          </a:p>
        </p:txBody>
      </p:sp>
      <p:sp>
        <p:nvSpPr>
          <p:cNvPr id="6" name="number badge"/>
          <p:cNvSpPr/>
          <p:nvPr/>
        </p:nvSpPr>
        <p:spPr>
          <a:xfrm>
            <a:off x="548640" y="2673096"/>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7" name="Text 5"/>
          <p:cNvSpPr txBox="1"/>
          <p:nvPr/>
        </p:nvSpPr>
        <p:spPr>
          <a:xfrm>
            <a:off x="1261872" y="2673096"/>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2 OF 4</a:t>
            </a:r>
            <a:endParaRPr lang="en-US" sz="1400" dirty="0"/>
          </a:p>
        </p:txBody>
      </p:sp>
      <p:sp>
        <p:nvSpPr>
          <p:cNvPr id="8" name="Text 6"/>
          <p:cNvSpPr txBox="1"/>
          <p:nvPr/>
        </p:nvSpPr>
        <p:spPr>
          <a:xfrm>
            <a:off x="548640" y="3413760"/>
            <a:ext cx="4754880" cy="1658112"/>
          </a:xfrm>
          <a:prstGeom prst="rect">
            <a:avLst/>
          </a:prstGeom>
          <a:noFill/>
          <a:ln/>
        </p:spPr>
        <p:txBody>
          <a:bodyPr wrap="square" lIns="0" tIns="0" rIns="0" bIns="0" rtlCol="0" anchor="t"/>
          <a:lstStyle/>
          <a:p>
            <a:pPr algn="l" indent="0" marL="0">
              <a:buNone/>
            </a:pPr>
            <a:r>
              <a:rPr lang="en-US" sz="2600" b="1" dirty="0">
                <a:solidFill>
                  <a:schemeClr val="tx1"/>
                </a:solidFill>
              </a:rPr>
              <a:t>Divide by the bottom to find ONE group: 120 ÷ 4. Think of 12 ÷ 4 = 3, so 120 ÷ 4 = 30.</a:t>
            </a:r>
            <a:endParaRPr lang="en-US" sz="2600" dirty="0"/>
          </a:p>
        </p:txBody>
      </p:sp>
      <p:sp>
        <p:nvSpPr>
          <p:cNvPr id="9" name="Text 7"/>
          <p:cNvSpPr txBox="1"/>
          <p:nvPr/>
        </p:nvSpPr>
        <p:spPr>
          <a:xfrm>
            <a:off x="548640" y="5236464"/>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120 is 12 tens. 12 tens shared by 4 is 3 tens, which is 30. Check: 30 + 30 + 30 + 30 = 120.</a:t>
            </a:r>
            <a:endParaRPr lang="en-US" sz="2000" dirty="0"/>
          </a:p>
        </p:txBody>
      </p:sp>
      <p:sp>
        <p:nvSpPr>
          <p:cNvPr id="10" name="board"/>
          <p:cNvSpPr/>
          <p:nvPr/>
        </p:nvSpPr>
        <p:spPr>
          <a:xfrm>
            <a:off x="5577840" y="2636520"/>
            <a:ext cx="6065215" cy="3599688"/>
          </a:xfrm>
          <a:prstGeom prst="roundRect">
            <a:avLst>
              <a:gd name="adj" fmla="val 3556"/>
            </a:avLst>
          </a:prstGeom>
          <a:solidFill>
            <a:srgbClr val="FFFFFF"/>
          </a:solidFill>
          <a:ln w="15875">
            <a:solidFill>
              <a:srgbClr val="D1D5DB"/>
            </a:solidFill>
            <a:prstDash val="solid"/>
          </a:ln>
        </p:spPr>
      </p:sp>
      <p:pic>
        <p:nvPicPr>
          <p:cNvPr id="11" name="Image 0" descr="bar split into equal parts">    </p:cNvPr>
          <p:cNvPicPr>
            <a:picLocks noChangeAspect="1"/>
          </p:cNvPicPr>
          <p:nvPr/>
        </p:nvPicPr>
        <p:blipFill>
          <a:blip r:embed="rId1"/>
          <a:stretch>
            <a:fillRect/>
          </a:stretch>
        </p:blipFill>
        <p:spPr>
          <a:xfrm>
            <a:off x="6062222" y="2865120"/>
            <a:ext cx="5096452" cy="2212531"/>
          </a:xfrm>
          <a:prstGeom prst="rect">
            <a:avLst/>
          </a:prstGeom>
        </p:spPr>
      </p:pic>
      <p:pic>
        <p:nvPicPr>
          <p:cNvPr id="12" name="Image 1" descr="120 ÷ 4 = 30">    </p:cNvPr>
          <p:cNvPicPr>
            <a:picLocks noChangeAspect="1"/>
          </p:cNvPicPr>
          <p:nvPr/>
        </p:nvPicPr>
        <p:blipFill>
          <a:blip r:embed="rId2"/>
          <a:stretch>
            <a:fillRect/>
          </a:stretch>
        </p:blipFill>
        <p:spPr>
          <a:xfrm>
            <a:off x="7196731" y="5351971"/>
            <a:ext cx="2827433" cy="655637"/>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6: the staff canteen (Lesson 3, Example 5)</a:t>
            </a:r>
            <a:endParaRPr lang="en-US" sz="3000" dirty="0"/>
          </a:p>
        </p:txBody>
      </p:sp>
      <p:sp>
        <p:nvSpPr>
          <p:cNvPr id="4" name="question"/>
          <p:cNvSpPr/>
          <p:nvPr/>
        </p:nvSpPr>
        <p:spPr>
          <a:xfrm>
            <a:off x="548640" y="1417320"/>
            <a:ext cx="11094415" cy="1036320"/>
          </a:xfrm>
          <a:prstGeom prst="roundRect">
            <a:avLst>
              <a:gd name="adj" fmla="val 12353"/>
            </a:avLst>
          </a:prstGeom>
          <a:solidFill>
            <a:schemeClr val="bg2"/>
          </a:solidFill>
          <a:ln/>
        </p:spPr>
      </p:sp>
      <p:sp>
        <p:nvSpPr>
          <p:cNvPr id="5" name="Text 3"/>
          <p:cNvSpPr txBox="1"/>
          <p:nvPr/>
        </p:nvSpPr>
        <p:spPr>
          <a:xfrm>
            <a:off x="731520" y="1600200"/>
            <a:ext cx="10728655" cy="716280"/>
          </a:xfrm>
          <a:prstGeom prst="rect">
            <a:avLst/>
          </a:prstGeom>
          <a:noFill/>
          <a:ln/>
        </p:spPr>
        <p:txBody>
          <a:bodyPr wrap="square" lIns="0" tIns="0" rIns="0" bIns="0" rtlCol="0" anchor="t"/>
          <a:lstStyle/>
          <a:p>
            <a:pPr algn="l" indent="0" marL="0">
              <a:buNone/>
            </a:pPr>
            <a:r>
              <a:rPr lang="en-US" sz="2200" dirty="0">
                <a:solidFill>
                  <a:schemeClr val="tx1"/>
                </a:solidFill>
              </a:rPr>
              <a:t>A company has 120 staff. 3/4 of them use the canteen. How many staff use the canteen?</a:t>
            </a:r>
            <a:endParaRPr lang="en-US" sz="2200" dirty="0"/>
          </a:p>
        </p:txBody>
      </p:sp>
      <p:sp>
        <p:nvSpPr>
          <p:cNvPr id="6" name="number badge"/>
          <p:cNvSpPr/>
          <p:nvPr/>
        </p:nvSpPr>
        <p:spPr>
          <a:xfrm>
            <a:off x="548640" y="2673096"/>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7" name="Text 5"/>
          <p:cNvSpPr txBox="1"/>
          <p:nvPr/>
        </p:nvSpPr>
        <p:spPr>
          <a:xfrm>
            <a:off x="1261872" y="2673096"/>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3 OF 4</a:t>
            </a:r>
            <a:endParaRPr lang="en-US" sz="1400" dirty="0"/>
          </a:p>
        </p:txBody>
      </p:sp>
      <p:sp>
        <p:nvSpPr>
          <p:cNvPr id="8" name="Text 6"/>
          <p:cNvSpPr txBox="1"/>
          <p:nvPr/>
        </p:nvSpPr>
        <p:spPr>
          <a:xfrm>
            <a:off x="548640" y="3413760"/>
            <a:ext cx="4754880" cy="865632"/>
          </a:xfrm>
          <a:prstGeom prst="rect">
            <a:avLst/>
          </a:prstGeom>
          <a:noFill/>
          <a:ln/>
        </p:spPr>
        <p:txBody>
          <a:bodyPr wrap="square" lIns="0" tIns="0" rIns="0" bIns="0" rtlCol="0" anchor="t"/>
          <a:lstStyle/>
          <a:p>
            <a:pPr algn="l" indent="0" marL="0">
              <a:buNone/>
            </a:pPr>
            <a:r>
              <a:rPr lang="en-US" sz="2600" b="1" dirty="0">
                <a:solidFill>
                  <a:schemeClr val="tx1"/>
                </a:solidFill>
              </a:rPr>
              <a:t>Multiply by the top to get THREE groups: 3 × 30 = 90.</a:t>
            </a:r>
            <a:endParaRPr lang="en-US" sz="2600" dirty="0"/>
          </a:p>
        </p:txBody>
      </p:sp>
      <p:sp>
        <p:nvSpPr>
          <p:cNvPr id="9" name="Text 7"/>
          <p:cNvSpPr txBox="1"/>
          <p:nvPr/>
        </p:nvSpPr>
        <p:spPr>
          <a:xfrm>
            <a:off x="548640" y="4443984"/>
            <a:ext cx="4754880" cy="6827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3 groups of 30: 30 + 30 + 30 = 90.</a:t>
            </a:r>
            <a:endParaRPr lang="en-US" sz="2000" dirty="0"/>
          </a:p>
        </p:txBody>
      </p:sp>
      <p:sp>
        <p:nvSpPr>
          <p:cNvPr id="10" name="board"/>
          <p:cNvSpPr/>
          <p:nvPr/>
        </p:nvSpPr>
        <p:spPr>
          <a:xfrm>
            <a:off x="5577840" y="2636520"/>
            <a:ext cx="6065215" cy="3599688"/>
          </a:xfrm>
          <a:prstGeom prst="roundRect">
            <a:avLst>
              <a:gd name="adj" fmla="val 3556"/>
            </a:avLst>
          </a:prstGeom>
          <a:solidFill>
            <a:srgbClr val="FFFFFF"/>
          </a:solidFill>
          <a:ln w="15875">
            <a:solidFill>
              <a:srgbClr val="D1D5DB"/>
            </a:solidFill>
            <a:prstDash val="solid"/>
          </a:ln>
        </p:spPr>
      </p:sp>
      <p:pic>
        <p:nvPicPr>
          <p:cNvPr id="11" name="Image 0" descr="bar split into equal parts">    </p:cNvPr>
          <p:cNvPicPr>
            <a:picLocks noChangeAspect="1"/>
          </p:cNvPicPr>
          <p:nvPr/>
        </p:nvPicPr>
        <p:blipFill>
          <a:blip r:embed="rId1"/>
          <a:stretch>
            <a:fillRect/>
          </a:stretch>
        </p:blipFill>
        <p:spPr>
          <a:xfrm>
            <a:off x="6062222" y="2865120"/>
            <a:ext cx="5096452" cy="2212531"/>
          </a:xfrm>
          <a:prstGeom prst="rect">
            <a:avLst/>
          </a:prstGeom>
        </p:spPr>
      </p:pic>
      <p:pic>
        <p:nvPicPr>
          <p:cNvPr id="12" name="Image 1" descr="3 × 30 = 90">    </p:cNvPr>
          <p:cNvPicPr>
            <a:picLocks noChangeAspect="1"/>
          </p:cNvPicPr>
          <p:nvPr/>
        </p:nvPicPr>
        <p:blipFill>
          <a:blip r:embed="rId2"/>
          <a:stretch>
            <a:fillRect/>
          </a:stretch>
        </p:blipFill>
        <p:spPr>
          <a:xfrm>
            <a:off x="7323761" y="5351971"/>
            <a:ext cx="2573373" cy="655637"/>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kind label"/>
          <p:cNvSpPr/>
          <p:nvPr/>
        </p:nvSpPr>
        <p:spPr>
          <a:xfrm>
            <a:off x="548640" y="365760"/>
            <a:ext cx="2319656"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WORKED EXAMPLE</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6: the staff canteen (Lesson 3, Example 5)</a:t>
            </a:r>
            <a:endParaRPr lang="en-US" sz="3000" dirty="0"/>
          </a:p>
        </p:txBody>
      </p:sp>
      <p:sp>
        <p:nvSpPr>
          <p:cNvPr id="4" name="question"/>
          <p:cNvSpPr/>
          <p:nvPr/>
        </p:nvSpPr>
        <p:spPr>
          <a:xfrm>
            <a:off x="548640" y="1417320"/>
            <a:ext cx="11094415" cy="1036320"/>
          </a:xfrm>
          <a:prstGeom prst="roundRect">
            <a:avLst>
              <a:gd name="adj" fmla="val 12353"/>
            </a:avLst>
          </a:prstGeom>
          <a:solidFill>
            <a:schemeClr val="bg2"/>
          </a:solidFill>
          <a:ln/>
        </p:spPr>
      </p:sp>
      <p:sp>
        <p:nvSpPr>
          <p:cNvPr id="5" name="Text 3"/>
          <p:cNvSpPr txBox="1"/>
          <p:nvPr/>
        </p:nvSpPr>
        <p:spPr>
          <a:xfrm>
            <a:off x="731520" y="1600200"/>
            <a:ext cx="10728655" cy="716280"/>
          </a:xfrm>
          <a:prstGeom prst="rect">
            <a:avLst/>
          </a:prstGeom>
          <a:noFill/>
          <a:ln/>
        </p:spPr>
        <p:txBody>
          <a:bodyPr wrap="square" lIns="0" tIns="0" rIns="0" bIns="0" rtlCol="0" anchor="t"/>
          <a:lstStyle/>
          <a:p>
            <a:pPr algn="l" indent="0" marL="0">
              <a:buNone/>
            </a:pPr>
            <a:r>
              <a:rPr lang="en-US" sz="2200" dirty="0">
                <a:solidFill>
                  <a:schemeClr val="tx1"/>
                </a:solidFill>
              </a:rPr>
              <a:t>A company has 120 staff. 3/4 of them use the canteen. How many staff use the canteen?</a:t>
            </a:r>
            <a:endParaRPr lang="en-US" sz="2200" dirty="0"/>
          </a:p>
        </p:txBody>
      </p:sp>
      <p:sp>
        <p:nvSpPr>
          <p:cNvPr id="6" name="number badge"/>
          <p:cNvSpPr/>
          <p:nvPr/>
        </p:nvSpPr>
        <p:spPr>
          <a:xfrm>
            <a:off x="548640" y="2673096"/>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7" name="Text 5"/>
          <p:cNvSpPr txBox="1"/>
          <p:nvPr/>
        </p:nvSpPr>
        <p:spPr>
          <a:xfrm>
            <a:off x="1261872" y="2673096"/>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4 OF 4</a:t>
            </a:r>
            <a:endParaRPr lang="en-US" sz="1400" dirty="0"/>
          </a:p>
        </p:txBody>
      </p:sp>
      <p:sp>
        <p:nvSpPr>
          <p:cNvPr id="8" name="Text 6"/>
          <p:cNvSpPr txBox="1"/>
          <p:nvPr/>
        </p:nvSpPr>
        <p:spPr>
          <a:xfrm>
            <a:off x="548640" y="3413760"/>
            <a:ext cx="4754880" cy="1536192"/>
          </a:xfrm>
          <a:prstGeom prst="rect">
            <a:avLst/>
          </a:prstGeom>
          <a:noFill/>
          <a:ln/>
        </p:spPr>
        <p:txBody>
          <a:bodyPr wrap="square" lIns="0" tIns="0" rIns="0" bIns="0" rtlCol="0" anchor="t"/>
          <a:lstStyle/>
          <a:p>
            <a:pPr algn="l" indent="0" marL="0">
              <a:buNone/>
            </a:pPr>
            <a:r>
              <a:rPr lang="en-US" sz="2400" b="1" dirty="0">
                <a:solidFill>
                  <a:schemeClr val="tx1"/>
                </a:solidFill>
              </a:rPr>
              <a:t>Check: the one group left over (30 people) does not use the canteen. The two numbers together must be everyone.</a:t>
            </a:r>
            <a:endParaRPr lang="en-US" sz="2400" dirty="0"/>
          </a:p>
        </p:txBody>
      </p:sp>
      <p:sp>
        <p:nvSpPr>
          <p:cNvPr id="9" name="Text 7"/>
          <p:cNvSpPr txBox="1"/>
          <p:nvPr/>
        </p:nvSpPr>
        <p:spPr>
          <a:xfrm>
            <a:off x="548640" y="5114544"/>
            <a:ext cx="4754880" cy="987552"/>
          </a:xfrm>
          <a:prstGeom prst="rect">
            <a:avLst/>
          </a:prstGeom>
          <a:noFill/>
          <a:ln/>
        </p:spPr>
        <p:txBody>
          <a:bodyPr wrap="square" lIns="0" tIns="0" rIns="0" bIns="0" rtlCol="0" anchor="t"/>
          <a:lstStyle/>
          <a:p>
            <a:pPr algn="l" indent="0" marL="0">
              <a:buNone/>
            </a:pPr>
            <a:r>
              <a:rPr lang="en-US" sz="2000" b="1" dirty="0">
                <a:solidFill>
                  <a:srgbClr val="4B5563"/>
                </a:solidFill>
              </a:rPr>
              <a:t>Why?</a:t>
            </a:r>
            <a:pPr algn="l" indent="0" marL="0">
              <a:buNone/>
            </a:pPr>
            <a:r>
              <a:rPr lang="en-US" sz="2000" dirty="0">
                <a:solidFill>
                  <a:srgbClr val="4B5563"/>
                </a:solidFill>
              </a:rPr>
              <a:t> The people who use it plus the people who do not must add up to all 120 staff.</a:t>
            </a:r>
            <a:endParaRPr lang="en-US" sz="2000" dirty="0"/>
          </a:p>
        </p:txBody>
      </p:sp>
      <p:sp>
        <p:nvSpPr>
          <p:cNvPr id="10" name="board"/>
          <p:cNvSpPr/>
          <p:nvPr/>
        </p:nvSpPr>
        <p:spPr>
          <a:xfrm>
            <a:off x="5577840" y="2636520"/>
            <a:ext cx="6065215" cy="3599688"/>
          </a:xfrm>
          <a:prstGeom prst="roundRect">
            <a:avLst>
              <a:gd name="adj" fmla="val 3556"/>
            </a:avLst>
          </a:prstGeom>
          <a:solidFill>
            <a:srgbClr val="FFFFFF"/>
          </a:solidFill>
          <a:ln w="15875">
            <a:solidFill>
              <a:srgbClr val="D1D5DB"/>
            </a:solidFill>
            <a:prstDash val="solid"/>
          </a:ln>
        </p:spPr>
      </p:sp>
      <p:pic>
        <p:nvPicPr>
          <p:cNvPr id="11" name="Image 0" descr="90 + 30 = 120">    </p:cNvPr>
          <p:cNvPicPr>
            <a:picLocks noChangeAspect="1"/>
          </p:cNvPicPr>
          <p:nvPr/>
        </p:nvPicPr>
        <p:blipFill>
          <a:blip r:embed="rId1"/>
          <a:stretch>
            <a:fillRect/>
          </a:stretch>
        </p:blipFill>
        <p:spPr>
          <a:xfrm>
            <a:off x="6924949" y="4081522"/>
            <a:ext cx="3370997" cy="70968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kind label"/>
          <p:cNvSpPr/>
          <p:nvPr/>
        </p:nvSpPr>
        <p:spPr>
          <a:xfrm>
            <a:off x="548640" y="365760"/>
            <a:ext cx="1317473"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ANSWER</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Example 6: the staff canteen (Lesson 3, Example 5)</a:t>
            </a:r>
            <a:endParaRPr lang="en-US" sz="3000" dirty="0"/>
          </a:p>
        </p:txBody>
      </p:sp>
      <p:sp>
        <p:nvSpPr>
          <p:cNvPr id="4" name="question"/>
          <p:cNvSpPr/>
          <p:nvPr/>
        </p:nvSpPr>
        <p:spPr>
          <a:xfrm>
            <a:off x="548640" y="1417320"/>
            <a:ext cx="11094415" cy="1036320"/>
          </a:xfrm>
          <a:prstGeom prst="roundRect">
            <a:avLst>
              <a:gd name="adj" fmla="val 12353"/>
            </a:avLst>
          </a:prstGeom>
          <a:solidFill>
            <a:schemeClr val="bg2"/>
          </a:solidFill>
          <a:ln/>
        </p:spPr>
      </p:sp>
      <p:sp>
        <p:nvSpPr>
          <p:cNvPr id="5" name="Text 3"/>
          <p:cNvSpPr txBox="1"/>
          <p:nvPr/>
        </p:nvSpPr>
        <p:spPr>
          <a:xfrm>
            <a:off x="731520" y="1600200"/>
            <a:ext cx="10728655" cy="716280"/>
          </a:xfrm>
          <a:prstGeom prst="rect">
            <a:avLst/>
          </a:prstGeom>
          <a:noFill/>
          <a:ln/>
        </p:spPr>
        <p:txBody>
          <a:bodyPr wrap="square" lIns="0" tIns="0" rIns="0" bIns="0" rtlCol="0" anchor="t"/>
          <a:lstStyle/>
          <a:p>
            <a:pPr algn="l" indent="0" marL="0">
              <a:buNone/>
            </a:pPr>
            <a:r>
              <a:rPr lang="en-US" sz="2200" dirty="0">
                <a:solidFill>
                  <a:schemeClr val="tx1"/>
                </a:solidFill>
              </a:rPr>
              <a:t>A company has 120 staff. 3/4 of them use the canteen. How many staff use the canteen?</a:t>
            </a:r>
            <a:endParaRPr lang="en-US" sz="2200" dirty="0"/>
          </a:p>
        </p:txBody>
      </p:sp>
      <p:sp>
        <p:nvSpPr>
          <p:cNvPr id="6" name="answer"/>
          <p:cNvSpPr/>
          <p:nvPr/>
        </p:nvSpPr>
        <p:spPr>
          <a:xfrm>
            <a:off x="548640" y="2636520"/>
            <a:ext cx="4754880" cy="1722120"/>
          </a:xfrm>
          <a:prstGeom prst="roundRect">
            <a:avLst>
              <a:gd name="adj" fmla="val 7434"/>
            </a:avLst>
          </a:prstGeom>
          <a:solidFill>
            <a:srgbClr val="E3F2E5"/>
          </a:solidFill>
          <a:ln/>
        </p:spPr>
      </p:sp>
      <p:sp>
        <p:nvSpPr>
          <p:cNvPr id="7" name="Text 5"/>
          <p:cNvSpPr txBox="1"/>
          <p:nvPr/>
        </p:nvSpPr>
        <p:spPr>
          <a:xfrm>
            <a:off x="777240" y="2801112"/>
            <a:ext cx="1828800"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sp>
        <p:nvSpPr>
          <p:cNvPr id="8" name="Text 6"/>
          <p:cNvSpPr txBox="1"/>
          <p:nvPr/>
        </p:nvSpPr>
        <p:spPr>
          <a:xfrm>
            <a:off x="777240" y="3148584"/>
            <a:ext cx="4297680" cy="926592"/>
          </a:xfrm>
          <a:prstGeom prst="rect">
            <a:avLst/>
          </a:prstGeom>
          <a:noFill/>
          <a:ln/>
        </p:spPr>
        <p:txBody>
          <a:bodyPr wrap="square" lIns="0" tIns="0" rIns="0" bIns="0" rtlCol="0" anchor="t"/>
          <a:lstStyle/>
          <a:p>
            <a:pPr algn="l" indent="0" marL="0">
              <a:buNone/>
            </a:pPr>
            <a:r>
              <a:rPr lang="en-US" sz="2800" b="1" dirty="0">
                <a:solidFill>
                  <a:schemeClr val="tx1"/>
                </a:solidFill>
              </a:rPr>
              <a:t>90 staff use the canteen.</a:t>
            </a:r>
            <a:endParaRPr lang="en-US" sz="2800" dirty="0"/>
          </a:p>
        </p:txBody>
      </p:sp>
      <p:sp>
        <p:nvSpPr>
          <p:cNvPr id="9" name="board"/>
          <p:cNvSpPr/>
          <p:nvPr/>
        </p:nvSpPr>
        <p:spPr>
          <a:xfrm>
            <a:off x="5577840" y="2636520"/>
            <a:ext cx="6065215" cy="3599688"/>
          </a:xfrm>
          <a:prstGeom prst="roundRect">
            <a:avLst>
              <a:gd name="adj" fmla="val 3556"/>
            </a:avLst>
          </a:prstGeom>
          <a:solidFill>
            <a:srgbClr val="FFFFFF"/>
          </a:solidFill>
          <a:ln w="15875">
            <a:solidFill>
              <a:srgbClr val="D1D5DB"/>
            </a:solidFill>
            <a:prstDash val="solid"/>
          </a:ln>
        </p:spPr>
      </p:sp>
      <p:sp>
        <p:nvSpPr>
          <p:cNvPr id="10" name="Text 8"/>
          <p:cNvSpPr txBox="1"/>
          <p:nvPr/>
        </p:nvSpPr>
        <p:spPr>
          <a:xfrm>
            <a:off x="5852160" y="2782824"/>
            <a:ext cx="5516575" cy="256032"/>
          </a:xfrm>
          <a:prstGeom prst="rect">
            <a:avLst/>
          </a:prstGeom>
          <a:noFill/>
          <a:ln/>
        </p:spPr>
        <p:txBody>
          <a:bodyPr wrap="square" lIns="0" tIns="0" rIns="0" bIns="0" rtlCol="0" anchor="t"/>
          <a:lstStyle/>
          <a:p>
            <a:pPr algn="l" indent="0" marL="0">
              <a:buNone/>
            </a:pPr>
            <a:r>
              <a:rPr lang="en-US" sz="1200" b="1" dirty="0">
                <a:solidFill>
                  <a:srgbClr val="6B7280"/>
                </a:solidFill>
              </a:rPr>
              <a:t>HOW IT LOOKS ON YOUR PAGE</a:t>
            </a:r>
            <a:endParaRPr lang="en-US" sz="1200" dirty="0"/>
          </a:p>
        </p:txBody>
      </p:sp>
      <p:pic>
        <p:nvPicPr>
          <p:cNvPr id="11" name="Image 0" descr="the whole working">    </p:cNvPr>
          <p:cNvPicPr>
            <a:picLocks noChangeAspect="1"/>
          </p:cNvPicPr>
          <p:nvPr/>
        </p:nvPicPr>
        <p:blipFill>
          <a:blip r:embed="rId1"/>
          <a:stretch>
            <a:fillRect/>
          </a:stretch>
        </p:blipFill>
        <p:spPr>
          <a:xfrm>
            <a:off x="5852160" y="3093720"/>
            <a:ext cx="2449939" cy="1544683"/>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kind label"/>
          <p:cNvSpPr/>
          <p:nvPr/>
        </p:nvSpPr>
        <p:spPr>
          <a:xfrm>
            <a:off x="548640" y="365760"/>
            <a:ext cx="118872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LOOK</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You have caught up with the group</a:t>
            </a:r>
            <a:endParaRPr lang="en-US" sz="3000" dirty="0"/>
          </a:p>
        </p:txBody>
      </p:sp>
      <p:sp>
        <p:nvSpPr>
          <p:cNvPr id="4" name="card"/>
          <p:cNvSpPr/>
          <p:nvPr/>
        </p:nvSpPr>
        <p:spPr>
          <a:xfrm>
            <a:off x="548640" y="1417320"/>
            <a:ext cx="11094415" cy="2574544"/>
          </a:xfrm>
          <a:prstGeom prst="roundRect">
            <a:avLst>
              <a:gd name="adj" fmla="val 4972"/>
            </a:avLst>
          </a:prstGeom>
          <a:solidFill>
            <a:srgbClr val="E3ECF8"/>
          </a:solidFill>
          <a:ln/>
        </p:spPr>
      </p:sp>
      <p:sp>
        <p:nvSpPr>
          <p:cNvPr id="5" name="Text 3"/>
          <p:cNvSpPr txBox="1"/>
          <p:nvPr/>
        </p:nvSpPr>
        <p:spPr>
          <a:xfrm>
            <a:off x="804672" y="1673352"/>
            <a:ext cx="10582351" cy="2153920"/>
          </a:xfrm>
          <a:prstGeom prst="rect">
            <a:avLst/>
          </a:prstGeom>
          <a:noFill/>
          <a:ln/>
        </p:spPr>
        <p:txBody>
          <a:bodyPr wrap="square" lIns="0" tIns="0" rIns="0" bIns="0" rtlCol="0" anchor="t"/>
          <a:lstStyle/>
          <a:p>
            <a:pPr algn="l" indent="0" marL="0">
              <a:spcAft>
                <a:spcPts val="1400"/>
              </a:spcAft>
              <a:buNone/>
            </a:pPr>
            <a:r>
              <a:rPr lang="en-US" sz="2800" dirty="0">
                <a:solidFill>
                  <a:schemeClr val="tx1"/>
                </a:solidFill>
              </a:rPr>
              <a:t>The group stopped at the end of this example.</a:t>
            </a:r>
            <a:endParaRPr lang="en-US" sz="2800" dirty="0"/>
          </a:p>
          <a:p>
            <a:pPr algn="l" indent="0" marL="0">
              <a:spcAft>
                <a:spcPts val="1400"/>
              </a:spcAft>
              <a:buNone/>
            </a:pPr>
            <a:r>
              <a:rPr lang="en-US" sz="2800" dirty="0">
                <a:solidFill>
                  <a:schemeClr val="tx1"/>
                </a:solidFill>
              </a:rPr>
              <a:t>Next session you continue together from Lesson 3, Worked example 6 ("the part that is left").</a:t>
            </a:r>
            <a:endParaRPr lang="en-US" sz="2800" dirty="0"/>
          </a:p>
          <a:p>
            <a:pPr algn="l" indent="0" marL="0">
              <a:spcAft>
                <a:spcPts val="1400"/>
              </a:spcAft>
              <a:buNone/>
            </a:pPr>
            <a:r>
              <a:rPr lang="en-US" sz="2800" dirty="0">
                <a:solidFill>
                  <a:schemeClr val="tx1"/>
                </a:solidFill>
              </a:rPr>
              <a:t>After that comes Idea 5 of Lesson 3: dividing fractions.</a:t>
            </a:r>
            <a:endParaRPr lang="en-US" sz="28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kind label"/>
          <p:cNvSpPr/>
          <p:nvPr/>
        </p:nvSpPr>
        <p:spPr>
          <a:xfrm>
            <a:off x="548640" y="365760"/>
            <a:ext cx="16444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EXIT TICKET</a:t>
            </a:r>
            <a:endParaRPr lang="en-US" sz="1300" dirty="0"/>
          </a:p>
        </p:txBody>
      </p:sp>
      <p:sp>
        <p:nvSpPr>
          <p:cNvPr id="3" name="Text 1"/>
          <p:cNvSpPr txBox="1"/>
          <p:nvPr/>
        </p:nvSpPr>
        <p:spPr>
          <a:xfrm>
            <a:off x="7985455" y="365760"/>
            <a:ext cx="3657600" cy="329184"/>
          </a:xfrm>
          <a:prstGeom prst="rect">
            <a:avLst/>
          </a:prstGeom>
          <a:noFill/>
          <a:ln/>
        </p:spPr>
        <p:txBody>
          <a:bodyPr wrap="square" lIns="0" tIns="0" rIns="0" bIns="0" rtlCol="0" anchor="ctr"/>
          <a:lstStyle/>
          <a:p>
            <a:pPr algn="r" indent="0" marL="0">
              <a:buNone/>
            </a:pPr>
            <a:r>
              <a:rPr lang="en-US" sz="1400" b="1" dirty="0">
                <a:solidFill>
                  <a:srgbClr val="6B7280"/>
                </a:solidFill>
              </a:rPr>
              <a:t>1 / 2</a:t>
            </a:r>
            <a:endParaRPr lang="en-US" sz="1400" dirty="0"/>
          </a:p>
        </p:txBody>
      </p:sp>
      <p:sp>
        <p:nvSpPr>
          <p:cNvPr id="4"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Exit ticket: do these on your own</a:t>
            </a:r>
            <a:endParaRPr lang="en-US" sz="3000" dirty="0"/>
          </a:p>
        </p:txBody>
      </p:sp>
      <p:sp>
        <p:nvSpPr>
          <p:cNvPr id="5" name="question"/>
          <p:cNvSpPr/>
          <p:nvPr/>
        </p:nvSpPr>
        <p:spPr>
          <a:xfrm>
            <a:off x="548640" y="2600554"/>
            <a:ext cx="5410048" cy="1583741"/>
          </a:xfrm>
          <a:prstGeom prst="roundRect">
            <a:avLst>
              <a:gd name="adj" fmla="val 8083"/>
            </a:avLst>
          </a:prstGeom>
          <a:solidFill>
            <a:schemeClr val="bg2"/>
          </a:solidFill>
          <a:ln/>
        </p:spPr>
      </p:sp>
      <p:sp>
        <p:nvSpPr>
          <p:cNvPr id="6" name="number badge"/>
          <p:cNvSpPr/>
          <p:nvPr/>
        </p:nvSpPr>
        <p:spPr>
          <a:xfrm>
            <a:off x="777240" y="2829154"/>
            <a:ext cx="512064" cy="512064"/>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1463040" y="2829154"/>
            <a:ext cx="1231459" cy="1126541"/>
          </a:xfrm>
          <a:prstGeom prst="rect">
            <a:avLst/>
          </a:prstGeom>
          <a:noFill/>
          <a:ln/>
        </p:spPr>
        <p:txBody>
          <a:bodyPr wrap="square" lIns="0" tIns="0" rIns="0" bIns="0" rtlCol="0" anchor="ctr"/>
          <a:lstStyle/>
          <a:p>
            <a:pPr algn="l" indent="0" marL="0">
              <a:buNone/>
            </a:pPr>
            <a:r>
              <a:rPr lang="en-US" sz="2200" dirty="0">
                <a:solidFill>
                  <a:schemeClr val="tx1"/>
                </a:solidFill>
              </a:rPr>
              <a:t>Simplify:</a:t>
            </a:r>
            <a:endParaRPr lang="en-US" sz="2200" dirty="0"/>
          </a:p>
        </p:txBody>
      </p:sp>
      <p:pic>
        <p:nvPicPr>
          <p:cNvPr id="8" name="Image 0" descr="12/16">    </p:cNvPr>
          <p:cNvPicPr>
            <a:picLocks noChangeAspect="1"/>
          </p:cNvPicPr>
          <p:nvPr/>
        </p:nvPicPr>
        <p:blipFill>
          <a:blip r:embed="rId1"/>
          <a:stretch>
            <a:fillRect/>
          </a:stretch>
        </p:blipFill>
        <p:spPr>
          <a:xfrm>
            <a:off x="2831659" y="2829154"/>
            <a:ext cx="768096" cy="1126541"/>
          </a:xfrm>
          <a:prstGeom prst="rect">
            <a:avLst/>
          </a:prstGeom>
        </p:spPr>
      </p:pic>
      <p:sp>
        <p:nvSpPr>
          <p:cNvPr id="9" name="question"/>
          <p:cNvSpPr/>
          <p:nvPr/>
        </p:nvSpPr>
        <p:spPr>
          <a:xfrm>
            <a:off x="6233008" y="2600554"/>
            <a:ext cx="5410048" cy="1583741"/>
          </a:xfrm>
          <a:prstGeom prst="roundRect">
            <a:avLst>
              <a:gd name="adj" fmla="val 8083"/>
            </a:avLst>
          </a:prstGeom>
          <a:solidFill>
            <a:schemeClr val="bg2"/>
          </a:solidFill>
          <a:ln/>
        </p:spPr>
      </p:sp>
      <p:sp>
        <p:nvSpPr>
          <p:cNvPr id="10" name="number badge"/>
          <p:cNvSpPr/>
          <p:nvPr/>
        </p:nvSpPr>
        <p:spPr>
          <a:xfrm>
            <a:off x="6461608" y="2829154"/>
            <a:ext cx="512064" cy="512064"/>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7147408" y="2829154"/>
            <a:ext cx="1382637" cy="1126541"/>
          </a:xfrm>
          <a:prstGeom prst="rect">
            <a:avLst/>
          </a:prstGeom>
          <a:noFill/>
          <a:ln/>
        </p:spPr>
        <p:txBody>
          <a:bodyPr wrap="square" lIns="0" tIns="0" rIns="0" bIns="0" rtlCol="0" anchor="ctr"/>
          <a:lstStyle/>
          <a:p>
            <a:pPr algn="l" indent="0" marL="0">
              <a:buNone/>
            </a:pPr>
            <a:r>
              <a:rPr lang="en-US" sz="2200" dirty="0">
                <a:solidFill>
                  <a:schemeClr val="tx1"/>
                </a:solidFill>
              </a:rPr>
              <a:t>Work out:</a:t>
            </a:r>
            <a:endParaRPr lang="en-US" sz="2200" dirty="0"/>
          </a:p>
        </p:txBody>
      </p:sp>
      <p:pic>
        <p:nvPicPr>
          <p:cNvPr id="12" name="Image 1" descr="2/3 × 3/4">    </p:cNvPr>
          <p:cNvPicPr>
            <a:picLocks noChangeAspect="1"/>
          </p:cNvPicPr>
          <p:nvPr/>
        </p:nvPicPr>
        <p:blipFill>
          <a:blip r:embed="rId2"/>
          <a:stretch>
            <a:fillRect/>
          </a:stretch>
        </p:blipFill>
        <p:spPr>
          <a:xfrm>
            <a:off x="8667204" y="2829154"/>
            <a:ext cx="1419149" cy="1126541"/>
          </a:xfrm>
          <a:prstGeom prst="rect">
            <a:avLst/>
          </a:prstGeom>
        </p:spPr>
      </p:pic>
      <p:sp>
        <p:nvSpPr>
          <p:cNvPr id="13" name="Text 9"/>
          <p:cNvSpPr txBox="1"/>
          <p:nvPr/>
        </p:nvSpPr>
        <p:spPr>
          <a:xfrm>
            <a:off x="548640" y="5824728"/>
            <a:ext cx="11094415" cy="347472"/>
          </a:xfrm>
          <a:prstGeom prst="rect">
            <a:avLst/>
          </a:prstGeom>
          <a:noFill/>
          <a:ln/>
        </p:spPr>
        <p:txBody>
          <a:bodyPr wrap="square" lIns="0" tIns="0" rIns="0" bIns="0" rtlCol="0" anchor="t"/>
          <a:lstStyle/>
          <a:p>
            <a:pPr algn="l" indent="0" marL="0">
              <a:buNone/>
            </a:pPr>
            <a:r>
              <a:rPr lang="en-US" sz="1800" b="1" dirty="0">
                <a:solidFill>
                  <a:srgbClr val="4B5563"/>
                </a:solidFill>
              </a:rPr>
              <a:t>Send a photo of your working to your tutor privately. It is not for marks.</a:t>
            </a:r>
            <a:endParaRPr lang="en-US" sz="18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kind label"/>
          <p:cNvSpPr/>
          <p:nvPr/>
        </p:nvSpPr>
        <p:spPr>
          <a:xfrm>
            <a:off x="548640" y="365760"/>
            <a:ext cx="1644413"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EXIT TICKET</a:t>
            </a:r>
            <a:endParaRPr lang="en-US" sz="1300" dirty="0"/>
          </a:p>
        </p:txBody>
      </p:sp>
      <p:sp>
        <p:nvSpPr>
          <p:cNvPr id="3" name="Text 1"/>
          <p:cNvSpPr txBox="1"/>
          <p:nvPr/>
        </p:nvSpPr>
        <p:spPr>
          <a:xfrm>
            <a:off x="7985455" y="365760"/>
            <a:ext cx="3657600" cy="329184"/>
          </a:xfrm>
          <a:prstGeom prst="rect">
            <a:avLst/>
          </a:prstGeom>
          <a:noFill/>
          <a:ln/>
        </p:spPr>
        <p:txBody>
          <a:bodyPr wrap="square" lIns="0" tIns="0" rIns="0" bIns="0" rtlCol="0" anchor="ctr"/>
          <a:lstStyle/>
          <a:p>
            <a:pPr algn="r" indent="0" marL="0">
              <a:buNone/>
            </a:pPr>
            <a:r>
              <a:rPr lang="en-US" sz="1400" b="1" dirty="0">
                <a:solidFill>
                  <a:srgbClr val="6B7280"/>
                </a:solidFill>
              </a:rPr>
              <a:t>2 / 2</a:t>
            </a:r>
            <a:endParaRPr lang="en-US" sz="1400" dirty="0"/>
          </a:p>
        </p:txBody>
      </p:sp>
      <p:sp>
        <p:nvSpPr>
          <p:cNvPr id="4"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Exit ticket: do these on your own</a:t>
            </a:r>
            <a:endParaRPr lang="en-US" sz="3000" dirty="0"/>
          </a:p>
        </p:txBody>
      </p:sp>
      <p:sp>
        <p:nvSpPr>
          <p:cNvPr id="5" name="question"/>
          <p:cNvSpPr/>
          <p:nvPr/>
        </p:nvSpPr>
        <p:spPr>
          <a:xfrm>
            <a:off x="548640" y="2706624"/>
            <a:ext cx="5410048" cy="1371600"/>
          </a:xfrm>
          <a:prstGeom prst="roundRect">
            <a:avLst>
              <a:gd name="adj" fmla="val 9333"/>
            </a:avLst>
          </a:prstGeom>
          <a:solidFill>
            <a:schemeClr val="bg2"/>
          </a:solidFill>
          <a:ln/>
        </p:spPr>
      </p:sp>
      <p:sp>
        <p:nvSpPr>
          <p:cNvPr id="6" name="number badge"/>
          <p:cNvSpPr/>
          <p:nvPr/>
        </p:nvSpPr>
        <p:spPr>
          <a:xfrm>
            <a:off x="777240" y="2935224"/>
            <a:ext cx="512064" cy="512064"/>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7" name="Text 5"/>
          <p:cNvSpPr txBox="1"/>
          <p:nvPr/>
        </p:nvSpPr>
        <p:spPr>
          <a:xfrm>
            <a:off x="1463040" y="2935224"/>
            <a:ext cx="4267048" cy="512064"/>
          </a:xfrm>
          <a:prstGeom prst="rect">
            <a:avLst/>
          </a:prstGeom>
          <a:noFill/>
          <a:ln/>
        </p:spPr>
        <p:txBody>
          <a:bodyPr wrap="square" lIns="0" tIns="0" rIns="0" bIns="0" rtlCol="0" anchor="ctr"/>
          <a:lstStyle/>
          <a:p>
            <a:pPr algn="l" indent="0" marL="0">
              <a:buNone/>
            </a:pPr>
            <a:r>
              <a:rPr lang="en-US" sz="2200" dirty="0">
                <a:solidFill>
                  <a:schemeClr val="tx1"/>
                </a:solidFill>
              </a:rPr>
              <a:t>Find 3/5 of R200.</a:t>
            </a:r>
            <a:endParaRPr lang="en-US" sz="2200" dirty="0"/>
          </a:p>
        </p:txBody>
      </p:sp>
      <p:sp>
        <p:nvSpPr>
          <p:cNvPr id="8" name="Text 6"/>
          <p:cNvSpPr txBox="1"/>
          <p:nvPr/>
        </p:nvSpPr>
        <p:spPr>
          <a:xfrm>
            <a:off x="548640" y="5824728"/>
            <a:ext cx="11094415" cy="347472"/>
          </a:xfrm>
          <a:prstGeom prst="rect">
            <a:avLst/>
          </a:prstGeom>
          <a:noFill/>
          <a:ln/>
        </p:spPr>
        <p:txBody>
          <a:bodyPr wrap="square" lIns="0" tIns="0" rIns="0" bIns="0" rtlCol="0" anchor="t"/>
          <a:lstStyle/>
          <a:p>
            <a:pPr algn="l" indent="0" marL="0">
              <a:buNone/>
            </a:pPr>
            <a:r>
              <a:rPr lang="en-US" sz="1800" b="1" dirty="0">
                <a:solidFill>
                  <a:srgbClr val="4B5563"/>
                </a:solidFill>
              </a:rPr>
              <a:t>Send a photo of your working to your tutor privately. It is not for marks.</a:t>
            </a:r>
            <a:endParaRPr lang="en-US" sz="18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kind label"/>
          <p:cNvSpPr/>
          <p:nvPr/>
        </p:nvSpPr>
        <p:spPr>
          <a:xfrm>
            <a:off x="548640" y="365760"/>
            <a:ext cx="2973338"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EXIT TICKET  ·  SOLUTION</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Exit ticket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299860" cy="938784"/>
          </a:xfrm>
          <a:prstGeom prst="rect">
            <a:avLst/>
          </a:prstGeom>
          <a:noFill/>
          <a:ln/>
        </p:spPr>
        <p:txBody>
          <a:bodyPr wrap="square" lIns="0" tIns="0" rIns="0" bIns="0" rtlCol="0" anchor="ctr"/>
          <a:lstStyle/>
          <a:p>
            <a:pPr algn="l" indent="0" marL="0">
              <a:buNone/>
            </a:pPr>
            <a:r>
              <a:rPr lang="en-US" sz="2200" b="1" dirty="0">
                <a:solidFill>
                  <a:schemeClr val="tx1"/>
                </a:solidFill>
              </a:rPr>
              <a:t>Simplify:</a:t>
            </a:r>
            <a:endParaRPr lang="en-US" sz="2200" dirty="0"/>
          </a:p>
        </p:txBody>
      </p:sp>
      <p:pic>
        <p:nvPicPr>
          <p:cNvPr id="6" name="Image 0" descr="12/16">    </p:cNvPr>
          <p:cNvPicPr>
            <a:picLocks noChangeAspect="1"/>
          </p:cNvPicPr>
          <p:nvPr/>
        </p:nvPicPr>
        <p:blipFill>
          <a:blip r:embed="rId1"/>
          <a:stretch>
            <a:fillRect/>
          </a:stretch>
        </p:blipFill>
        <p:spPr>
          <a:xfrm>
            <a:off x="2214260" y="1600200"/>
            <a:ext cx="640080"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1 OF 2</a:t>
            </a:r>
            <a:endParaRPr lang="en-US" sz="1400" dirty="0"/>
          </a:p>
        </p:txBody>
      </p:sp>
      <p:sp>
        <p:nvSpPr>
          <p:cNvPr id="9" name="Text 6"/>
          <p:cNvSpPr txBox="1"/>
          <p:nvPr/>
        </p:nvSpPr>
        <p:spPr>
          <a:xfrm>
            <a:off x="548640" y="3681984"/>
            <a:ext cx="4754880" cy="865632"/>
          </a:xfrm>
          <a:prstGeom prst="rect">
            <a:avLst/>
          </a:prstGeom>
          <a:noFill/>
          <a:ln/>
        </p:spPr>
        <p:txBody>
          <a:bodyPr wrap="square" lIns="0" tIns="0" rIns="0" bIns="0" rtlCol="0" anchor="t"/>
          <a:lstStyle/>
          <a:p>
            <a:pPr algn="l" indent="0" marL="0">
              <a:buNone/>
            </a:pPr>
            <a:r>
              <a:rPr lang="en-US" sz="2600" b="1" dirty="0">
                <a:solidFill>
                  <a:schemeClr val="tx1"/>
                </a:solidFill>
              </a:rPr>
              <a:t>Both are even: divide the top and the bottom by 2.</a:t>
            </a:r>
            <a:endParaRPr lang="en-US" sz="2600" dirty="0"/>
          </a:p>
        </p:txBody>
      </p:sp>
      <p:sp>
        <p:nvSpPr>
          <p:cNvPr id="10"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1" name="Image 1" descr="12/16 = 12 ÷ 2/16 ÷ 2 = 6/8">    </p:cNvPr>
          <p:cNvPicPr>
            <a:picLocks noChangeAspect="1"/>
          </p:cNvPicPr>
          <p:nvPr/>
        </p:nvPicPr>
        <p:blipFill>
          <a:blip r:embed="rId2"/>
          <a:stretch>
            <a:fillRect/>
          </a:stretch>
        </p:blipFill>
        <p:spPr>
          <a:xfrm>
            <a:off x="6556801" y="3927325"/>
            <a:ext cx="4107294" cy="128630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kind label"/>
          <p:cNvSpPr/>
          <p:nvPr/>
        </p:nvSpPr>
        <p:spPr>
          <a:xfrm>
            <a:off x="548640" y="365760"/>
            <a:ext cx="2973338"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EXIT TICKET  ·  SOLUTION</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Exit ticket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299860" cy="938784"/>
          </a:xfrm>
          <a:prstGeom prst="rect">
            <a:avLst/>
          </a:prstGeom>
          <a:noFill/>
          <a:ln/>
        </p:spPr>
        <p:txBody>
          <a:bodyPr wrap="square" lIns="0" tIns="0" rIns="0" bIns="0" rtlCol="0" anchor="ctr"/>
          <a:lstStyle/>
          <a:p>
            <a:pPr algn="l" indent="0" marL="0">
              <a:buNone/>
            </a:pPr>
            <a:r>
              <a:rPr lang="en-US" sz="2200" b="1" dirty="0">
                <a:solidFill>
                  <a:schemeClr val="tx1"/>
                </a:solidFill>
              </a:rPr>
              <a:t>Simplify:</a:t>
            </a:r>
            <a:endParaRPr lang="en-US" sz="2200" dirty="0"/>
          </a:p>
        </p:txBody>
      </p:sp>
      <p:pic>
        <p:nvPicPr>
          <p:cNvPr id="6" name="Image 0" descr="12/16">    </p:cNvPr>
          <p:cNvPicPr>
            <a:picLocks noChangeAspect="1"/>
          </p:cNvPicPr>
          <p:nvPr/>
        </p:nvPicPr>
        <p:blipFill>
          <a:blip r:embed="rId1"/>
          <a:stretch>
            <a:fillRect/>
          </a:stretch>
        </p:blipFill>
        <p:spPr>
          <a:xfrm>
            <a:off x="2214260" y="1600200"/>
            <a:ext cx="640080" cy="938784"/>
          </a:xfrm>
          <a:prstGeom prst="rect">
            <a:avLst/>
          </a:prstGeom>
        </p:spPr>
      </p:pic>
      <p:sp>
        <p:nvSpPr>
          <p:cNvPr id="7" name="number badge"/>
          <p:cNvSpPr/>
          <p:nvPr/>
        </p:nvSpPr>
        <p:spPr>
          <a:xfrm>
            <a:off x="548640" y="2941320"/>
            <a:ext cx="548640" cy="548640"/>
          </a:xfrm>
          <a:prstGeom prst="ellipse">
            <a:avLst/>
          </a:prstGeom>
          <a:solidFill>
            <a:srgbClr val="B45309"/>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5"/>
          <p:cNvSpPr txBox="1"/>
          <p:nvPr/>
        </p:nvSpPr>
        <p:spPr>
          <a:xfrm>
            <a:off x="1261872" y="2941320"/>
            <a:ext cx="2743200" cy="548640"/>
          </a:xfrm>
          <a:prstGeom prst="rect">
            <a:avLst/>
          </a:prstGeom>
          <a:noFill/>
          <a:ln/>
        </p:spPr>
        <p:txBody>
          <a:bodyPr wrap="square" lIns="0" tIns="0" rIns="0" bIns="0" rtlCol="0" anchor="ctr"/>
          <a:lstStyle/>
          <a:p>
            <a:pPr algn="l" indent="0" marL="0">
              <a:buNone/>
            </a:pPr>
            <a:r>
              <a:rPr lang="en-US" sz="1400" b="1" dirty="0">
                <a:solidFill>
                  <a:srgbClr val="6B7280"/>
                </a:solidFill>
              </a:rPr>
              <a:t>STEP 2 OF 2</a:t>
            </a:r>
            <a:endParaRPr lang="en-US" sz="1400" dirty="0"/>
          </a:p>
        </p:txBody>
      </p:sp>
      <p:sp>
        <p:nvSpPr>
          <p:cNvPr id="9" name="Text 6"/>
          <p:cNvSpPr txBox="1"/>
          <p:nvPr/>
        </p:nvSpPr>
        <p:spPr>
          <a:xfrm>
            <a:off x="548640" y="3681984"/>
            <a:ext cx="4754880" cy="1658112"/>
          </a:xfrm>
          <a:prstGeom prst="rect">
            <a:avLst/>
          </a:prstGeom>
          <a:noFill/>
          <a:ln/>
        </p:spPr>
        <p:txBody>
          <a:bodyPr wrap="square" lIns="0" tIns="0" rIns="0" bIns="0" rtlCol="0" anchor="t"/>
          <a:lstStyle/>
          <a:p>
            <a:pPr algn="l" indent="0" marL="0">
              <a:buNone/>
            </a:pPr>
            <a:r>
              <a:rPr lang="en-US" sz="2600" b="1" dirty="0">
                <a:solidFill>
                  <a:schemeClr val="tx1"/>
                </a:solidFill>
              </a:rPr>
              <a:t>Both are still even: divide by 2 again. Then 1 is the only number that goes into both 3 and 4.</a:t>
            </a:r>
            <a:endParaRPr lang="en-US" sz="2600" dirty="0"/>
          </a:p>
        </p:txBody>
      </p:sp>
      <p:sp>
        <p:nvSpPr>
          <p:cNvPr id="10"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pic>
        <p:nvPicPr>
          <p:cNvPr id="11" name="Image 1" descr="6/8 = 6 ÷ 2/8 ÷ 2 = 3/4">    </p:cNvPr>
          <p:cNvPicPr>
            <a:picLocks noChangeAspect="1"/>
          </p:cNvPicPr>
          <p:nvPr/>
        </p:nvPicPr>
        <p:blipFill>
          <a:blip r:embed="rId2"/>
          <a:stretch>
            <a:fillRect/>
          </a:stretch>
        </p:blipFill>
        <p:spPr>
          <a:xfrm>
            <a:off x="6849545" y="3927325"/>
            <a:ext cx="3521805" cy="1286301"/>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kind label"/>
          <p:cNvSpPr/>
          <p:nvPr/>
        </p:nvSpPr>
        <p:spPr>
          <a:xfrm>
            <a:off x="548640" y="365760"/>
            <a:ext cx="1317473"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ANSWER</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Exit ticket 1</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299860" cy="938784"/>
          </a:xfrm>
          <a:prstGeom prst="rect">
            <a:avLst/>
          </a:prstGeom>
          <a:noFill/>
          <a:ln/>
        </p:spPr>
        <p:txBody>
          <a:bodyPr wrap="square" lIns="0" tIns="0" rIns="0" bIns="0" rtlCol="0" anchor="ctr"/>
          <a:lstStyle/>
          <a:p>
            <a:pPr algn="l" indent="0" marL="0">
              <a:buNone/>
            </a:pPr>
            <a:r>
              <a:rPr lang="en-US" sz="2200" b="1" dirty="0">
                <a:solidFill>
                  <a:schemeClr val="tx1"/>
                </a:solidFill>
              </a:rPr>
              <a:t>Simplify:</a:t>
            </a:r>
            <a:endParaRPr lang="en-US" sz="2200" dirty="0"/>
          </a:p>
        </p:txBody>
      </p:sp>
      <p:pic>
        <p:nvPicPr>
          <p:cNvPr id="6" name="Image 0" descr="12/16">    </p:cNvPr>
          <p:cNvPicPr>
            <a:picLocks noChangeAspect="1"/>
          </p:cNvPicPr>
          <p:nvPr/>
        </p:nvPicPr>
        <p:blipFill>
          <a:blip r:embed="rId1"/>
          <a:stretch>
            <a:fillRect/>
          </a:stretch>
        </p:blipFill>
        <p:spPr>
          <a:xfrm>
            <a:off x="2214260" y="1600200"/>
            <a:ext cx="640080" cy="938784"/>
          </a:xfrm>
          <a:prstGeom prst="rect">
            <a:avLst/>
          </a:prstGeom>
        </p:spPr>
      </p:pic>
      <p:sp>
        <p:nvSpPr>
          <p:cNvPr id="7" name="answer"/>
          <p:cNvSpPr/>
          <p:nvPr/>
        </p:nvSpPr>
        <p:spPr>
          <a:xfrm>
            <a:off x="548640" y="2904744"/>
            <a:ext cx="4754880" cy="2140527"/>
          </a:xfrm>
          <a:prstGeom prst="roundRect">
            <a:avLst>
              <a:gd name="adj" fmla="val 5981"/>
            </a:avLst>
          </a:prstGeom>
          <a:solidFill>
            <a:srgbClr val="E3F2E5"/>
          </a:solidFill>
          <a:ln/>
        </p:spPr>
      </p:sp>
      <p:sp>
        <p:nvSpPr>
          <p:cNvPr id="8" name="Text 5"/>
          <p:cNvSpPr txBox="1"/>
          <p:nvPr/>
        </p:nvSpPr>
        <p:spPr>
          <a:xfrm>
            <a:off x="777240" y="3069336"/>
            <a:ext cx="1828800" cy="286512"/>
          </a:xfrm>
          <a:prstGeom prst="rect">
            <a:avLst/>
          </a:prstGeom>
          <a:noFill/>
          <a:ln/>
        </p:spPr>
        <p:txBody>
          <a:bodyPr wrap="square" lIns="0" tIns="0" rIns="0" bIns="0" rtlCol="0" anchor="t"/>
          <a:lstStyle/>
          <a:p>
            <a:pPr algn="l" indent="0" marL="0">
              <a:buNone/>
            </a:pPr>
            <a:r>
              <a:rPr lang="en-US" sz="1400" b="1" dirty="0">
                <a:solidFill>
                  <a:schemeClr val="accent4"/>
                </a:solidFill>
              </a:rPr>
              <a:t>ANSWER</a:t>
            </a:r>
            <a:endParaRPr lang="en-US" sz="1400" dirty="0"/>
          </a:p>
        </p:txBody>
      </p:sp>
      <p:pic>
        <p:nvPicPr>
          <p:cNvPr id="9" name="Image 1" descr="3/4">    </p:cNvPr>
          <p:cNvPicPr>
            <a:picLocks noChangeAspect="1"/>
          </p:cNvPicPr>
          <p:nvPr/>
        </p:nvPicPr>
        <p:blipFill>
          <a:blip r:embed="rId2"/>
          <a:stretch>
            <a:fillRect/>
          </a:stretch>
        </p:blipFill>
        <p:spPr>
          <a:xfrm>
            <a:off x="777240" y="3416808"/>
            <a:ext cx="606829" cy="1363287"/>
          </a:xfrm>
          <a:prstGeom prst="rect">
            <a:avLst/>
          </a:prstGeom>
        </p:spPr>
      </p:pic>
      <p:sp>
        <p:nvSpPr>
          <p:cNvPr id="10" name="board"/>
          <p:cNvSpPr/>
          <p:nvPr/>
        </p:nvSpPr>
        <p:spPr>
          <a:xfrm>
            <a:off x="5577840" y="2904744"/>
            <a:ext cx="6065215" cy="3331464"/>
          </a:xfrm>
          <a:prstGeom prst="roundRect">
            <a:avLst>
              <a:gd name="adj" fmla="val 3843"/>
            </a:avLst>
          </a:prstGeom>
          <a:solidFill>
            <a:srgbClr val="FFFFFF"/>
          </a:solidFill>
          <a:ln w="15875">
            <a:solidFill>
              <a:srgbClr val="D1D5DB"/>
            </a:solidFill>
            <a:prstDash val="solid"/>
          </a:ln>
        </p:spPr>
      </p:sp>
      <p:sp>
        <p:nvSpPr>
          <p:cNvPr id="11" name="Text 7"/>
          <p:cNvSpPr txBox="1"/>
          <p:nvPr/>
        </p:nvSpPr>
        <p:spPr>
          <a:xfrm>
            <a:off x="5852160" y="3051048"/>
            <a:ext cx="5516575" cy="256032"/>
          </a:xfrm>
          <a:prstGeom prst="rect">
            <a:avLst/>
          </a:prstGeom>
          <a:noFill/>
          <a:ln/>
        </p:spPr>
        <p:txBody>
          <a:bodyPr wrap="square" lIns="0" tIns="0" rIns="0" bIns="0" rtlCol="0" anchor="t"/>
          <a:lstStyle/>
          <a:p>
            <a:pPr algn="l" indent="0" marL="0">
              <a:buNone/>
            </a:pPr>
            <a:r>
              <a:rPr lang="en-US" sz="1200" b="1" dirty="0">
                <a:solidFill>
                  <a:srgbClr val="6B7280"/>
                </a:solidFill>
              </a:rPr>
              <a:t>HOW IT LOOKS ON YOUR PAGE</a:t>
            </a:r>
            <a:endParaRPr lang="en-US" sz="1200" dirty="0"/>
          </a:p>
        </p:txBody>
      </p:sp>
      <p:pic>
        <p:nvPicPr>
          <p:cNvPr id="12" name="Image 2" descr="the whole working">    </p:cNvPr>
          <p:cNvPicPr>
            <a:picLocks noChangeAspect="1"/>
          </p:cNvPicPr>
          <p:nvPr/>
        </p:nvPicPr>
        <p:blipFill>
          <a:blip r:embed="rId3"/>
          <a:stretch>
            <a:fillRect/>
          </a:stretch>
        </p:blipFill>
        <p:spPr>
          <a:xfrm>
            <a:off x="5852160" y="3361944"/>
            <a:ext cx="2981597" cy="1867989"/>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kind label"/>
          <p:cNvSpPr/>
          <p:nvPr/>
        </p:nvSpPr>
        <p:spPr>
          <a:xfrm>
            <a:off x="548640" y="365760"/>
            <a:ext cx="2973338"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EXIT TICKET  ·  SOLUTION</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Exit ticket 2</a:t>
            </a:r>
            <a:endParaRPr lang="en-US" sz="3000" dirty="0"/>
          </a:p>
        </p:txBody>
      </p:sp>
      <p:sp>
        <p:nvSpPr>
          <p:cNvPr id="4" name="question"/>
          <p:cNvSpPr/>
          <p:nvPr/>
        </p:nvSpPr>
        <p:spPr>
          <a:xfrm>
            <a:off x="548640" y="1417320"/>
            <a:ext cx="11094415" cy="1304544"/>
          </a:xfrm>
          <a:prstGeom prst="roundRect">
            <a:avLst>
              <a:gd name="adj" fmla="val 9813"/>
            </a:avLst>
          </a:prstGeom>
          <a:solidFill>
            <a:schemeClr val="bg2"/>
          </a:solidFill>
          <a:ln/>
        </p:spPr>
      </p:sp>
      <p:sp>
        <p:nvSpPr>
          <p:cNvPr id="5" name="Text 3"/>
          <p:cNvSpPr txBox="1"/>
          <p:nvPr/>
        </p:nvSpPr>
        <p:spPr>
          <a:xfrm>
            <a:off x="731520" y="1600200"/>
            <a:ext cx="1460109" cy="938784"/>
          </a:xfrm>
          <a:prstGeom prst="rect">
            <a:avLst/>
          </a:prstGeom>
          <a:noFill/>
          <a:ln/>
        </p:spPr>
        <p:txBody>
          <a:bodyPr wrap="square" lIns="0" tIns="0" rIns="0" bIns="0" rtlCol="0" anchor="ctr"/>
          <a:lstStyle/>
          <a:p>
            <a:pPr algn="l" indent="0" marL="0">
              <a:buNone/>
            </a:pPr>
            <a:r>
              <a:rPr lang="en-US" sz="2200" b="1" dirty="0">
                <a:solidFill>
                  <a:schemeClr val="tx1"/>
                </a:solidFill>
              </a:rPr>
              <a:t>Work out:</a:t>
            </a:r>
            <a:endParaRPr lang="en-US" sz="2200" dirty="0"/>
          </a:p>
        </p:txBody>
      </p:sp>
      <p:pic>
        <p:nvPicPr>
          <p:cNvPr id="6" name="Image 0" descr="2/3 × 3/4">    </p:cNvPr>
          <p:cNvPicPr>
            <a:picLocks noChangeAspect="1"/>
          </p:cNvPicPr>
          <p:nvPr/>
        </p:nvPicPr>
        <p:blipFill>
          <a:blip r:embed="rId1"/>
          <a:stretch>
            <a:fillRect/>
          </a:stretch>
        </p:blipFill>
        <p:spPr>
          <a:xfrm>
            <a:off x="2374509" y="1600200"/>
            <a:ext cx="1182624" cy="938784"/>
          </a:xfrm>
          <a:prstGeom prst="rect">
            <a:avLst/>
          </a:prstGeom>
        </p:spPr>
      </p:pic>
      <p:sp>
        <p:nvSpPr>
          <p:cNvPr id="7" name="number badge"/>
          <p:cNvSpPr/>
          <p:nvPr/>
        </p:nvSpPr>
        <p:spPr>
          <a:xfrm>
            <a:off x="548640" y="2923032"/>
            <a:ext cx="420624" cy="420624"/>
          </a:xfrm>
          <a:prstGeom prst="ellipse">
            <a:avLst/>
          </a:prstGeom>
          <a:solidFill>
            <a:srgbClr val="B45309"/>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43000" y="2904744"/>
            <a:ext cx="4343400" cy="408432"/>
          </a:xfrm>
          <a:prstGeom prst="rect">
            <a:avLst/>
          </a:prstGeom>
          <a:noFill/>
          <a:ln/>
        </p:spPr>
        <p:txBody>
          <a:bodyPr wrap="square" lIns="0" tIns="0" rIns="0" bIns="0" rtlCol="0" anchor="t"/>
          <a:lstStyle/>
          <a:p>
            <a:pPr algn="l" indent="0" marL="0">
              <a:buNone/>
            </a:pPr>
            <a:r>
              <a:rPr lang="en-US" sz="2200" b="1" dirty="0">
                <a:solidFill>
                  <a:schemeClr val="tx1"/>
                </a:solidFill>
              </a:rPr>
              <a:t>Top × top, bottom × bottom.</a:t>
            </a:r>
            <a:endParaRPr lang="en-US" sz="2200" dirty="0"/>
          </a:p>
        </p:txBody>
      </p:sp>
      <p:sp>
        <p:nvSpPr>
          <p:cNvPr id="9" name="number badge"/>
          <p:cNvSpPr/>
          <p:nvPr/>
        </p:nvSpPr>
        <p:spPr>
          <a:xfrm>
            <a:off x="548640" y="3489960"/>
            <a:ext cx="420624" cy="420624"/>
          </a:xfrm>
          <a:prstGeom prst="ellipse">
            <a:avLst/>
          </a:prstGeom>
          <a:solidFill>
            <a:srgbClr val="B45309"/>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1143000" y="3471672"/>
            <a:ext cx="4343400" cy="743712"/>
          </a:xfrm>
          <a:prstGeom prst="rect">
            <a:avLst/>
          </a:prstGeom>
          <a:noFill/>
          <a:ln/>
        </p:spPr>
        <p:txBody>
          <a:bodyPr wrap="square" lIns="0" tIns="0" rIns="0" bIns="0" rtlCol="0" anchor="t"/>
          <a:lstStyle/>
          <a:p>
            <a:pPr algn="l" indent="0" marL="0">
              <a:buNone/>
            </a:pPr>
            <a:r>
              <a:rPr lang="en-US" sz="2200" b="1" dirty="0">
                <a:solidFill>
                  <a:schemeClr val="tx1"/>
                </a:solidFill>
              </a:rPr>
              <a:t>Simplify: 6 goes into both 6 and 12.</a:t>
            </a:r>
            <a:endParaRPr lang="en-US" sz="2200" dirty="0"/>
          </a:p>
        </p:txBody>
      </p:sp>
      <p:sp>
        <p:nvSpPr>
          <p:cNvPr id="11" name="answer"/>
          <p:cNvSpPr/>
          <p:nvPr/>
        </p:nvSpPr>
        <p:spPr>
          <a:xfrm>
            <a:off x="548640" y="4558453"/>
            <a:ext cx="4937760" cy="1677755"/>
          </a:xfrm>
          <a:prstGeom prst="roundRect">
            <a:avLst>
              <a:gd name="adj" fmla="val 7630"/>
            </a:avLst>
          </a:prstGeom>
          <a:solidFill>
            <a:srgbClr val="E3F2E5"/>
          </a:solidFill>
          <a:ln/>
        </p:spPr>
      </p:sp>
      <p:sp>
        <p:nvSpPr>
          <p:cNvPr id="12" name="Text 9"/>
          <p:cNvSpPr txBox="1"/>
          <p:nvPr/>
        </p:nvSpPr>
        <p:spPr>
          <a:xfrm>
            <a:off x="777240" y="4686469"/>
            <a:ext cx="1828800" cy="271272"/>
          </a:xfrm>
          <a:prstGeom prst="rect">
            <a:avLst/>
          </a:prstGeom>
          <a:noFill/>
          <a:ln/>
        </p:spPr>
        <p:txBody>
          <a:bodyPr wrap="square" lIns="0" tIns="0" rIns="0" bIns="0" rtlCol="0" anchor="t"/>
          <a:lstStyle/>
          <a:p>
            <a:pPr algn="l" indent="0" marL="0">
              <a:buNone/>
            </a:pPr>
            <a:r>
              <a:rPr lang="en-US" sz="1300" b="1" dirty="0">
                <a:solidFill>
                  <a:schemeClr val="accent4"/>
                </a:solidFill>
              </a:rPr>
              <a:t>ANSWER</a:t>
            </a:r>
            <a:endParaRPr lang="en-US" sz="1300" dirty="0"/>
          </a:p>
        </p:txBody>
      </p:sp>
      <p:pic>
        <p:nvPicPr>
          <p:cNvPr id="13" name="Image 1" descr="1/2">    </p:cNvPr>
          <p:cNvPicPr>
            <a:picLocks noChangeAspect="1"/>
          </p:cNvPicPr>
          <p:nvPr/>
        </p:nvPicPr>
        <p:blipFill>
          <a:blip r:embed="rId2"/>
          <a:stretch>
            <a:fillRect/>
          </a:stretch>
        </p:blipFill>
        <p:spPr>
          <a:xfrm>
            <a:off x="777240" y="4960789"/>
            <a:ext cx="494453" cy="1110827"/>
          </a:xfrm>
          <a:prstGeom prst="rect">
            <a:avLst/>
          </a:prstGeom>
        </p:spPr>
      </p:pic>
      <p:sp>
        <p:nvSpPr>
          <p:cNvPr id="14" name="board"/>
          <p:cNvSpPr/>
          <p:nvPr/>
        </p:nvSpPr>
        <p:spPr>
          <a:xfrm>
            <a:off x="5760720" y="2904744"/>
            <a:ext cx="5882335" cy="3331464"/>
          </a:xfrm>
          <a:prstGeom prst="roundRect">
            <a:avLst>
              <a:gd name="adj" fmla="val 3843"/>
            </a:avLst>
          </a:prstGeom>
          <a:solidFill>
            <a:srgbClr val="FFFFFF"/>
          </a:solidFill>
          <a:ln w="15875">
            <a:solidFill>
              <a:srgbClr val="D1D5DB"/>
            </a:solidFill>
            <a:prstDash val="solid"/>
          </a:ln>
        </p:spPr>
      </p:sp>
      <p:pic>
        <p:nvPicPr>
          <p:cNvPr id="15" name="Image 2" descr="2/3 × 3/4 = 2 × 3/3 × 4 = 6/12; 6/12 = 6 ÷ 6/12 ÷ 6 = 1/2">    </p:cNvPr>
          <p:cNvPicPr>
            <a:picLocks noChangeAspect="1"/>
          </p:cNvPicPr>
          <p:nvPr/>
        </p:nvPicPr>
        <p:blipFill>
          <a:blip r:embed="rId3"/>
          <a:stretch>
            <a:fillRect/>
          </a:stretch>
        </p:blipFill>
        <p:spPr>
          <a:xfrm>
            <a:off x="6418987" y="3361608"/>
            <a:ext cx="4565801" cy="2417736"/>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kind label"/>
          <p:cNvSpPr/>
          <p:nvPr/>
        </p:nvSpPr>
        <p:spPr>
          <a:xfrm>
            <a:off x="548640" y="365760"/>
            <a:ext cx="2973338"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EXIT TICKET  ·  SOLUTION</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Exit ticket 3</a:t>
            </a:r>
            <a:endParaRPr lang="en-US" sz="3000" dirty="0"/>
          </a:p>
        </p:txBody>
      </p:sp>
      <p:sp>
        <p:nvSpPr>
          <p:cNvPr id="4" name="question"/>
          <p:cNvSpPr/>
          <p:nvPr/>
        </p:nvSpPr>
        <p:spPr>
          <a:xfrm>
            <a:off x="548640" y="1417320"/>
            <a:ext cx="11094415" cy="701040"/>
          </a:xfrm>
          <a:prstGeom prst="roundRect">
            <a:avLst>
              <a:gd name="adj" fmla="val 18261"/>
            </a:avLst>
          </a:prstGeom>
          <a:solidFill>
            <a:schemeClr val="bg2"/>
          </a:solidFill>
          <a:ln/>
        </p:spPr>
      </p:sp>
      <p:sp>
        <p:nvSpPr>
          <p:cNvPr id="5" name="Text 3"/>
          <p:cNvSpPr txBox="1"/>
          <p:nvPr/>
        </p:nvSpPr>
        <p:spPr>
          <a:xfrm>
            <a:off x="731520" y="1600200"/>
            <a:ext cx="10728655" cy="381000"/>
          </a:xfrm>
          <a:prstGeom prst="rect">
            <a:avLst/>
          </a:prstGeom>
          <a:noFill/>
          <a:ln/>
        </p:spPr>
        <p:txBody>
          <a:bodyPr wrap="square" lIns="0" tIns="0" rIns="0" bIns="0" rtlCol="0" anchor="t"/>
          <a:lstStyle/>
          <a:p>
            <a:pPr algn="l" indent="0" marL="0">
              <a:buNone/>
            </a:pPr>
            <a:r>
              <a:rPr lang="en-US" sz="2200" dirty="0">
                <a:solidFill>
                  <a:schemeClr val="tx1"/>
                </a:solidFill>
              </a:rPr>
              <a:t>Find 3/5 of R200.</a:t>
            </a:r>
            <a:endParaRPr lang="en-US" sz="2200" dirty="0"/>
          </a:p>
        </p:txBody>
      </p:sp>
      <p:sp>
        <p:nvSpPr>
          <p:cNvPr id="6" name="number badge"/>
          <p:cNvSpPr/>
          <p:nvPr/>
        </p:nvSpPr>
        <p:spPr>
          <a:xfrm>
            <a:off x="548640" y="2319528"/>
            <a:ext cx="420624" cy="420624"/>
          </a:xfrm>
          <a:prstGeom prst="ellipse">
            <a:avLst/>
          </a:prstGeom>
          <a:solidFill>
            <a:srgbClr val="B45309"/>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143000" y="2301240"/>
            <a:ext cx="4343400" cy="1078992"/>
          </a:xfrm>
          <a:prstGeom prst="rect">
            <a:avLst/>
          </a:prstGeom>
          <a:noFill/>
          <a:ln/>
        </p:spPr>
        <p:txBody>
          <a:bodyPr wrap="square" lIns="0" tIns="0" rIns="0" bIns="0" rtlCol="0" anchor="t"/>
          <a:lstStyle/>
          <a:p>
            <a:pPr algn="l" indent="0" marL="0">
              <a:buNone/>
            </a:pPr>
            <a:r>
              <a:rPr lang="en-US" sz="2200" b="1" dirty="0">
                <a:solidFill>
                  <a:schemeClr val="tx1"/>
                </a:solidFill>
              </a:rPr>
              <a:t>Divide by the bottom: 200 ÷ 5. Leave a 0 off: 20 ÷ 5 = 4. Put the 0 back: 40.</a:t>
            </a:r>
            <a:endParaRPr lang="en-US" sz="2200" dirty="0"/>
          </a:p>
        </p:txBody>
      </p:sp>
      <p:sp>
        <p:nvSpPr>
          <p:cNvPr id="8" name="number badge"/>
          <p:cNvSpPr/>
          <p:nvPr/>
        </p:nvSpPr>
        <p:spPr>
          <a:xfrm>
            <a:off x="548640" y="3508248"/>
            <a:ext cx="420624" cy="420624"/>
          </a:xfrm>
          <a:prstGeom prst="ellipse">
            <a:avLst/>
          </a:prstGeom>
          <a:solidFill>
            <a:srgbClr val="B45309"/>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43000" y="3489960"/>
            <a:ext cx="4343400" cy="408432"/>
          </a:xfrm>
          <a:prstGeom prst="rect">
            <a:avLst/>
          </a:prstGeom>
          <a:noFill/>
          <a:ln/>
        </p:spPr>
        <p:txBody>
          <a:bodyPr wrap="square" lIns="0" tIns="0" rIns="0" bIns="0" rtlCol="0" anchor="t"/>
          <a:lstStyle/>
          <a:p>
            <a:pPr algn="l" indent="0" marL="0">
              <a:buNone/>
            </a:pPr>
            <a:r>
              <a:rPr lang="en-US" sz="2200" b="1" dirty="0">
                <a:solidFill>
                  <a:schemeClr val="tx1"/>
                </a:solidFill>
              </a:rPr>
              <a:t>Multiply by the top.</a:t>
            </a:r>
            <a:endParaRPr lang="en-US" sz="2200" dirty="0"/>
          </a:p>
        </p:txBody>
      </p:sp>
      <p:sp>
        <p:nvSpPr>
          <p:cNvPr id="10" name="answer"/>
          <p:cNvSpPr/>
          <p:nvPr/>
        </p:nvSpPr>
        <p:spPr>
          <a:xfrm>
            <a:off x="548640" y="5364480"/>
            <a:ext cx="4937760" cy="871728"/>
          </a:xfrm>
          <a:prstGeom prst="roundRect">
            <a:avLst>
              <a:gd name="adj" fmla="val 14685"/>
            </a:avLst>
          </a:prstGeom>
          <a:solidFill>
            <a:srgbClr val="E3F2E5"/>
          </a:solidFill>
          <a:ln/>
        </p:spPr>
      </p:sp>
      <p:sp>
        <p:nvSpPr>
          <p:cNvPr id="11" name="Text 9"/>
          <p:cNvSpPr txBox="1"/>
          <p:nvPr/>
        </p:nvSpPr>
        <p:spPr>
          <a:xfrm>
            <a:off x="777240" y="5492496"/>
            <a:ext cx="1828800" cy="271272"/>
          </a:xfrm>
          <a:prstGeom prst="rect">
            <a:avLst/>
          </a:prstGeom>
          <a:noFill/>
          <a:ln/>
        </p:spPr>
        <p:txBody>
          <a:bodyPr wrap="square" lIns="0" tIns="0" rIns="0" bIns="0" rtlCol="0" anchor="t"/>
          <a:lstStyle/>
          <a:p>
            <a:pPr algn="l" indent="0" marL="0">
              <a:buNone/>
            </a:pPr>
            <a:r>
              <a:rPr lang="en-US" sz="1300" b="1" dirty="0">
                <a:solidFill>
                  <a:schemeClr val="accent4"/>
                </a:solidFill>
              </a:rPr>
              <a:t>ANSWER</a:t>
            </a:r>
            <a:endParaRPr lang="en-US" sz="1300" dirty="0"/>
          </a:p>
        </p:txBody>
      </p:sp>
      <p:sp>
        <p:nvSpPr>
          <p:cNvPr id="12" name="Text 10"/>
          <p:cNvSpPr txBox="1"/>
          <p:nvPr/>
        </p:nvSpPr>
        <p:spPr>
          <a:xfrm>
            <a:off x="777240" y="5766816"/>
            <a:ext cx="4480560" cy="377952"/>
          </a:xfrm>
          <a:prstGeom prst="rect">
            <a:avLst/>
          </a:prstGeom>
          <a:noFill/>
          <a:ln/>
        </p:spPr>
        <p:txBody>
          <a:bodyPr wrap="square" lIns="0" tIns="0" rIns="0" bIns="0" rtlCol="0" anchor="t"/>
          <a:lstStyle/>
          <a:p>
            <a:pPr algn="l" indent="0" marL="0">
              <a:buNone/>
            </a:pPr>
            <a:r>
              <a:rPr lang="en-US" sz="2000" b="1" dirty="0">
                <a:solidFill>
                  <a:schemeClr val="tx1"/>
                </a:solidFill>
              </a:rPr>
              <a:t>R120</a:t>
            </a:r>
            <a:endParaRPr lang="en-US" sz="2000" dirty="0"/>
          </a:p>
        </p:txBody>
      </p:sp>
      <p:sp>
        <p:nvSpPr>
          <p:cNvPr id="13" name="board"/>
          <p:cNvSpPr/>
          <p:nvPr/>
        </p:nvSpPr>
        <p:spPr>
          <a:xfrm>
            <a:off x="5760720" y="2301240"/>
            <a:ext cx="5882335" cy="3934968"/>
          </a:xfrm>
          <a:prstGeom prst="roundRect">
            <a:avLst>
              <a:gd name="adj" fmla="val 3253"/>
            </a:avLst>
          </a:prstGeom>
          <a:solidFill>
            <a:srgbClr val="FFFFFF"/>
          </a:solidFill>
          <a:ln w="15875">
            <a:solidFill>
              <a:srgbClr val="D1D5DB"/>
            </a:solidFill>
            <a:prstDash val="solid"/>
          </a:ln>
        </p:spPr>
      </p:sp>
      <p:pic>
        <p:nvPicPr>
          <p:cNvPr id="14" name="Image 0" descr="200 ÷ 5 = 40; 3 × 40 = 120">    </p:cNvPr>
          <p:cNvPicPr>
            <a:picLocks noChangeAspect="1"/>
          </p:cNvPicPr>
          <p:nvPr/>
        </p:nvPicPr>
        <p:blipFill>
          <a:blip r:embed="rId1"/>
          <a:stretch>
            <a:fillRect/>
          </a:stretch>
        </p:blipFill>
        <p:spPr>
          <a:xfrm>
            <a:off x="7251246" y="3599197"/>
            <a:ext cx="2901283" cy="1339054"/>
          </a:xfrm>
          <a:prstGeom prst="rect">
            <a:avLst/>
          </a:prstGeom>
        </p:spPr>
      </p:pic>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kind label"/>
          <p:cNvSpPr/>
          <p:nvPr/>
        </p:nvSpPr>
        <p:spPr>
          <a:xfrm>
            <a:off x="548640" y="365760"/>
            <a:ext cx="1654997"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HOMEWORK</a:t>
            </a:r>
            <a:endParaRPr lang="en-US" sz="1300" dirty="0"/>
          </a:p>
        </p:txBody>
      </p:sp>
      <p:sp>
        <p:nvSpPr>
          <p:cNvPr id="3" name="Text 1"/>
          <p:cNvSpPr txBox="1"/>
          <p:nvPr/>
        </p:nvSpPr>
        <p:spPr>
          <a:xfrm>
            <a:off x="7985455" y="365760"/>
            <a:ext cx="3657600" cy="329184"/>
          </a:xfrm>
          <a:prstGeom prst="rect">
            <a:avLst/>
          </a:prstGeom>
          <a:noFill/>
          <a:ln/>
        </p:spPr>
        <p:txBody>
          <a:bodyPr wrap="square" lIns="0" tIns="0" rIns="0" bIns="0" rtlCol="0" anchor="ctr"/>
          <a:lstStyle/>
          <a:p>
            <a:pPr algn="r" indent="0" marL="0">
              <a:buNone/>
            </a:pPr>
            <a:r>
              <a:rPr lang="en-US" sz="1400" b="1" dirty="0">
                <a:solidFill>
                  <a:srgbClr val="6B7280"/>
                </a:solidFill>
              </a:rPr>
              <a:t>1 / 2</a:t>
            </a:r>
            <a:endParaRPr lang="en-US" sz="1400" dirty="0"/>
          </a:p>
        </p:txBody>
      </p:sp>
      <p:sp>
        <p:nvSpPr>
          <p:cNvPr id="4"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Homework: before the next lesson</a:t>
            </a:r>
            <a:endParaRPr lang="en-US" sz="3000" dirty="0"/>
          </a:p>
        </p:txBody>
      </p:sp>
      <p:sp>
        <p:nvSpPr>
          <p:cNvPr id="5" name="question"/>
          <p:cNvSpPr/>
          <p:nvPr/>
        </p:nvSpPr>
        <p:spPr>
          <a:xfrm>
            <a:off x="548640" y="1463040"/>
            <a:ext cx="5410048" cy="1815084"/>
          </a:xfrm>
          <a:prstGeom prst="roundRect">
            <a:avLst>
              <a:gd name="adj" fmla="val 7053"/>
            </a:avLst>
          </a:prstGeom>
          <a:solidFill>
            <a:schemeClr val="bg2"/>
          </a:solidFill>
          <a:ln/>
        </p:spPr>
      </p:sp>
      <p:sp>
        <p:nvSpPr>
          <p:cNvPr id="6" name="number badge"/>
          <p:cNvSpPr/>
          <p:nvPr/>
        </p:nvSpPr>
        <p:spPr>
          <a:xfrm>
            <a:off x="777240" y="1691640"/>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1463040" y="1691640"/>
            <a:ext cx="1231459" cy="1357884"/>
          </a:xfrm>
          <a:prstGeom prst="rect">
            <a:avLst/>
          </a:prstGeom>
          <a:noFill/>
          <a:ln/>
        </p:spPr>
        <p:txBody>
          <a:bodyPr wrap="square" lIns="0" tIns="0" rIns="0" bIns="0" rtlCol="0" anchor="ctr"/>
          <a:lstStyle/>
          <a:p>
            <a:pPr algn="l" indent="0" marL="0">
              <a:buNone/>
            </a:pPr>
            <a:r>
              <a:rPr lang="en-US" sz="2200" dirty="0">
                <a:solidFill>
                  <a:schemeClr val="tx1"/>
                </a:solidFill>
              </a:rPr>
              <a:t>Simplify:</a:t>
            </a:r>
            <a:endParaRPr lang="en-US" sz="2200" dirty="0"/>
          </a:p>
        </p:txBody>
      </p:sp>
      <p:pic>
        <p:nvPicPr>
          <p:cNvPr id="8" name="Image 0" descr="16/24">    </p:cNvPr>
          <p:cNvPicPr>
            <a:picLocks noChangeAspect="1"/>
          </p:cNvPicPr>
          <p:nvPr/>
        </p:nvPicPr>
        <p:blipFill>
          <a:blip r:embed="rId1"/>
          <a:stretch>
            <a:fillRect/>
          </a:stretch>
        </p:blipFill>
        <p:spPr>
          <a:xfrm>
            <a:off x="2831659" y="1807312"/>
            <a:ext cx="768096" cy="1126541"/>
          </a:xfrm>
          <a:prstGeom prst="rect">
            <a:avLst/>
          </a:prstGeom>
        </p:spPr>
      </p:pic>
      <p:sp>
        <p:nvSpPr>
          <p:cNvPr id="9" name="question"/>
          <p:cNvSpPr/>
          <p:nvPr/>
        </p:nvSpPr>
        <p:spPr>
          <a:xfrm>
            <a:off x="6233008" y="1463040"/>
            <a:ext cx="5410048" cy="1815084"/>
          </a:xfrm>
          <a:prstGeom prst="roundRect">
            <a:avLst>
              <a:gd name="adj" fmla="val 7053"/>
            </a:avLst>
          </a:prstGeom>
          <a:solidFill>
            <a:schemeClr val="bg2"/>
          </a:solidFill>
          <a:ln/>
        </p:spPr>
      </p:sp>
      <p:sp>
        <p:nvSpPr>
          <p:cNvPr id="10" name="number badge"/>
          <p:cNvSpPr/>
          <p:nvPr/>
        </p:nvSpPr>
        <p:spPr>
          <a:xfrm>
            <a:off x="6461608" y="1691640"/>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7147408" y="1691640"/>
            <a:ext cx="4267048" cy="512064"/>
          </a:xfrm>
          <a:prstGeom prst="rect">
            <a:avLst/>
          </a:prstGeom>
          <a:noFill/>
          <a:ln/>
        </p:spPr>
        <p:txBody>
          <a:bodyPr wrap="square" lIns="0" tIns="0" rIns="0" bIns="0" rtlCol="0" anchor="ctr"/>
          <a:lstStyle/>
          <a:p>
            <a:pPr algn="l" indent="0" marL="0">
              <a:buNone/>
            </a:pPr>
            <a:r>
              <a:rPr lang="en-US" sz="2200" dirty="0">
                <a:solidFill>
                  <a:schemeClr val="tx1"/>
                </a:solidFill>
              </a:rPr>
              <a:t>Write as a mixed number:</a:t>
            </a:r>
            <a:endParaRPr lang="en-US" sz="2200" dirty="0"/>
          </a:p>
        </p:txBody>
      </p:sp>
      <p:pic>
        <p:nvPicPr>
          <p:cNvPr id="12" name="Image 1" descr="13/4">    </p:cNvPr>
          <p:cNvPicPr>
            <a:picLocks noChangeAspect="1"/>
          </p:cNvPicPr>
          <p:nvPr/>
        </p:nvPicPr>
        <p:blipFill>
          <a:blip r:embed="rId2"/>
          <a:stretch>
            <a:fillRect/>
          </a:stretch>
        </p:blipFill>
        <p:spPr>
          <a:xfrm>
            <a:off x="7147408" y="2340864"/>
            <a:ext cx="483177" cy="708660"/>
          </a:xfrm>
          <a:prstGeom prst="rect">
            <a:avLst/>
          </a:prstGeom>
        </p:spPr>
      </p:pic>
      <p:sp>
        <p:nvSpPr>
          <p:cNvPr id="13" name="question"/>
          <p:cNvSpPr/>
          <p:nvPr/>
        </p:nvSpPr>
        <p:spPr>
          <a:xfrm>
            <a:off x="548640" y="3506724"/>
            <a:ext cx="5410048" cy="1815084"/>
          </a:xfrm>
          <a:prstGeom prst="roundRect">
            <a:avLst>
              <a:gd name="adj" fmla="val 7053"/>
            </a:avLst>
          </a:prstGeom>
          <a:solidFill>
            <a:schemeClr val="bg2"/>
          </a:solidFill>
          <a:ln/>
        </p:spPr>
      </p:sp>
      <p:sp>
        <p:nvSpPr>
          <p:cNvPr id="14" name="number badge"/>
          <p:cNvSpPr/>
          <p:nvPr/>
        </p:nvSpPr>
        <p:spPr>
          <a:xfrm>
            <a:off x="777240" y="3735324"/>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1"/>
          <p:cNvSpPr txBox="1"/>
          <p:nvPr/>
        </p:nvSpPr>
        <p:spPr>
          <a:xfrm>
            <a:off x="1463040" y="3735324"/>
            <a:ext cx="1382637" cy="1357884"/>
          </a:xfrm>
          <a:prstGeom prst="rect">
            <a:avLst/>
          </a:prstGeom>
          <a:noFill/>
          <a:ln/>
        </p:spPr>
        <p:txBody>
          <a:bodyPr wrap="square" lIns="0" tIns="0" rIns="0" bIns="0" rtlCol="0" anchor="ctr"/>
          <a:lstStyle/>
          <a:p>
            <a:pPr algn="l" indent="0" marL="0">
              <a:buNone/>
            </a:pPr>
            <a:r>
              <a:rPr lang="en-US" sz="2200" dirty="0">
                <a:solidFill>
                  <a:schemeClr val="tx1"/>
                </a:solidFill>
              </a:rPr>
              <a:t>Work out:</a:t>
            </a:r>
            <a:endParaRPr lang="en-US" sz="2200" dirty="0"/>
          </a:p>
        </p:txBody>
      </p:sp>
      <p:pic>
        <p:nvPicPr>
          <p:cNvPr id="16" name="Image 2" descr="4 × 3/8">    </p:cNvPr>
          <p:cNvPicPr>
            <a:picLocks noChangeAspect="1"/>
          </p:cNvPicPr>
          <p:nvPr/>
        </p:nvPicPr>
        <p:blipFill>
          <a:blip r:embed="rId3"/>
          <a:stretch>
            <a:fillRect/>
          </a:stretch>
        </p:blipFill>
        <p:spPr>
          <a:xfrm>
            <a:off x="2982837" y="3850996"/>
            <a:ext cx="1287475" cy="1126541"/>
          </a:xfrm>
          <a:prstGeom prst="rect">
            <a:avLst/>
          </a:prstGeom>
        </p:spPr>
      </p:pic>
      <p:sp>
        <p:nvSpPr>
          <p:cNvPr id="17" name="question"/>
          <p:cNvSpPr/>
          <p:nvPr/>
        </p:nvSpPr>
        <p:spPr>
          <a:xfrm>
            <a:off x="6233008" y="3506724"/>
            <a:ext cx="5410048" cy="1815084"/>
          </a:xfrm>
          <a:prstGeom prst="roundRect">
            <a:avLst>
              <a:gd name="adj" fmla="val 7053"/>
            </a:avLst>
          </a:prstGeom>
          <a:solidFill>
            <a:schemeClr val="bg2"/>
          </a:solidFill>
          <a:ln/>
        </p:spPr>
      </p:sp>
      <p:sp>
        <p:nvSpPr>
          <p:cNvPr id="18" name="number badge"/>
          <p:cNvSpPr/>
          <p:nvPr/>
        </p:nvSpPr>
        <p:spPr>
          <a:xfrm>
            <a:off x="6461608" y="3735324"/>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4"/>
          <p:cNvSpPr txBox="1"/>
          <p:nvPr/>
        </p:nvSpPr>
        <p:spPr>
          <a:xfrm>
            <a:off x="7147408" y="3735324"/>
            <a:ext cx="1382637" cy="1357884"/>
          </a:xfrm>
          <a:prstGeom prst="rect">
            <a:avLst/>
          </a:prstGeom>
          <a:noFill/>
          <a:ln/>
        </p:spPr>
        <p:txBody>
          <a:bodyPr wrap="square" lIns="0" tIns="0" rIns="0" bIns="0" rtlCol="0" anchor="ctr"/>
          <a:lstStyle/>
          <a:p>
            <a:pPr algn="l" indent="0" marL="0">
              <a:buNone/>
            </a:pPr>
            <a:r>
              <a:rPr lang="en-US" sz="2200" dirty="0">
                <a:solidFill>
                  <a:schemeClr val="tx1"/>
                </a:solidFill>
              </a:rPr>
              <a:t>Work out:</a:t>
            </a:r>
            <a:endParaRPr lang="en-US" sz="2200" dirty="0"/>
          </a:p>
        </p:txBody>
      </p:sp>
      <p:pic>
        <p:nvPicPr>
          <p:cNvPr id="20" name="Image 3" descr="2/5 × 3/4">    </p:cNvPr>
          <p:cNvPicPr>
            <a:picLocks noChangeAspect="1"/>
          </p:cNvPicPr>
          <p:nvPr/>
        </p:nvPicPr>
        <p:blipFill>
          <a:blip r:embed="rId4"/>
          <a:stretch>
            <a:fillRect/>
          </a:stretch>
        </p:blipFill>
        <p:spPr>
          <a:xfrm>
            <a:off x="8667204" y="3850996"/>
            <a:ext cx="1419149" cy="1126541"/>
          </a:xfrm>
          <a:prstGeom prst="rect">
            <a:avLst/>
          </a:prstGeom>
        </p:spPr>
      </p:pic>
      <p:sp>
        <p:nvSpPr>
          <p:cNvPr id="21" name="Text 15"/>
          <p:cNvSpPr txBox="1"/>
          <p:nvPr/>
        </p:nvSpPr>
        <p:spPr>
          <a:xfrm>
            <a:off x="548640" y="5550408"/>
            <a:ext cx="11094415" cy="621792"/>
          </a:xfrm>
          <a:prstGeom prst="rect">
            <a:avLst/>
          </a:prstGeom>
          <a:noFill/>
          <a:ln/>
        </p:spPr>
        <p:txBody>
          <a:bodyPr wrap="square" lIns="0" tIns="0" rIns="0" bIns="0" rtlCol="0" anchor="t"/>
          <a:lstStyle/>
          <a:p>
            <a:pPr algn="l" indent="0" marL="0">
              <a:buNone/>
            </a:pPr>
            <a:r>
              <a:rPr lang="en-US" sz="1800" b="1" dirty="0">
                <a:solidFill>
                  <a:srgbClr val="4B5563"/>
                </a:solidFill>
              </a:rPr>
              <a:t>Every question has its full working in your notes. Cover it, try the question, then compare line by line.</a:t>
            </a:r>
            <a:endParaRPr lang="en-US" sz="18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kind label"/>
          <p:cNvSpPr/>
          <p:nvPr/>
        </p:nvSpPr>
        <p:spPr>
          <a:xfrm>
            <a:off x="548640" y="365760"/>
            <a:ext cx="1654997"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HOMEWORK</a:t>
            </a:r>
            <a:endParaRPr lang="en-US" sz="1300" dirty="0"/>
          </a:p>
        </p:txBody>
      </p:sp>
      <p:sp>
        <p:nvSpPr>
          <p:cNvPr id="3" name="Text 1"/>
          <p:cNvSpPr txBox="1"/>
          <p:nvPr/>
        </p:nvSpPr>
        <p:spPr>
          <a:xfrm>
            <a:off x="7985455" y="365760"/>
            <a:ext cx="3657600" cy="329184"/>
          </a:xfrm>
          <a:prstGeom prst="rect">
            <a:avLst/>
          </a:prstGeom>
          <a:noFill/>
          <a:ln/>
        </p:spPr>
        <p:txBody>
          <a:bodyPr wrap="square" lIns="0" tIns="0" rIns="0" bIns="0" rtlCol="0" anchor="ctr"/>
          <a:lstStyle/>
          <a:p>
            <a:pPr algn="r" indent="0" marL="0">
              <a:buNone/>
            </a:pPr>
            <a:r>
              <a:rPr lang="en-US" sz="1400" b="1" dirty="0">
                <a:solidFill>
                  <a:srgbClr val="6B7280"/>
                </a:solidFill>
              </a:rPr>
              <a:t>2 / 2</a:t>
            </a:r>
            <a:endParaRPr lang="en-US" sz="1400" dirty="0"/>
          </a:p>
        </p:txBody>
      </p:sp>
      <p:sp>
        <p:nvSpPr>
          <p:cNvPr id="4"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Homework: before the next lesson</a:t>
            </a:r>
            <a:endParaRPr lang="en-US" sz="3000" dirty="0"/>
          </a:p>
        </p:txBody>
      </p:sp>
      <p:sp>
        <p:nvSpPr>
          <p:cNvPr id="5" name="question"/>
          <p:cNvSpPr/>
          <p:nvPr/>
        </p:nvSpPr>
        <p:spPr>
          <a:xfrm>
            <a:off x="548640" y="2165604"/>
            <a:ext cx="5410048" cy="2179320"/>
          </a:xfrm>
          <a:prstGeom prst="roundRect">
            <a:avLst>
              <a:gd name="adj" fmla="val 5874"/>
            </a:avLst>
          </a:prstGeom>
          <a:solidFill>
            <a:schemeClr val="bg2"/>
          </a:solidFill>
          <a:ln/>
        </p:spPr>
      </p:sp>
      <p:sp>
        <p:nvSpPr>
          <p:cNvPr id="6" name="number badge"/>
          <p:cNvSpPr/>
          <p:nvPr/>
        </p:nvSpPr>
        <p:spPr>
          <a:xfrm>
            <a:off x="777240" y="2394204"/>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7" name="Text 5"/>
          <p:cNvSpPr txBox="1"/>
          <p:nvPr/>
        </p:nvSpPr>
        <p:spPr>
          <a:xfrm>
            <a:off x="1463040" y="2394204"/>
            <a:ext cx="4267048" cy="1051560"/>
          </a:xfrm>
          <a:prstGeom prst="rect">
            <a:avLst/>
          </a:prstGeom>
          <a:noFill/>
          <a:ln/>
        </p:spPr>
        <p:txBody>
          <a:bodyPr wrap="square" lIns="0" tIns="0" rIns="0" bIns="0" rtlCol="0" anchor="t"/>
          <a:lstStyle/>
          <a:p>
            <a:pPr algn="l" indent="0" marL="0">
              <a:buNone/>
            </a:pPr>
            <a:r>
              <a:rPr lang="en-US" sz="2200" dirty="0">
                <a:solidFill>
                  <a:schemeClr val="tx1"/>
                </a:solidFill>
              </a:rPr>
              <a:t>A shop takes R240 in a morning. 3/8 of it is for cold drinks. How much is that?</a:t>
            </a:r>
            <a:endParaRPr lang="en-US" sz="2200" dirty="0"/>
          </a:p>
        </p:txBody>
      </p:sp>
      <p:sp>
        <p:nvSpPr>
          <p:cNvPr id="8" name="question"/>
          <p:cNvSpPr/>
          <p:nvPr/>
        </p:nvSpPr>
        <p:spPr>
          <a:xfrm>
            <a:off x="6233008" y="2165604"/>
            <a:ext cx="5410048" cy="2179320"/>
          </a:xfrm>
          <a:prstGeom prst="roundRect">
            <a:avLst>
              <a:gd name="adj" fmla="val 5874"/>
            </a:avLst>
          </a:prstGeom>
          <a:solidFill>
            <a:schemeClr val="bg2"/>
          </a:solidFill>
          <a:ln/>
        </p:spPr>
      </p:sp>
      <p:sp>
        <p:nvSpPr>
          <p:cNvPr id="9" name="number badge"/>
          <p:cNvSpPr/>
          <p:nvPr/>
        </p:nvSpPr>
        <p:spPr>
          <a:xfrm>
            <a:off x="6461608" y="2394204"/>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10" name="Text 8"/>
          <p:cNvSpPr txBox="1"/>
          <p:nvPr/>
        </p:nvSpPr>
        <p:spPr>
          <a:xfrm>
            <a:off x="7147408" y="2394204"/>
            <a:ext cx="4267048" cy="1722120"/>
          </a:xfrm>
          <a:prstGeom prst="rect">
            <a:avLst/>
          </a:prstGeom>
          <a:noFill/>
          <a:ln/>
        </p:spPr>
        <p:txBody>
          <a:bodyPr wrap="square" lIns="0" tIns="0" rIns="0" bIns="0" rtlCol="0" anchor="t"/>
          <a:lstStyle/>
          <a:p>
            <a:pPr algn="l" indent="0" marL="0">
              <a:buNone/>
            </a:pPr>
            <a:r>
              <a:rPr lang="en-US" sz="2200" dirty="0">
                <a:solidFill>
                  <a:schemeClr val="tx1"/>
                </a:solidFill>
              </a:rPr>
              <a:t>Read these parts of your notes, in this order, before the BODMAS lesson. Try each question before you look at its working.</a:t>
            </a:r>
            <a:endParaRPr lang="en-US" sz="2200" dirty="0"/>
          </a:p>
        </p:txBody>
      </p:sp>
      <p:sp>
        <p:nvSpPr>
          <p:cNvPr id="11" name="Text 9"/>
          <p:cNvSpPr txBox="1"/>
          <p:nvPr/>
        </p:nvSpPr>
        <p:spPr>
          <a:xfrm>
            <a:off x="548640" y="5550408"/>
            <a:ext cx="11094415" cy="621792"/>
          </a:xfrm>
          <a:prstGeom prst="rect">
            <a:avLst/>
          </a:prstGeom>
          <a:noFill/>
          <a:ln/>
        </p:spPr>
        <p:txBody>
          <a:bodyPr wrap="square" lIns="0" tIns="0" rIns="0" bIns="0" rtlCol="0" anchor="t"/>
          <a:lstStyle/>
          <a:p>
            <a:pPr algn="l" indent="0" marL="0">
              <a:buNone/>
            </a:pPr>
            <a:r>
              <a:rPr lang="en-US" sz="1800" b="1" dirty="0">
                <a:solidFill>
                  <a:srgbClr val="4B5563"/>
                </a:solidFill>
              </a:rPr>
              <a:t>Every question has its full working in your notes. Cover it, try the question, then compare line by line.</a:t>
            </a:r>
            <a:endParaRPr lang="en-US" sz="18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kind label"/>
          <p:cNvSpPr/>
          <p:nvPr/>
        </p:nvSpPr>
        <p:spPr>
          <a:xfrm>
            <a:off x="548640" y="365760"/>
            <a:ext cx="118872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RECAP</a:t>
            </a:r>
            <a:endParaRPr lang="en-US" sz="1300" dirty="0"/>
          </a:p>
        </p:txBody>
      </p:sp>
      <p:sp>
        <p:nvSpPr>
          <p:cNvPr id="3" name="Text 0"/>
          <p:cNvSpPr/>
          <p:nvPr>
            <p:ph idx="100" type="title" hasCustomPrompt="1"/>
          </p:nvPr>
        </p:nvSpPr>
        <p:spPr>
          <a:xfrm>
            <a:off x="548640" y="768096"/>
            <a:ext cx="11094415" cy="932688"/>
          </a:xfrm>
          <a:prstGeom prst="rect">
            <a:avLst/>
          </a:prstGeom>
          <a:noFill/>
          <a:ln/>
        </p:spPr>
        <p:txBody>
          <a:bodyPr wrap="square" lIns="0" tIns="0" rIns="0" bIns="0" rtlCol="0" anchor="t"/>
          <a:lstStyle/>
          <a:p>
            <a:pPr algn="l" indent="0" marL="0">
              <a:buNone/>
            </a:pPr>
            <a:r>
              <a:rPr lang="en-US" sz="3000" b="1" dirty="0">
                <a:solidFill>
                  <a:schemeClr val="tx1"/>
                </a:solidFill>
              </a:rPr>
              <a:t>Today in a few lines</a:t>
            </a:r>
            <a:endParaRPr lang="en-US" sz="3000" dirty="0"/>
          </a:p>
        </p:txBody>
      </p:sp>
      <p:sp>
        <p:nvSpPr>
          <p:cNvPr id="4" name="number badge"/>
          <p:cNvSpPr/>
          <p:nvPr/>
        </p:nvSpPr>
        <p:spPr>
          <a:xfrm>
            <a:off x="548640" y="1563624"/>
            <a:ext cx="512064" cy="512064"/>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325880" y="1508760"/>
            <a:ext cx="10317175" cy="618744"/>
          </a:xfrm>
          <a:prstGeom prst="rect">
            <a:avLst/>
          </a:prstGeom>
          <a:noFill/>
          <a:ln/>
        </p:spPr>
        <p:txBody>
          <a:bodyPr wrap="square" lIns="0" tIns="0" rIns="0" bIns="0" rtlCol="0" anchor="ctr"/>
          <a:lstStyle/>
          <a:p>
            <a:pPr algn="l" indent="0" marL="0">
              <a:buNone/>
            </a:pPr>
            <a:r>
              <a:rPr lang="en-US" sz="2000" b="1" dirty="0">
                <a:solidFill>
                  <a:schemeClr val="tx1"/>
                </a:solidFill>
              </a:rPr>
              <a:t>×</a:t>
            </a:r>
            <a:pPr algn="l" indent="0" marL="0">
              <a:buNone/>
            </a:pPr>
            <a:r>
              <a:rPr lang="en-US" sz="2000" dirty="0">
                <a:solidFill>
                  <a:schemeClr val="tx1"/>
                </a:solidFill>
              </a:rPr>
              <a:t> means "groups of". </a:t>
            </a:r>
            <a:pPr algn="l" indent="0" marL="0">
              <a:buNone/>
            </a:pPr>
            <a:r>
              <a:rPr lang="en-US" sz="2000" b="1" dirty="0">
                <a:solidFill>
                  <a:schemeClr val="tx1"/>
                </a:solidFill>
              </a:rPr>
              <a:t>÷</a:t>
            </a:r>
            <a:pPr algn="l" indent="0" marL="0">
              <a:buNone/>
            </a:pPr>
            <a:r>
              <a:rPr lang="en-US" sz="2000" dirty="0">
                <a:solidFill>
                  <a:schemeClr val="tx1"/>
                </a:solidFill>
              </a:rPr>
              <a:t> asks "how many groups fit?" The times table does both.</a:t>
            </a:r>
            <a:endParaRPr lang="en-US" sz="2000" dirty="0"/>
          </a:p>
        </p:txBody>
      </p:sp>
      <p:sp>
        <p:nvSpPr>
          <p:cNvPr id="6" name="number badge"/>
          <p:cNvSpPr/>
          <p:nvPr/>
        </p:nvSpPr>
        <p:spPr>
          <a:xfrm>
            <a:off x="548640" y="2237232"/>
            <a:ext cx="512064" cy="512064"/>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7" name="Text 5"/>
          <p:cNvSpPr txBox="1"/>
          <p:nvPr/>
        </p:nvSpPr>
        <p:spPr>
          <a:xfrm>
            <a:off x="1325880" y="2182368"/>
            <a:ext cx="10317175" cy="618744"/>
          </a:xfrm>
          <a:prstGeom prst="rect">
            <a:avLst/>
          </a:prstGeom>
          <a:noFill/>
          <a:ln/>
        </p:spPr>
        <p:txBody>
          <a:bodyPr wrap="square" lIns="0" tIns="0" rIns="0" bIns="0" rtlCol="0" anchor="ctr"/>
          <a:lstStyle/>
          <a:p>
            <a:pPr algn="l" indent="0" marL="0">
              <a:buNone/>
            </a:pPr>
            <a:r>
              <a:rPr lang="en-US" sz="1800" dirty="0">
                <a:solidFill>
                  <a:schemeClr val="tx1"/>
                </a:solidFill>
              </a:rPr>
              <a:t>A fraction: the </a:t>
            </a:r>
            <a:pPr algn="l" indent="0" marL="0">
              <a:buNone/>
            </a:pPr>
            <a:r>
              <a:rPr lang="en-US" sz="1800" b="1" dirty="0">
                <a:solidFill>
                  <a:schemeClr val="tx1"/>
                </a:solidFill>
              </a:rPr>
              <a:t>bottom</a:t>
            </a:r>
            <a:pPr algn="l" indent="0" marL="0">
              <a:buNone/>
            </a:pPr>
            <a:r>
              <a:rPr lang="en-US" sz="1800" dirty="0">
                <a:solidFill>
                  <a:schemeClr val="tx1"/>
                </a:solidFill>
              </a:rPr>
              <a:t> says how many equal slices make one whole. The </a:t>
            </a:r>
            <a:pPr algn="l" indent="0" marL="0">
              <a:buNone/>
            </a:pPr>
            <a:r>
              <a:rPr lang="en-US" sz="1800" b="1" dirty="0">
                <a:solidFill>
                  <a:schemeClr val="tx1"/>
                </a:solidFill>
              </a:rPr>
              <a:t>top</a:t>
            </a:r>
            <a:pPr algn="l" indent="0" marL="0">
              <a:buNone/>
            </a:pPr>
            <a:r>
              <a:rPr lang="en-US" sz="1800" dirty="0">
                <a:solidFill>
                  <a:schemeClr val="tx1"/>
                </a:solidFill>
              </a:rPr>
              <a:t> counts the slices you have.</a:t>
            </a:r>
            <a:endParaRPr lang="en-US" sz="1800" dirty="0"/>
          </a:p>
        </p:txBody>
      </p:sp>
      <p:sp>
        <p:nvSpPr>
          <p:cNvPr id="8" name="number badge"/>
          <p:cNvSpPr/>
          <p:nvPr/>
        </p:nvSpPr>
        <p:spPr>
          <a:xfrm>
            <a:off x="548640" y="2910840"/>
            <a:ext cx="512064" cy="512064"/>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9" name="Text 7"/>
          <p:cNvSpPr txBox="1"/>
          <p:nvPr/>
        </p:nvSpPr>
        <p:spPr>
          <a:xfrm>
            <a:off x="1325880" y="2855976"/>
            <a:ext cx="10317175" cy="618744"/>
          </a:xfrm>
          <a:prstGeom prst="rect">
            <a:avLst/>
          </a:prstGeom>
          <a:noFill/>
          <a:ln/>
        </p:spPr>
        <p:txBody>
          <a:bodyPr wrap="square" lIns="0" tIns="0" rIns="0" bIns="0" rtlCol="0" anchor="ctr"/>
          <a:lstStyle/>
          <a:p>
            <a:pPr algn="l" indent="0" marL="0">
              <a:buNone/>
            </a:pPr>
            <a:r>
              <a:rPr lang="en-US" sz="1800" b="1" dirty="0">
                <a:solidFill>
                  <a:schemeClr val="tx1"/>
                </a:solidFill>
              </a:rPr>
              <a:t>Simplify:</a:t>
            </a:r>
            <a:pPr algn="l" indent="0" marL="0">
              <a:buNone/>
            </a:pPr>
            <a:r>
              <a:rPr lang="en-US" sz="1800" dirty="0">
                <a:solidFill>
                  <a:schemeClr val="tx1"/>
                </a:solidFill>
              </a:rPr>
              <a:t> divide the top and the bottom by a number that goes into both, until only 1 goes into both.</a:t>
            </a:r>
            <a:endParaRPr lang="en-US" sz="1800" dirty="0"/>
          </a:p>
        </p:txBody>
      </p:sp>
      <p:sp>
        <p:nvSpPr>
          <p:cNvPr id="10" name="number badge"/>
          <p:cNvSpPr/>
          <p:nvPr/>
        </p:nvSpPr>
        <p:spPr>
          <a:xfrm>
            <a:off x="548640" y="3584448"/>
            <a:ext cx="512064" cy="512064"/>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1" name="Text 9"/>
          <p:cNvSpPr txBox="1"/>
          <p:nvPr/>
        </p:nvSpPr>
        <p:spPr>
          <a:xfrm>
            <a:off x="1325880" y="3529584"/>
            <a:ext cx="10317175" cy="618744"/>
          </a:xfrm>
          <a:prstGeom prst="rect">
            <a:avLst/>
          </a:prstGeom>
          <a:noFill/>
          <a:ln/>
        </p:spPr>
        <p:txBody>
          <a:bodyPr wrap="square" lIns="0" tIns="0" rIns="0" bIns="0" rtlCol="0" anchor="ctr"/>
          <a:lstStyle/>
          <a:p>
            <a:pPr algn="l" indent="0" marL="0">
              <a:buNone/>
            </a:pPr>
            <a:r>
              <a:rPr lang="en-US" sz="1800" b="1" dirty="0">
                <a:solidFill>
                  <a:schemeClr val="tx1"/>
                </a:solidFill>
              </a:rPr>
              <a:t>Improper → mixed:</a:t>
            </a:r>
            <a:pPr algn="l" indent="0" marL="0">
              <a:buNone/>
            </a:pPr>
            <a:r>
              <a:rPr lang="en-US" sz="1800" dirty="0">
                <a:solidFill>
                  <a:schemeClr val="tx1"/>
                </a:solidFill>
              </a:rPr>
              <a:t> divide the top by the bottom. </a:t>
            </a:r>
            <a:pPr algn="l" indent="0" marL="0">
              <a:buNone/>
            </a:pPr>
            <a:r>
              <a:rPr lang="en-US" sz="1800" b="1" dirty="0">
                <a:solidFill>
                  <a:schemeClr val="tx1"/>
                </a:solidFill>
              </a:rPr>
              <a:t>Mixed → improper:</a:t>
            </a:r>
            <a:pPr algn="l" indent="0" marL="0">
              <a:buNone/>
            </a:pPr>
            <a:r>
              <a:rPr lang="en-US" sz="1800" dirty="0">
                <a:solidFill>
                  <a:schemeClr val="tx1"/>
                </a:solidFill>
              </a:rPr>
              <a:t> whole number × bottom, plus the top.</a:t>
            </a:r>
            <a:endParaRPr lang="en-US" sz="1800" dirty="0"/>
          </a:p>
        </p:txBody>
      </p:sp>
      <p:sp>
        <p:nvSpPr>
          <p:cNvPr id="12" name="number badge"/>
          <p:cNvSpPr/>
          <p:nvPr/>
        </p:nvSpPr>
        <p:spPr>
          <a:xfrm>
            <a:off x="548640" y="4258056"/>
            <a:ext cx="512064" cy="512064"/>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3" name="Text 11"/>
          <p:cNvSpPr txBox="1"/>
          <p:nvPr/>
        </p:nvSpPr>
        <p:spPr>
          <a:xfrm>
            <a:off x="1325880" y="4203192"/>
            <a:ext cx="10317175" cy="618744"/>
          </a:xfrm>
          <a:prstGeom prst="rect">
            <a:avLst/>
          </a:prstGeom>
          <a:noFill/>
          <a:ln/>
        </p:spPr>
        <p:txBody>
          <a:bodyPr wrap="square" lIns="0" tIns="0" rIns="0" bIns="0" rtlCol="0" anchor="ctr"/>
          <a:lstStyle/>
          <a:p>
            <a:pPr algn="l" indent="0" marL="0">
              <a:buNone/>
            </a:pPr>
            <a:r>
              <a:rPr lang="en-US" sz="1800" b="1" dirty="0">
                <a:solidFill>
                  <a:schemeClr val="tx1"/>
                </a:solidFill>
              </a:rPr>
              <a:t>Whole number × fraction:</a:t>
            </a:r>
            <a:pPr algn="l" indent="0" marL="0">
              <a:buNone/>
            </a:pPr>
            <a:r>
              <a:rPr lang="en-US" sz="1800" dirty="0">
                <a:solidFill>
                  <a:schemeClr val="tx1"/>
                </a:solidFill>
              </a:rPr>
              <a:t> multiply the top only. </a:t>
            </a:r>
            <a:pPr algn="l" indent="0" marL="0">
              <a:buNone/>
            </a:pPr>
            <a:r>
              <a:rPr lang="en-US" sz="1800" b="1" dirty="0">
                <a:solidFill>
                  <a:schemeClr val="tx1"/>
                </a:solidFill>
              </a:rPr>
              <a:t>Fraction × fraction:</a:t>
            </a:r>
            <a:pPr algn="l" indent="0" marL="0">
              <a:buNone/>
            </a:pPr>
            <a:r>
              <a:rPr lang="en-US" sz="1800" dirty="0">
                <a:solidFill>
                  <a:schemeClr val="tx1"/>
                </a:solidFill>
              </a:rPr>
              <a:t> top × top, bottom × bottom, then simplify.</a:t>
            </a:r>
            <a:endParaRPr lang="en-US" sz="1800" dirty="0"/>
          </a:p>
        </p:txBody>
      </p:sp>
      <p:sp>
        <p:nvSpPr>
          <p:cNvPr id="14" name="number badge"/>
          <p:cNvSpPr/>
          <p:nvPr/>
        </p:nvSpPr>
        <p:spPr>
          <a:xfrm>
            <a:off x="548640" y="4931664"/>
            <a:ext cx="512064" cy="512064"/>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15" name="Text 13"/>
          <p:cNvSpPr txBox="1"/>
          <p:nvPr/>
        </p:nvSpPr>
        <p:spPr>
          <a:xfrm>
            <a:off x="1325880" y="4876800"/>
            <a:ext cx="10317175" cy="618744"/>
          </a:xfrm>
          <a:prstGeom prst="rect">
            <a:avLst/>
          </a:prstGeom>
          <a:noFill/>
          <a:ln/>
        </p:spPr>
        <p:txBody>
          <a:bodyPr wrap="square" lIns="0" tIns="0" rIns="0" bIns="0" rtlCol="0" anchor="ctr"/>
          <a:lstStyle/>
          <a:p>
            <a:pPr algn="l" indent="0" marL="0">
              <a:buNone/>
            </a:pPr>
            <a:r>
              <a:rPr lang="en-US" sz="2400" b="1" dirty="0">
                <a:solidFill>
                  <a:schemeClr val="tx1"/>
                </a:solidFill>
              </a:rPr>
              <a:t>A fraction OF an amount:</a:t>
            </a:r>
            <a:pPr algn="l" indent="0" marL="0">
              <a:buNone/>
            </a:pPr>
            <a:r>
              <a:rPr lang="en-US" sz="2400" dirty="0">
                <a:solidFill>
                  <a:schemeClr val="tx1"/>
                </a:solidFill>
              </a:rPr>
              <a:t> divide by the bottom, then multiply by the top.</a:t>
            </a:r>
            <a:endParaRPr lang="en-US" sz="2400" dirty="0"/>
          </a:p>
        </p:txBody>
      </p:sp>
      <p:sp>
        <p:nvSpPr>
          <p:cNvPr id="16" name="card"/>
          <p:cNvSpPr/>
          <p:nvPr/>
        </p:nvSpPr>
        <p:spPr>
          <a:xfrm>
            <a:off x="548640" y="5687568"/>
            <a:ext cx="11094415" cy="548640"/>
          </a:xfrm>
          <a:prstGeom prst="roundRect">
            <a:avLst>
              <a:gd name="adj" fmla="val 23333"/>
            </a:avLst>
          </a:prstGeom>
          <a:solidFill>
            <a:srgbClr val="E3ECF8"/>
          </a:solidFill>
          <a:ln/>
        </p:spPr>
      </p:sp>
      <p:sp>
        <p:nvSpPr>
          <p:cNvPr id="17" name="Text 15"/>
          <p:cNvSpPr txBox="1"/>
          <p:nvPr/>
        </p:nvSpPr>
        <p:spPr>
          <a:xfrm>
            <a:off x="777240" y="5687568"/>
            <a:ext cx="10637215" cy="548640"/>
          </a:xfrm>
          <a:prstGeom prst="rect">
            <a:avLst/>
          </a:prstGeom>
          <a:noFill/>
          <a:ln/>
        </p:spPr>
        <p:txBody>
          <a:bodyPr wrap="square" lIns="0" tIns="0" rIns="0" bIns="0" rtlCol="0" anchor="ctr"/>
          <a:lstStyle/>
          <a:p>
            <a:pPr algn="l" indent="0" marL="0">
              <a:buNone/>
            </a:pPr>
            <a:r>
              <a:rPr lang="en-US" sz="1800" b="1" dirty="0">
                <a:solidFill>
                  <a:schemeClr val="tx1"/>
                </a:solidFill>
              </a:rPr>
              <a:t>Next lesson:</a:t>
            </a:r>
            <a:pPr algn="l" indent="0" marL="0">
              <a:buNone/>
            </a:pPr>
            <a:r>
              <a:rPr lang="en-US" sz="1800" dirty="0">
                <a:solidFill>
                  <a:schemeClr val="tx1"/>
                </a:solidFill>
              </a:rPr>
              <a:t> With the group: Lesson 3 from Worked example 6 ("the part that is left"), then dividing fractions.</a:t>
            </a:r>
            <a:endParaRPr lang="en-US" sz="1800" dirty="0"/>
          </a:p>
        </p:txBody>
      </p:sp>
      <p:sp>
        <p:nvSpPr>
          <p:cNvPr id="25" name="Slide Number Placeholder 0"/>
          <p:cNvSpPr>
            <a:spLocks noGrp="1"/>
          </p:cNvSpPr>
          <p:nvPr>
            <p:ph type="sldNum" sz="quarter" idx="4294967295"/>
          </p:nvPr>
        </p:nvSpPr>
        <p:spPr>
          <a:xfrm>
            <a:off x="10725912" y="6382512"/>
            <a:ext cx="914400" cy="329184"/>
          </a:xfrm>
          <a:prstGeom prst="rect">
            <a:avLst/>
          </a:prstGeom>
          <a:extLst>
            <a:ext uri="{C572A759-6A51-4108-AA02-DFA0A04FC94B}">
              <ma14:wrappingTextBoxFlag xmlns:ma14="http://schemas.microsoft.com/office/mac/drawingml/2011/main" val="0"/>
            </a:ext>
          </a:extLst>
        </p:spPr>
        <p:txBody>
          <a:bodyPr/>
          <a:lstStyle>
            <a:lvl1pPr>
              <a:defRPr sz="1400">
                <a:solidFill>
                  <a:srgbClr val="6B7280"/>
                </a:solidFill>
              </a:defRPr>
            </a:lvl1pPr>
          </a:lstStyle>
          <a:p>
            <a:pPr algn="r"/>
            <a:fld id="{F7021451-1387-4CA6-816F-3879F97B5CBC}" type="slidenum">
              <a:rPr b="1" lang="en-US"/>
              <a:t>83</a:t>
            </a:fld>
            <a:endParaRPr lang="en-US"/>
          </a:p>
        </p:txBody>
      </p:sp>
    </p:spTree>
  </p:cSld>
  <p:clrMapOvr>
    <a:masterClrMapping/>
  </p:clrMapOvr>
</p:sld>
</file>

<file path=ppt/theme/theme1.xml><?xml version="1.0" encoding="utf-8"?>
<a:theme xmlns:a="http://schemas.openxmlformats.org/drawingml/2006/main" name="Business Maths 102">
  <a:themeElements>
    <a:clrScheme name="Business Maths 102">
      <a:dk1>
        <a:srgbClr val="1F2937"/>
      </a:dk1>
      <a:lt1>
        <a:srgbClr val="FFFFFF"/>
      </a:lt1>
      <a:dk2>
        <a:srgbClr val="14213D"/>
      </a:dk2>
      <a:lt2>
        <a:srgbClr val="F3F4F6"/>
      </a:lt2>
      <a:accent1>
        <a:srgbClr val="2F5597"/>
      </a:accent1>
      <a:accent2>
        <a:srgbClr val="F4A300"/>
      </a:accent2>
      <a:accent3>
        <a:srgbClr val="6A3FA0"/>
      </a:accent3>
      <a:accent4>
        <a:srgbClr val="2E7D32"/>
      </a:accent4>
      <a:accent5>
        <a:srgbClr val="C0392B"/>
      </a:accent5>
      <a:accent6>
        <a:srgbClr val="0E7C86"/>
      </a:accent6>
      <a:hlink>
        <a:srgbClr val="2F5597"/>
      </a:hlink>
      <a:folHlink>
        <a:srgbClr val="6A3FA0"/>
      </a:folHlink>
    </a:clrScheme>
    <a:fontScheme name="Business Maths 102">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Business Maths 102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Maths 102 - Catch-up session: Lessons 1 to 3, up to Example 5</dc:title>
  <dc:subject>PptxGenJS Presentation</dc:subject>
  <dc:creator>Khothatso</dc:creator>
  <cp:lastModifiedBy>Khothatso</cp:lastModifiedBy>
  <cp:revision>1</cp:revision>
  <dcterms:created xsi:type="dcterms:W3CDTF">2026-10-09T13:35:34Z</dcterms:created>
  <dcterms:modified xsi:type="dcterms:W3CDTF">2026-10-09T13:35:34Z</dcterms:modified>
</cp:coreProperties>
</file>